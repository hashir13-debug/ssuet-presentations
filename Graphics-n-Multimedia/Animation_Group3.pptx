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D2FF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9650DC"/>
          </a:solidFill>
          <a:ln>
            <a:solidFill>
              <a:srgbClr val="965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23"/>
          </a:solidFill>
          <a:ln>
            <a:solidFill>
              <a:srgbClr val="080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D2FF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9650DC"/>
          </a:solidFill>
          <a:ln>
            <a:solidFill>
              <a:srgbClr val="965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457200"/>
            <a:ext cx="9445752" cy="5943600"/>
          </a:xfrm>
          <a:prstGeom prst="rect">
            <a:avLst/>
          </a:prstGeom>
          <a:solidFill>
            <a:srgbClr val="0D0D34"/>
          </a:solidFill>
          <a:ln>
            <a:solidFill>
              <a:srgbClr val="0D0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4008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00D2FF"/>
                </a:solidFill>
              </a:rPr>
              <a:t>ANIMATION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C3CDEB"/>
                </a:solidFill>
              </a:rPr>
              <a:t>The Art of Bringing Life to Motion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3520440"/>
            <a:ext cx="5239512" cy="54864"/>
          </a:xfrm>
          <a:prstGeom prst="rect">
            <a:avLst/>
          </a:prstGeom>
          <a:solidFill>
            <a:srgbClr val="FF9100"/>
          </a:solidFill>
          <a:ln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100"/>
                </a:solidFill>
              </a:rPr>
              <a:t>Graphics &amp; Multimedia  |  SMIT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4251960"/>
            <a:ext cx="5788152" cy="822960"/>
          </a:xfrm>
          <a:prstGeom prst="rect">
            <a:avLst/>
          </a:prstGeom>
          <a:solidFill>
            <a:srgbClr val="008CBE"/>
          </a:solidFill>
          <a:ln>
            <a:solidFill>
              <a:srgbClr val="008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4251960"/>
            <a:ext cx="5788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Topics 1 — 9  |  Group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578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3CDEB"/>
                </a:solidFill>
              </a:rPr>
              <a:t>Hashir Junaid (2023F-BCS-358)   •   Taha Haider (2023F-BCS-079)   •   Abdul Rahman Baig (2023F-BCS-100)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8CBE"/>
          </a:solidFill>
          <a:ln>
            <a:solidFill>
              <a:srgbClr val="008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 WE'LL COVER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640080" cy="822960"/>
          </a:xfrm>
          <a:prstGeom prst="rect">
            <a:avLst/>
          </a:prstGeom>
          <a:solidFill>
            <a:srgbClr val="00D2FF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80823"/>
                </a:solidFill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1234440"/>
            <a:ext cx="4754880" cy="82296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344168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Introduction to Animation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13432"/>
            <a:ext cx="640080" cy="822960"/>
          </a:xfrm>
          <a:prstGeom prst="rect">
            <a:avLst/>
          </a:prstGeom>
          <a:solidFill>
            <a:srgbClr val="9650DC"/>
          </a:solidFill>
          <a:ln>
            <a:solidFill>
              <a:srgbClr val="965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13432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80823"/>
                </a:solidFill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2313432"/>
            <a:ext cx="4754880" cy="82296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42316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Usage of Animation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92424"/>
            <a:ext cx="640080" cy="822960"/>
          </a:xfrm>
          <a:prstGeom prst="rect">
            <a:avLst/>
          </a:prstGeom>
          <a:solidFill>
            <a:srgbClr val="FF9100"/>
          </a:solidFill>
          <a:ln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392424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80823"/>
                </a:solidFill>
              </a:rP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3392424"/>
            <a:ext cx="4754880" cy="82296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502152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Animation Techniques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71416"/>
            <a:ext cx="640080" cy="822960"/>
          </a:xfrm>
          <a:prstGeom prst="rect">
            <a:avLst/>
          </a:prstGeom>
          <a:solidFill>
            <a:srgbClr val="2ED573"/>
          </a:solidFill>
          <a:ln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471416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80823"/>
                </a:solidFill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4471416"/>
            <a:ext cx="4754880" cy="82296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581144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Types of Animation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550408"/>
            <a:ext cx="640080" cy="822960"/>
          </a:xfrm>
          <a:prstGeom prst="rect">
            <a:avLst/>
          </a:prstGeom>
          <a:solidFill>
            <a:srgbClr val="FF5AA0"/>
          </a:solidFill>
          <a:ln>
            <a:solidFill>
              <a:srgbClr val="FF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550408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80823"/>
                </a:solidFill>
              </a:rP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5550408"/>
            <a:ext cx="4754880" cy="82296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660136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Computer Animation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234440"/>
            <a:ext cx="640080" cy="822960"/>
          </a:xfrm>
          <a:prstGeom prst="rect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23444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80823"/>
                </a:solidFill>
              </a:rPr>
              <a:t>06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1234440"/>
            <a:ext cx="4754880" cy="82296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1344168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Levels of Computer Animation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313432"/>
            <a:ext cx="640080" cy="822960"/>
          </a:xfrm>
          <a:prstGeom prst="rect">
            <a:avLst/>
          </a:prstGeom>
          <a:solidFill>
            <a:srgbClr val="00D2FF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313432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80823"/>
                </a:solidFill>
              </a:rPr>
              <a:t>07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2313432"/>
            <a:ext cx="4754880" cy="82296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78040" y="242316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12 Basic Principles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392424"/>
            <a:ext cx="640080" cy="822960"/>
          </a:xfrm>
          <a:prstGeom prst="rect">
            <a:avLst/>
          </a:prstGeom>
          <a:solidFill>
            <a:srgbClr val="9650DC"/>
          </a:solidFill>
          <a:ln>
            <a:solidFill>
              <a:srgbClr val="965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392424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80823"/>
                </a:solidFill>
              </a:rPr>
              <a:t>08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86600" y="3392424"/>
            <a:ext cx="4754880" cy="82296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78040" y="3502152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Animation Space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471416"/>
            <a:ext cx="640080" cy="822960"/>
          </a:xfrm>
          <a:prstGeom prst="rect">
            <a:avLst/>
          </a:prstGeom>
          <a:solidFill>
            <a:srgbClr val="FF9100"/>
          </a:solidFill>
          <a:ln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471416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80823"/>
                </a:solidFill>
              </a:rPr>
              <a:t>09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86600" y="4471416"/>
            <a:ext cx="4754880" cy="82296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78040" y="4581144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Animation Process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0D2FF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50528"/>
          </a:solidFill>
          <a:ln>
            <a:solidFill>
              <a:srgbClr val="050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73152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D2FF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4592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INTRODUCTION TO ANIMATION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960120"/>
          </a:xfrm>
          <a:prstGeom prst="rect">
            <a:avLst/>
          </a:prstGeom>
          <a:solidFill>
            <a:srgbClr val="005A82"/>
          </a:solidFill>
          <a:ln>
            <a:solidFill>
              <a:srgbClr val="00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"Animation is the technique of sequentially displaying STATIC images rapidly enough to
 create the ILLUSION OF MOVEMENT — typically at 24 or more frames per second."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148840"/>
            <a:ext cx="2743200" cy="443484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2148840"/>
            <a:ext cx="2743200" cy="566928"/>
          </a:xfrm>
          <a:prstGeom prst="rect">
            <a:avLst/>
          </a:prstGeom>
          <a:solidFill>
            <a:srgbClr val="00D2FF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" y="2185416"/>
            <a:ext cx="2633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823"/>
                </a:solidFill>
              </a:rPr>
              <a:t>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807208"/>
            <a:ext cx="2523744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• From Latin 'anima' — to give life
• Series of still images shown rapidly
• Standard: 24 fps (film), 30 fps (TV)
• Below 12 fps → choppy, flickery
• First animation: Eadweard Muybridge
  (1878) horse gallop sequence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2148840"/>
            <a:ext cx="2743200" cy="443484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2148840"/>
            <a:ext cx="2743200" cy="566928"/>
          </a:xfrm>
          <a:prstGeom prst="rect">
            <a:avLst/>
          </a:prstGeom>
          <a:solidFill>
            <a:srgbClr val="FF9100"/>
          </a:solidFill>
          <a:ln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2185416"/>
            <a:ext cx="2633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823"/>
                </a:solidFill>
              </a:rPr>
              <a:t>PERSISTENCE
OF 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2807208"/>
            <a:ext cx="2523744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• Retina retains image ~50ms after
  stimulus disappears
• Afterimage overlaps the next frame
• Creates a continuous visual flow
• Discovered: Peter Mark Roget (1824)
• WHY films don't flicker at 24fps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216" y="2148840"/>
            <a:ext cx="2743200" cy="443484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0216" y="2148840"/>
            <a:ext cx="2743200" cy="566928"/>
          </a:xfrm>
          <a:prstGeom prst="rect">
            <a:avLst/>
          </a:prstGeom>
          <a:solidFill>
            <a:srgbClr val="2ED573"/>
          </a:solidFill>
          <a:ln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185416"/>
            <a:ext cx="2633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823"/>
                </a:solidFill>
              </a:rPr>
              <a:t>PHI PHENOMENON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807208"/>
            <a:ext cx="2523744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• PSYCHOLOGICAL effect (not retinal)
• Brain infers motion between two
  stationary objects shown in sequence
• Discovered: Max Wertheimer (1912)
• Classic example: flip-book
• Traffic light arrows 'moving'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44584" y="2148840"/>
            <a:ext cx="2743200" cy="443484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44584" y="2148840"/>
            <a:ext cx="2743200" cy="566928"/>
          </a:xfrm>
          <a:prstGeom prst="rect">
            <a:avLst/>
          </a:prstGeom>
          <a:solidFill>
            <a:srgbClr val="9650DC"/>
          </a:solidFill>
          <a:ln>
            <a:solidFill>
              <a:srgbClr val="965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9448" y="2185416"/>
            <a:ext cx="2633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823"/>
                </a:solidFill>
              </a:rPr>
              <a:t>ILLUSION OF
MOVEMENT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4312" y="2807208"/>
            <a:ext cx="2523744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• Result of POV + Phi Phenomenon
• Neither alone is enough
• Combined = seamless motion
• The brain WANTS to see motion
• Animators exploit this 'glitch'
  in human perception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9650DC"/>
          </a:solidFill>
          <a:ln>
            <a:solidFill>
              <a:srgbClr val="965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50528"/>
          </a:solidFill>
          <a:ln>
            <a:solidFill>
              <a:srgbClr val="050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73152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9650DC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4592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USAGE OF ANIMATION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15568"/>
            <a:ext cx="2743200" cy="553212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15568"/>
            <a:ext cx="2743200" cy="164592"/>
          </a:xfrm>
          <a:prstGeom prst="rect">
            <a:avLst/>
          </a:prstGeom>
          <a:solidFill>
            <a:srgbClr val="00D2FF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2FF"/>
                </a:solidFill>
              </a:rPr>
              <a:t>ARTISTIC PURPOSES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148840"/>
            <a:ext cx="252374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3CDEB"/>
                </a:solidFill>
              </a:rPr>
              <a:t>• Fine art &amp; experimental film
• Abstract visual compositions
• Music video production
• Title sequence design
EXAMPLES:
  Disney's Fantasia (1940)
  Yellow Submarine (1968)
  Spider-Man: Into the
  Spider-Verse (2018)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115568"/>
            <a:ext cx="2743200" cy="553212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0128" y="1115568"/>
            <a:ext cx="2743200" cy="164592"/>
          </a:xfrm>
          <a:prstGeom prst="rect">
            <a:avLst/>
          </a:prstGeom>
          <a:solidFill>
            <a:srgbClr val="FF9100"/>
          </a:solidFill>
          <a:ln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13258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9100"/>
                </a:solidFill>
              </a:rPr>
              <a:t>STORYTELLING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2148840"/>
            <a:ext cx="252374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3CDEB"/>
                </a:solidFill>
              </a:rPr>
              <a:t>• Narrative films &amp; TV series
• Video game cutscenes
• Interactive web comics
• Character-driven dramas
EXAMPLES:
  Pixar's Toy Story series
  Studio Ghibli classics
  Arcane (Netflix, 2021)
  Attack on Titan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1115568"/>
            <a:ext cx="2743200" cy="553212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4496" y="1115568"/>
            <a:ext cx="2743200" cy="164592"/>
          </a:xfrm>
          <a:prstGeom prst="rect">
            <a:avLst/>
          </a:prstGeom>
          <a:solidFill>
            <a:srgbClr val="2ED573"/>
          </a:solidFill>
          <a:ln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13258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D573"/>
                </a:solidFill>
              </a:rPr>
              <a:t>SCIENTIFIC
VISUALIZATION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148840"/>
            <a:ext cx="252374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3CDEB"/>
                </a:solidFill>
              </a:rPr>
              <a:t>• Medical anatomy animations
• Weather system simulations
• Physics &amp; fluid dynamics
• DNA/molecular modeling
EXAMPLES:
  NASA space animations
  DNA replication videos
  Climate change models
  Surgical training sims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98864" y="1115568"/>
            <a:ext cx="2743200" cy="553212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98864" y="1115568"/>
            <a:ext cx="2743200" cy="164592"/>
          </a:xfrm>
          <a:prstGeom prst="rect">
            <a:avLst/>
          </a:prstGeom>
          <a:solidFill>
            <a:srgbClr val="FF5AA0"/>
          </a:solidFill>
          <a:ln>
            <a:solidFill>
              <a:srgbClr val="FF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98864" y="13258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5AA0"/>
                </a:solidFill>
              </a:rPr>
              <a:t>INSTRUCTIONAL
PURPOSES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2148840"/>
            <a:ext cx="252374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3CDEB"/>
                </a:solidFill>
              </a:rPr>
              <a:t>• Educational explainer videos
• Flight &amp; military simulators
• Safety training demos
• Product assembly guides
EXAMPLES:
  Khan Academy lessons
  Pilot training software
  IKEA assembly guides
  YouTube tutorials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FF9100"/>
          </a:solidFill>
          <a:ln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50528"/>
          </a:solidFill>
          <a:ln>
            <a:solidFill>
              <a:srgbClr val="050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73152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9100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4592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ANIMATION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3657600" cy="548640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15568"/>
            <a:ext cx="3657600" cy="594360"/>
          </a:xfrm>
          <a:prstGeom prst="rect">
            <a:avLst/>
          </a:prstGeom>
          <a:solidFill>
            <a:srgbClr val="00D2FF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15568"/>
            <a:ext cx="502920" cy="594360"/>
          </a:xfrm>
          <a:prstGeom prst="rect">
            <a:avLst/>
          </a:prstGeom>
          <a:solidFill>
            <a:srgbClr val="080823"/>
          </a:solidFill>
          <a:ln>
            <a:solidFill>
              <a:srgbClr val="080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2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170432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0823"/>
                </a:solidFill>
              </a:rPr>
              <a:t>CEL ANIMATION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1783080"/>
            <a:ext cx="340156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3CDEB"/>
                </a:solidFill>
              </a:rPr>
              <a:t>Traditional hand-drawn technique
• Drawings on transparent celluloid sheets
• Cels layered over static backgrounds
• Each cel = one individual frame
• Photographed frame-by-frame
WORKFLOW:
  Story → Storyboard → Layout →
  Key animation → In-betweening →
  Inking → Painting → Photography
ERA: 1910s – 1990s
STUDIOS: Disney, Warner Bros,
          Hanna-Barbera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749039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9100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98264" y="1115568"/>
            <a:ext cx="3657600" cy="548640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98264" y="1115568"/>
            <a:ext cx="3657600" cy="594360"/>
          </a:xfrm>
          <a:prstGeom prst="rect">
            <a:avLst/>
          </a:prstGeom>
          <a:solidFill>
            <a:srgbClr val="FF9100"/>
          </a:solidFill>
          <a:ln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98264" y="1115568"/>
            <a:ext cx="502920" cy="594360"/>
          </a:xfrm>
          <a:prstGeom prst="rect">
            <a:avLst/>
          </a:prstGeom>
          <a:solidFill>
            <a:srgbClr val="080823"/>
          </a:solidFill>
          <a:ln>
            <a:solidFill>
              <a:srgbClr val="080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8264" y="1115568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9100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6904" y="1170432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0823"/>
                </a:solidFill>
              </a:rPr>
              <a:t>PATH ANIMATION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1783080"/>
            <a:ext cx="340156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3CDEB"/>
                </a:solidFill>
              </a:rPr>
              <a:t>Object follows a predefined trajectory
• Animator defines the path shape
• Object moves along it automatically
• Supports straight lines &amp; Bezier curves
• Object can resize/reshape along path
USE CASES:
  Logo reveal animations
  Camera fly-through paths
  UI element transitions
  Game projectile trajectories
TOOLS: After Effects motion paths,
        CSS animations, SVG paths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8704" y="3749039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9100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93608" y="1115568"/>
            <a:ext cx="3657600" cy="548640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93608" y="1115568"/>
            <a:ext cx="3657600" cy="594360"/>
          </a:xfrm>
          <a:prstGeom prst="rect">
            <a:avLst/>
          </a:prstGeom>
          <a:solidFill>
            <a:srgbClr val="2ED573"/>
          </a:solidFill>
          <a:ln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93608" y="1115568"/>
            <a:ext cx="502920" cy="594360"/>
          </a:xfrm>
          <a:prstGeom prst="rect">
            <a:avLst/>
          </a:prstGeom>
          <a:solidFill>
            <a:srgbClr val="080823"/>
          </a:solidFill>
          <a:ln>
            <a:solidFill>
              <a:srgbClr val="080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1115568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D573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2248" y="1170432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0823"/>
                </a:solidFill>
              </a:rPr>
              <a:t>COMPUTER ANIMATION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1783080"/>
            <a:ext cx="340156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3CDEB"/>
                </a:solidFill>
              </a:rPr>
              <a:t>Digital creation of moving images
• Can simulate cel &amp; path techniques
• Plus physics, particles, simulation
• 2D digital, 3D CG, or hybrid
• Real-time or pre-rendered
ADVANTAGES:
  Unlimited camera angles
  Easy to iterate &amp; modify
  Physics simulation
  Procedural animation
ERA: 1980s – present
STUDIOS: Pixar, DreamWorks, ILM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0D2FF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50528"/>
          </a:solidFill>
          <a:ln>
            <a:solidFill>
              <a:srgbClr val="050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73152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D2FF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4592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TYPES OF ANIMATION — CEL ANIMATION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1247120" cy="731520"/>
          </a:xfrm>
          <a:prstGeom prst="rect">
            <a:avLst/>
          </a:prstGeom>
          <a:solidFill>
            <a:srgbClr val="004959"/>
          </a:solidFill>
          <a:ln>
            <a:solidFill>
              <a:srgbClr val="004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Named after CELLULOID — the transparent plastic sheets used to draw frames.  Developed ~1914 by Raoul Barré &amp; John Bray. Dominated animation for 80 years.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2743200" cy="466344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20240"/>
            <a:ext cx="2743200" cy="566928"/>
          </a:xfrm>
          <a:prstGeom prst="rect">
            <a:avLst/>
          </a:prstGeom>
          <a:solidFill>
            <a:srgbClr val="00D2FF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" y="1956816"/>
            <a:ext cx="2633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823"/>
                </a:solidFill>
              </a:rPr>
              <a:t>CEL ANIMATION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578608"/>
            <a:ext cx="2523744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• Transparent sheet per frame
• Cels stacked: character over BG
• Allows background reuse
• Reduced drawing workload
• Colors applied to back of cel
• ~12-24 cels per second of film
Used in: Tom &amp; Jerry,
Looney Tunes, Snow White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1920240"/>
            <a:ext cx="2743200" cy="466344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1920240"/>
            <a:ext cx="2743200" cy="566928"/>
          </a:xfrm>
          <a:prstGeom prst="rect">
            <a:avLst/>
          </a:prstGeom>
          <a:solidFill>
            <a:srgbClr val="FF9100"/>
          </a:solidFill>
          <a:ln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1956816"/>
            <a:ext cx="2633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823"/>
                </a:solidFill>
              </a:rPr>
              <a:t>KEYFRAMES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2578608"/>
            <a:ext cx="2523744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• The 'anchor' frames of action
• Show extreme or critical poses
• Drawn by senior animators
• Define timing &amp; structure
• Example: frame 1 (standing)
  and frame 12 (peak of jump)
Modern: keyframes in software
timelines work identically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216" y="1920240"/>
            <a:ext cx="2743200" cy="466344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0216" y="1920240"/>
            <a:ext cx="2743200" cy="566928"/>
          </a:xfrm>
          <a:prstGeom prst="rect">
            <a:avLst/>
          </a:prstGeom>
          <a:solidFill>
            <a:srgbClr val="2ED573"/>
          </a:solidFill>
          <a:ln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956816"/>
            <a:ext cx="2633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823"/>
                </a:solidFill>
              </a:rPr>
              <a:t>TWEENING
(In-Betweening)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578608"/>
            <a:ext cx="2523744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• Frames drawn BETWEEN keyframes
• Creates smooth transition
• Done by junior animators
• More tweens = smoother motion
• At 24fps: ~22 tweens per action
Modern software AUTO-tweens:
  Adobe Animate, Flash,
  Toon Boom Harmony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44584" y="1920240"/>
            <a:ext cx="2743200" cy="466344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44584" y="1920240"/>
            <a:ext cx="2743200" cy="566928"/>
          </a:xfrm>
          <a:prstGeom prst="rect">
            <a:avLst/>
          </a:prstGeom>
          <a:solidFill>
            <a:srgbClr val="9650DC"/>
          </a:solidFill>
          <a:ln>
            <a:solidFill>
              <a:srgbClr val="965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9448" y="1956816"/>
            <a:ext cx="2633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823"/>
                </a:solidFill>
              </a:rPr>
              <a:t>PENCIL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4312" y="2578608"/>
            <a:ext cx="2523744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• Quick pre-production test
• Rough pencil sketches filmed
• Played back to check timing
• Catches errors BEFORE costly
  inking &amp; painting stages
• Saves significant time &amp; cost
Modern equivalent:
  Animatic / rough cut preview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FF9100"/>
          </a:solidFill>
          <a:ln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50528"/>
          </a:solidFill>
          <a:ln>
            <a:solidFill>
              <a:srgbClr val="050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73152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9100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4592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TYPES OF ANIMATION — PATH ANIMATION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1247120" cy="731520"/>
          </a:xfrm>
          <a:prstGeom prst="rect">
            <a:avLst/>
          </a:prstGeom>
          <a:solidFill>
            <a:srgbClr val="004959"/>
          </a:solidFill>
          <a:ln>
            <a:solidFill>
              <a:srgbClr val="004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PATH ANIMATION: An object moves along a predefined trajectory through space.  The animator draws the path; software handles movement along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5486400" cy="470916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9339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100"/>
                </a:solidFill>
              </a:rPr>
              <a:t>KEY CONCEPTS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14600"/>
            <a:ext cx="91440" cy="777240"/>
          </a:xfrm>
          <a:prstGeom prst="rect">
            <a:avLst/>
          </a:prstGeom>
          <a:solidFill>
            <a:srgbClr val="FF9100"/>
          </a:solidFill>
          <a:ln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100"/>
                </a:solidFill>
              </a:rPr>
              <a:t>PREDETERMINED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620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Route through space defined BEFORE animation starts.
Like a roller-coaster track — the object follows exactly.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520440"/>
            <a:ext cx="91440" cy="777240"/>
          </a:xfrm>
          <a:prstGeom prst="rect">
            <a:avLst/>
          </a:prstGeom>
          <a:solidFill>
            <a:srgbClr val="00D2FF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20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2FF"/>
                </a:solidFill>
              </a:rPr>
              <a:t>STRAIGHT 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679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Linear movement between two points. Used for mechanical objects, UI reveals, and text animations.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526280"/>
            <a:ext cx="91440" cy="777240"/>
          </a:xfrm>
          <a:prstGeom prst="rect">
            <a:avLst/>
          </a:prstGeom>
          <a:solidFill>
            <a:srgbClr val="2ED573"/>
          </a:solidFill>
          <a:ln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26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D573"/>
                </a:solidFill>
              </a:rPr>
              <a:t>CURVES (Bezier)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737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Organic, natural paths defined by control points. Used for bouncing balls, birds, camera movements.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532120"/>
            <a:ext cx="91440" cy="777240"/>
          </a:xfrm>
          <a:prstGeom prst="rect">
            <a:avLst/>
          </a:prstGeom>
          <a:solidFill>
            <a:srgbClr val="FF5AA0"/>
          </a:solidFill>
          <a:ln>
            <a:solidFill>
              <a:srgbClr val="FF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532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AA0"/>
                </a:solidFill>
              </a:rPr>
              <a:t>RESIZING &amp; RESHAPING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8795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Object scales or deforms as it follows the path — adds dynamism (e.g. ball squashing on landing).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920240"/>
            <a:ext cx="5486400" cy="470916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99339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100"/>
                </a:solidFill>
              </a:rPr>
              <a:t>HOW PATH ANIMATION WORKS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542032"/>
            <a:ext cx="914400" cy="594360"/>
          </a:xfrm>
          <a:prstGeom prst="rect">
            <a:avLst/>
          </a:prstGeom>
          <a:solidFill>
            <a:srgbClr val="00D2FF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54203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80823"/>
                </a:solidFill>
              </a:rPr>
              <a:t>STEP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2615184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3CDEB"/>
                </a:solidFill>
              </a:rPr>
              <a:t>Define the PATH shape (line, curve, or custom)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3255264"/>
            <a:ext cx="914400" cy="594360"/>
          </a:xfrm>
          <a:prstGeom prst="rect">
            <a:avLst/>
          </a:prstGeom>
          <a:solidFill>
            <a:srgbClr val="FF9100"/>
          </a:solidFill>
          <a:ln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255264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80823"/>
                </a:solidFill>
              </a:rPr>
              <a:t>STEP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3328416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3CDEB"/>
                </a:solidFill>
              </a:rPr>
              <a:t>Set START and END points along the path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3968496"/>
            <a:ext cx="914400" cy="594360"/>
          </a:xfrm>
          <a:prstGeom prst="rect">
            <a:avLst/>
          </a:prstGeom>
          <a:solidFill>
            <a:srgbClr val="2ED573"/>
          </a:solidFill>
          <a:ln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968496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80823"/>
                </a:solidFill>
              </a:rPr>
              <a:t>STEP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4041648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3CDEB"/>
                </a:solidFill>
              </a:rPr>
              <a:t>Define TIMING — duration of the movement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4681728"/>
            <a:ext cx="914400" cy="594360"/>
          </a:xfrm>
          <a:prstGeom prst="rect">
            <a:avLst/>
          </a:prstGeom>
          <a:solidFill>
            <a:srgbClr val="9650DC"/>
          </a:solidFill>
          <a:ln>
            <a:solidFill>
              <a:srgbClr val="965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681728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80823"/>
                </a:solidFill>
              </a:rPr>
              <a:t>STEP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475488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3CDEB"/>
                </a:solidFill>
              </a:rPr>
              <a:t>Apply EASING — speed variation along the path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5394960"/>
            <a:ext cx="914400" cy="594360"/>
          </a:xfrm>
          <a:prstGeom prst="rect">
            <a:avLst/>
          </a:prstGeom>
          <a:solidFill>
            <a:srgbClr val="FF5AA0"/>
          </a:solidFill>
          <a:ln>
            <a:solidFill>
              <a:srgbClr val="FF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539496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80823"/>
                </a:solidFill>
              </a:rPr>
              <a:t>STEP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5468112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3CDEB"/>
                </a:solidFill>
              </a:rPr>
              <a:t>Add OBJECT ORIENTATION — does it face the direction of travel?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6108192"/>
            <a:ext cx="914400" cy="594360"/>
          </a:xfrm>
          <a:prstGeom prst="rect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610819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80823"/>
                </a:solidFill>
              </a:rPr>
              <a:t>STEP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6181344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3CDEB"/>
                </a:solidFill>
              </a:rPr>
              <a:t>Preview, adjust, and render final animation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6446520"/>
            <a:ext cx="11338560" cy="347472"/>
          </a:xfrm>
          <a:prstGeom prst="rect">
            <a:avLst/>
          </a:prstGeom>
          <a:solidFill>
            <a:srgbClr val="005000"/>
          </a:solidFill>
          <a:ln>
            <a:solidFill>
              <a:srgbClr val="0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455664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D573"/>
                </a:solidFill>
              </a:rPr>
              <a:t>Real-World Examples:  CSS @keyframes  •  After Effects motion paths  •  Unity NavMesh agent paths  •  Sprite trajectories in games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ED573"/>
          </a:solidFill>
          <a:ln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50528"/>
          </a:solidFill>
          <a:ln>
            <a:solidFill>
              <a:srgbClr val="050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73152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2ED573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4592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COMPUTER ANIMATION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1247120" cy="731520"/>
          </a:xfrm>
          <a:prstGeom prst="rect">
            <a:avLst/>
          </a:prstGeom>
          <a:solidFill>
            <a:srgbClr val="104A28"/>
          </a:solidFill>
          <a:ln>
            <a:solidFill>
              <a:srgbClr val="104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Computer animation uses digital software to create moving images — simulating traditional techniques or producing entirely new effects impossible by hand.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700"/>
                </a:solidFill>
              </a:rPr>
              <a:t>CEL ANIMATION  vs  COMPUTER ANIMATION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87168"/>
            <a:ext cx="5029200" cy="475488"/>
          </a:xfrm>
          <a:prstGeom prst="rect">
            <a:avLst/>
          </a:prstGeom>
          <a:solidFill>
            <a:srgbClr val="00D2FF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8716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0823"/>
                </a:solidFill>
              </a:rPr>
              <a:t>CEL ANIMATION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487168"/>
            <a:ext cx="5029200" cy="475488"/>
          </a:xfrm>
          <a:prstGeom prst="rect">
            <a:avLst/>
          </a:prstGeom>
          <a:solidFill>
            <a:srgbClr val="2ED573"/>
          </a:solidFill>
          <a:ln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48716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0823"/>
                </a:solidFill>
              </a:rPr>
              <a:t>COMPUTER ANIMATION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2120" y="2377440"/>
            <a:ext cx="1097280" cy="960120"/>
          </a:xfrm>
          <a:prstGeom prst="rect">
            <a:avLst/>
          </a:prstGeom>
          <a:solidFill>
            <a:srgbClr val="FF9100"/>
          </a:solidFill>
          <a:ln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2120" y="2377440"/>
            <a:ext cx="1097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5029200" cy="475488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3017520"/>
            <a:ext cx="5029200" cy="475488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72384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3CDEB"/>
                </a:solidFill>
              </a:rPr>
              <a:t>Hand-drawn on physical celluloid sheets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3072384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D573"/>
                </a:solidFill>
              </a:rPr>
              <a:t>Created entirely with digital software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29584"/>
            <a:ext cx="5029200" cy="475488"/>
          </a:xfrm>
          <a:prstGeom prst="rect">
            <a:avLst/>
          </a:prstGeom>
          <a:solidFill>
            <a:srgbClr val="0C0C30"/>
          </a:solidFill>
          <a:ln>
            <a:solidFill>
              <a:srgbClr val="0C0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0" y="3529584"/>
            <a:ext cx="5029200" cy="475488"/>
          </a:xfrm>
          <a:prstGeom prst="rect">
            <a:avLst/>
          </a:prstGeom>
          <a:solidFill>
            <a:srgbClr val="0C0C30"/>
          </a:solidFill>
          <a:ln>
            <a:solidFill>
              <a:srgbClr val="0C0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584448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3CDEB"/>
                </a:solidFill>
              </a:rPr>
              <a:t>Highly time-consuming — every frame by hand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3584448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D573"/>
                </a:solidFill>
              </a:rPr>
              <a:t>Automation handles tweens, physics, rendering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41648"/>
            <a:ext cx="5029200" cy="475488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75120" y="4041648"/>
            <a:ext cx="5029200" cy="475488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096512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3CDEB"/>
                </a:solidFill>
              </a:rPr>
              <a:t>Physical storage: film cans, shelving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4096512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D573"/>
                </a:solidFill>
              </a:rPr>
              <a:t>Digital files — easy to backup and share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553712"/>
            <a:ext cx="5029200" cy="475488"/>
          </a:xfrm>
          <a:prstGeom prst="rect">
            <a:avLst/>
          </a:prstGeom>
          <a:solidFill>
            <a:srgbClr val="0C0C30"/>
          </a:solidFill>
          <a:ln>
            <a:solidFill>
              <a:srgbClr val="0C0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75120" y="4553712"/>
            <a:ext cx="5029200" cy="475488"/>
          </a:xfrm>
          <a:prstGeom prst="rect">
            <a:avLst/>
          </a:prstGeom>
          <a:solidFill>
            <a:srgbClr val="0C0C30"/>
          </a:solidFill>
          <a:ln>
            <a:solidFill>
              <a:srgbClr val="0C0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608576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3CDEB"/>
                </a:solidFill>
              </a:rPr>
              <a:t>Expensive materials: cels, paint, camera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4608576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D573"/>
                </a:solidFill>
              </a:rPr>
              <a:t>One-time software cost; no materials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065776"/>
            <a:ext cx="5029200" cy="475488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75120" y="5065776"/>
            <a:ext cx="5029200" cy="475488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5120640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3CDEB"/>
                </a:solidFill>
              </a:rPr>
              <a:t>Difficult to reuse or modify frames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4848" y="5120640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D573"/>
                </a:solidFill>
              </a:rPr>
              <a:t>Copy, paste, modify assets instantly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577840"/>
            <a:ext cx="5029200" cy="475488"/>
          </a:xfrm>
          <a:prstGeom prst="rect">
            <a:avLst/>
          </a:prstGeom>
          <a:solidFill>
            <a:srgbClr val="0C0C30"/>
          </a:solidFill>
          <a:ln>
            <a:solidFill>
              <a:srgbClr val="0C0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75120" y="5577840"/>
            <a:ext cx="5029200" cy="475488"/>
          </a:xfrm>
          <a:prstGeom prst="rect">
            <a:avLst/>
          </a:prstGeom>
          <a:solidFill>
            <a:srgbClr val="0C0C30"/>
          </a:solidFill>
          <a:ln>
            <a:solidFill>
              <a:srgbClr val="0C0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5632704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3CDEB"/>
                </a:solidFill>
              </a:rPr>
              <a:t>Organic, hand-crafted visual warmth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84848" y="5632704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D573"/>
                </a:solidFill>
              </a:rPr>
              <a:t>Precise, photorealistic, or any style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089904"/>
            <a:ext cx="5029200" cy="475488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675120" y="6089904"/>
            <a:ext cx="5029200" cy="475488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6144768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3CDEB"/>
                </a:solidFill>
              </a:rPr>
              <a:t>Production time: months per minute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84848" y="6144768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D573"/>
                </a:solidFill>
              </a:rPr>
              <a:t>Faster pipeline; real-time previews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ED573"/>
          </a:solidFill>
          <a:ln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50528"/>
          </a:solidFill>
          <a:ln>
            <a:solidFill>
              <a:srgbClr val="050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73152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2ED573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4592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KINEMATICS, INVERSE KINEMATICS &amp; MORPHING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3657600" cy="553212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3657600" cy="566928"/>
          </a:xfrm>
          <a:prstGeom prst="rect">
            <a:avLst/>
          </a:prstGeom>
          <a:solidFill>
            <a:srgbClr val="00D2FF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161288"/>
            <a:ext cx="3520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823"/>
                </a:solidFill>
              </a:rPr>
              <a:t>FORWARD KINEMATICS (FK)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1755648"/>
            <a:ext cx="340156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3CDEB"/>
                </a:solidFill>
              </a:rPr>
              <a:t>Animating from PARENT to CHILD joints.
HOW IT WORKS:
  Move the SHOULDER first
  → Elbow follows shoulder
  → Wrist follows elbow
  → Finger follows wrist
ANALOGY:
Like a puppet — you control
the parent; limbs follow.
USED FOR:
  Mechanical / robotic arms
  Waving motions
  Tail or tentacle animation
  Flag ripple effects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115568"/>
            <a:ext cx="3657600" cy="553212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115568"/>
            <a:ext cx="3657600" cy="566928"/>
          </a:xfrm>
          <a:prstGeom prst="rect">
            <a:avLst/>
          </a:prstGeom>
          <a:solidFill>
            <a:srgbClr val="FF9100"/>
          </a:solidFill>
          <a:ln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161288"/>
            <a:ext cx="3520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823"/>
                </a:solidFill>
              </a:rPr>
              <a:t>INVERSE KINEMATICS (IK)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1755648"/>
            <a:ext cx="340156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3CDEB"/>
                </a:solidFill>
              </a:rPr>
              <a:t>Reverse of FK — move the END
POINT; chain adjusts automatically.
HOW IT WORKS:
  Move the HAND position
  → Software calculates elbow
  → And shoulder positions
  → Works backwards up chain
ANALOGY:
Reach for a cup — you aim
your hand; body figures
out the rest automatically.
USED FOR:
  Walking &amp; running cycles
  Character reaching/grabbing
  Real-time game characters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1115568"/>
            <a:ext cx="3657600" cy="553212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115568"/>
            <a:ext cx="3657600" cy="566928"/>
          </a:xfrm>
          <a:prstGeom prst="rect">
            <a:avLst/>
          </a:prstGeom>
          <a:solidFill>
            <a:srgbClr val="9650DC"/>
          </a:solidFill>
          <a:ln>
            <a:solidFill>
              <a:srgbClr val="965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161288"/>
            <a:ext cx="3520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823"/>
                </a:solidFill>
              </a:rPr>
              <a:t>MORPHING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1755648"/>
            <a:ext cx="340156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3CDEB"/>
                </a:solidFill>
              </a:rPr>
              <a:t>Smooth transformation of one
shape/image into a DIFFERENT one.
HOW IT WORKS:
  Map points on source
  Map corresponding target points
  Software interpolates all
  points simultaneously
TYPES:
  2D Morphing — image to image
  3D Morphing — mesh deformation
  Shape morphing — vector paths
FAMOUS EXAMPLES:
  MJ 'Black or White' video
  T-1000 in Terminator 2
  Werewolf transformations
  Logo reveal animations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50528"/>
          </a:solidFill>
          <a:ln>
            <a:solidFill>
              <a:srgbClr val="050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73152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D700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4592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LEVELS OF COMPUTER ANIMATION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3657600" cy="553212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15568"/>
            <a:ext cx="3657600" cy="868680"/>
          </a:xfrm>
          <a:prstGeom prst="rect">
            <a:avLst/>
          </a:prstGeom>
          <a:solidFill>
            <a:srgbClr val="00D2FF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3385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80823"/>
                </a:solidFill>
              </a:rPr>
              <a:t>★☆☆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80823"/>
                </a:solidFill>
              </a:rPr>
              <a:t>BASIC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057400"/>
            <a:ext cx="340156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3CDEB"/>
                </a:solidFill>
              </a:rPr>
              <a:t>Entry-level animation using simple tools
WHAT YOU CREATE:
  • Animated GIFs
  • CSS / PowerPoint transitions
  • Simple 2D sprite movement
  • Basic logo animations
  • Slideshow animations
TOOLS:
  MS PowerPoint, Canva,
  GIMP, basic CSS
SKILL LEVEL: Beginner
TIME TO LEARN: Days – weeks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1115568"/>
            <a:ext cx="3657600" cy="553212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115568"/>
            <a:ext cx="3657600" cy="868680"/>
          </a:xfrm>
          <a:prstGeom prst="rect">
            <a:avLst/>
          </a:prstGeom>
          <a:solidFill>
            <a:srgbClr val="FF9100"/>
          </a:solidFill>
          <a:ln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13385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80823"/>
                </a:solidFill>
              </a:rPr>
              <a:t>★★☆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153619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80823"/>
                </a:solidFill>
              </a:rPr>
              <a:t>INTERMEDIATE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057400"/>
            <a:ext cx="340156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3CDEB"/>
                </a:solidFill>
              </a:rPr>
              <a:t>Deeper control over animation systems
WHAT YOU CREATE:
  • 2D character animation
  • Motion graphics &amp; infographics
  • Complex path animations
  • Basic 3D object animation
  • Game character movement
TOOLS:
  Adobe After Effects,
  Adobe Animate, Blender (basics),
  Spine, Toon Boom
SKILL LEVEL: Intermediate
TIME TO LEARN: Months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4464" y="1115568"/>
            <a:ext cx="3657600" cy="553212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84464" y="1115568"/>
            <a:ext cx="3657600" cy="868680"/>
          </a:xfrm>
          <a:prstGeom prst="rect">
            <a:avLst/>
          </a:prstGeom>
          <a:solidFill>
            <a:srgbClr val="9650DC"/>
          </a:solidFill>
          <a:ln>
            <a:solidFill>
              <a:srgbClr val="965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113385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80823"/>
                </a:solidFill>
              </a:rPr>
              <a:t>★★★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153619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80823"/>
                </a:solidFill>
              </a:rPr>
              <a:t>ADVANCED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57400"/>
            <a:ext cx="340156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3CDEB"/>
                </a:solidFill>
              </a:rPr>
              <a:t>Production-quality, studio-level work
WHAT YOU CREATE:
  • Full CG feature films
  • Realistic physics simulations
  • Procedural &amp; generative anim
  • Motion capture integration
  • Real-time VFX in games
  • AI-assisted animation
TOOLS:
  Autodesk Maya, Houdini,
  Unreal Engine, Cinema 4D
SKILL LEVEL: Professional
TIME TO LEARN: Years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0D2FF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50528"/>
          </a:solidFill>
          <a:ln>
            <a:solidFill>
              <a:srgbClr val="050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73152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D2FF"/>
                </a:solidFill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4592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12 BASIC PRINCIPLES OF ANIMATION  —  Part 1 of 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1247120" cy="731520"/>
          </a:xfrm>
          <a:prstGeom prst="rect">
            <a:avLst/>
          </a:prstGeom>
          <a:solidFill>
            <a:srgbClr val="004959"/>
          </a:solidFill>
          <a:ln>
            <a:solidFill>
              <a:srgbClr val="004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Developed by Disney animators Ollie Johnston &amp; Frank Thomas (book: The Illusion of Life, 1981).  Still the GOLD STANDARD for all animation worldwide.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74519"/>
            <a:ext cx="2743200" cy="475488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2743200" cy="566928"/>
          </a:xfrm>
          <a:prstGeom prst="rect">
            <a:avLst/>
          </a:prstGeom>
          <a:solidFill>
            <a:srgbClr val="00D2FF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" y="1911095"/>
            <a:ext cx="2633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823"/>
                </a:solidFill>
              </a:rPr>
              <a:t>01  SQUASH &amp; STRETCH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532887"/>
            <a:ext cx="2523744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Exaggerate deformation for life &amp; weight.
• Ball SQUASHES on impact
• Ball STRETCHES when in fast motion
• Total volume stays CONSTANT
• Shows elasticity &amp; mass
EXAMPLE:
  Rubber ball bounce —
  squash on landing,
  stretch in mid-air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1874519"/>
            <a:ext cx="2743200" cy="475488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1874519"/>
            <a:ext cx="2743200" cy="566928"/>
          </a:xfrm>
          <a:prstGeom prst="rect">
            <a:avLst/>
          </a:prstGeom>
          <a:solidFill>
            <a:srgbClr val="FF9100"/>
          </a:solidFill>
          <a:ln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1911095"/>
            <a:ext cx="2633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823"/>
                </a:solidFill>
              </a:rPr>
              <a:t>02  ANTICIPATION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2532887"/>
            <a:ext cx="2523744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Small opposite action BEFORE main action.
• Character crouches before jumping
• Arm swings back before throwing
• Pitcher winds up before pitching
• Prepares audience mentally
EXAMPLE:
  Bugs Bunny ducking
  down before a huge
  comedic leap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216" y="1874519"/>
            <a:ext cx="2743200" cy="475488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0216" y="1874519"/>
            <a:ext cx="2743200" cy="566928"/>
          </a:xfrm>
          <a:prstGeom prst="rect">
            <a:avLst/>
          </a:prstGeom>
          <a:solidFill>
            <a:srgbClr val="2ED573"/>
          </a:solidFill>
          <a:ln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911095"/>
            <a:ext cx="2633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823"/>
                </a:solidFill>
              </a:rPr>
              <a:t>03  STAGING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532887"/>
            <a:ext cx="2523744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Clear presentation of one idea at a time.
• Use clear silhouettes
• Camera angle tells the story
• Avoid busy, distracting BGs
• Direct the audience's eye
EXAMPLE:
  Character in profile view
  making dramatic gesture —
  instantly readable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44584" y="1874519"/>
            <a:ext cx="2743200" cy="475488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44584" y="1874519"/>
            <a:ext cx="2743200" cy="566928"/>
          </a:xfrm>
          <a:prstGeom prst="rect">
            <a:avLst/>
          </a:prstGeom>
          <a:solidFill>
            <a:srgbClr val="9650DC"/>
          </a:solidFill>
          <a:ln>
            <a:solidFill>
              <a:srgbClr val="965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9448" y="1911095"/>
            <a:ext cx="2633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823"/>
                </a:solidFill>
              </a:rPr>
              <a:t>04  STRAIGHT AHEAD
&amp; POSE-TO-POSE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4312" y="2532887"/>
            <a:ext cx="2523744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Two animation approaches:
STRAIGHT AHEAD:
  Draw frame by frame start
  to finish — spontaneous,
  fluid, unpredictable
POSE-TO-POSE:
  Draw key poses first, fill
  in betweens — controlled,
  planned, consistent
Best work combines BOTH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FF9100"/>
          </a:solidFill>
          <a:ln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50528"/>
          </a:solidFill>
          <a:ln>
            <a:solidFill>
              <a:srgbClr val="050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73152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9100"/>
                </a:solidFill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4592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12 BASIC PRINCIPLES OF ANIMATION  —  Part 2 of 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1247120" cy="731520"/>
          </a:xfrm>
          <a:prstGeom prst="rect">
            <a:avLst/>
          </a:prstGeom>
          <a:solidFill>
            <a:srgbClr val="593200"/>
          </a:solidFill>
          <a:ln>
            <a:solidFill>
              <a:srgbClr val="593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These principles are NOT rules — they are tools. Master them, then bend them deliberately for artistic effect.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74519"/>
            <a:ext cx="2743200" cy="475488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2743200" cy="566928"/>
          </a:xfrm>
          <a:prstGeom prst="rect">
            <a:avLst/>
          </a:prstGeom>
          <a:solidFill>
            <a:srgbClr val="00D2FF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" y="1911095"/>
            <a:ext cx="2633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823"/>
                </a:solidFill>
              </a:rPr>
              <a:t>05  FOLLOW THROUGH
&amp; OVERLAPPING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532887"/>
            <a:ext cx="2523744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FOLLOW THROUGH:
  Parts keep moving after
  main action stops.
  • Hair swings after head stops
  • Coat settles after character
OVERLAPPING:
  Different parts move at
  different rates/delays.
  • Arms lag behind torso
  • Makes motion feel organic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1874519"/>
            <a:ext cx="2743200" cy="475488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1874519"/>
            <a:ext cx="2743200" cy="566928"/>
          </a:xfrm>
          <a:prstGeom prst="rect">
            <a:avLst/>
          </a:prstGeom>
          <a:solidFill>
            <a:srgbClr val="FF9100"/>
          </a:solidFill>
          <a:ln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1911095"/>
            <a:ext cx="2633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823"/>
                </a:solidFill>
              </a:rPr>
              <a:t>06  EASE IN &amp; EASE OUT
(Slow In / Slow Out)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2532887"/>
            <a:ext cx="2523744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Objects ACCELERATE at start and
DECELERATE at end of movement.
• Nothing in nature starts/stops
  at full speed instantly
• A car: slow start → full speed
  → gradual brake
• Gives weight &amp; natural feel
In software:
  Bézier easing curves
  Linear = robotic/artificial
  Ease = natural/believable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216" y="1874519"/>
            <a:ext cx="2743200" cy="475488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0216" y="1874519"/>
            <a:ext cx="2743200" cy="566928"/>
          </a:xfrm>
          <a:prstGeom prst="rect">
            <a:avLst/>
          </a:prstGeom>
          <a:solidFill>
            <a:srgbClr val="2ED573"/>
          </a:solidFill>
          <a:ln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911095"/>
            <a:ext cx="2633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823"/>
                </a:solidFill>
              </a:rPr>
              <a:t>07  ARCS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532887"/>
            <a:ext cx="2523744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Natural movement follows ARC-
shape paths, not straight lines.
• Arms swing in arcs
• Heads nod in arcs
• Thrown objects: parabola
• Even eyes dart in arcs
EXCEPTION:
  Mechanical/robot movement
  IS straight — use straight
  lines intentionally for
  mechanical characters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44584" y="1874519"/>
            <a:ext cx="2743200" cy="475488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44584" y="1874519"/>
            <a:ext cx="2743200" cy="566928"/>
          </a:xfrm>
          <a:prstGeom prst="rect">
            <a:avLst/>
          </a:prstGeom>
          <a:solidFill>
            <a:srgbClr val="9650DC"/>
          </a:solidFill>
          <a:ln>
            <a:solidFill>
              <a:srgbClr val="965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9448" y="1911095"/>
            <a:ext cx="2633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823"/>
                </a:solidFill>
              </a:rPr>
              <a:t>08  SECONDARY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4312" y="2532887"/>
            <a:ext cx="2523744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Additional actions that SUPPORT
and enrich the main action.
EXAMPLES:
  Walking (main)
  + Arms swinging (secondary)
  Running (main)
  + Heavy breathing (secondary)
RULE:
  Secondary should NEVER
  overpower the main action
  — it supports, not steals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9650DC"/>
          </a:solidFill>
          <a:ln>
            <a:solidFill>
              <a:srgbClr val="965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50528"/>
          </a:solidFill>
          <a:ln>
            <a:solidFill>
              <a:srgbClr val="050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73152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9650DC"/>
                </a:solidFill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4592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12 BASIC PRINCIPLES OF ANIMATION  —  Part 3 of 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1247120" cy="731520"/>
          </a:xfrm>
          <a:prstGeom prst="rect">
            <a:avLst/>
          </a:prstGeom>
          <a:solidFill>
            <a:srgbClr val="341C4D"/>
          </a:solidFill>
          <a:ln>
            <a:solidFill>
              <a:srgbClr val="341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Walt Disney: 'The secret of animation is the exaggeration of the truth.' — These final 4 principles deliver that truth.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74519"/>
            <a:ext cx="2743200" cy="475488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2743200" cy="566928"/>
          </a:xfrm>
          <a:prstGeom prst="rect">
            <a:avLst/>
          </a:prstGeom>
          <a:solidFill>
            <a:srgbClr val="00D2FF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" y="1911095"/>
            <a:ext cx="2633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823"/>
                </a:solidFill>
              </a:rPr>
              <a:t>09  TIMING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532887"/>
            <a:ext cx="2523744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Number of frames = perceived
speed, weight, and feel.
MORE frames = slower, heavier
FEWER frames = faster, lighter
EXAMPLES AT 24fps:
  Eye blink: 6-8 frames
  Head turn: 10-15 frames
  Heavy punch: 4 frames
  Gentle wave: 30+ frames
TIMING is the HEARTBEAT
of animation — get it wrong
and nothing else matters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1874519"/>
            <a:ext cx="2743200" cy="475488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1874519"/>
            <a:ext cx="2743200" cy="566928"/>
          </a:xfrm>
          <a:prstGeom prst="rect">
            <a:avLst/>
          </a:prstGeom>
          <a:solidFill>
            <a:srgbClr val="FF9100"/>
          </a:solidFill>
          <a:ln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1911095"/>
            <a:ext cx="2633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823"/>
                </a:solidFill>
              </a:rPr>
              <a:t>10  EXAGGERATION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2532887"/>
            <a:ext cx="2523744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Push actions beyond realistic
limits for emotional impact.
• Giant cartoon eyes
• Impossible stretching
• Huge emotional expressions
• Over-the-top reactions
NOT about being unrealistic —
it's making the TRUTH more
VISIBLE and ENTERTAINING.
RULE:
  Exaggerate the ESSENCE,
  not random features.
  A sad character cries
  buckets — not leaks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216" y="1874519"/>
            <a:ext cx="2743200" cy="475488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0216" y="1874519"/>
            <a:ext cx="2743200" cy="566928"/>
          </a:xfrm>
          <a:prstGeom prst="rect">
            <a:avLst/>
          </a:prstGeom>
          <a:solidFill>
            <a:srgbClr val="2ED573"/>
          </a:solidFill>
          <a:ln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911095"/>
            <a:ext cx="2633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823"/>
                </a:solidFill>
              </a:rPr>
              <a:t>11  SOLID DRAWING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532887"/>
            <a:ext cx="2523744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Characters must appear as 3D
objects with weight and form.
PRINCIPLES:
  • Understand 3D basic shapes
  • 'Draw through' forms
  • Consistent proportions
  • Avoid 'twinning' (mirror poses)
  • Strong line of action
Even in 2D, the audience
should FEEL the 3D volume.
Modern: 3D rigs must deform
believably under movement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44584" y="1874519"/>
            <a:ext cx="2743200" cy="475488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44584" y="1874519"/>
            <a:ext cx="2743200" cy="566928"/>
          </a:xfrm>
          <a:prstGeom prst="rect">
            <a:avLst/>
          </a:prstGeom>
          <a:solidFill>
            <a:srgbClr val="9650DC"/>
          </a:solidFill>
          <a:ln>
            <a:solidFill>
              <a:srgbClr val="965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9448" y="1911095"/>
            <a:ext cx="2633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823"/>
                </a:solidFill>
              </a:rPr>
              <a:t>12  APPEAL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4312" y="2532887"/>
            <a:ext cx="2523744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Characters must be visually
interesting to WATCH.
APPEAL ≠ CUTENESS:
  • A powerful villain has appeal
  • A complex anti-hero has it
  • Even monsters can have it
HOW TO ACHIEVE:
  • Clear, readable design
  • Charisma &amp; personality
  • Avoid stiff, symmetric poses
  • Dynamic silhouette
TEST: Would an audience
want to KEEP watching
this character?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FF5AA0"/>
          </a:solidFill>
          <a:ln>
            <a:solidFill>
              <a:srgbClr val="FF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50528"/>
          </a:solidFill>
          <a:ln>
            <a:solidFill>
              <a:srgbClr val="050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73152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5AA0"/>
                </a:solidFill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4592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ANIMATION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3657600" cy="553212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15568"/>
            <a:ext cx="3657600" cy="594360"/>
          </a:xfrm>
          <a:prstGeom prst="rect">
            <a:avLst/>
          </a:prstGeom>
          <a:solidFill>
            <a:srgbClr val="00D2FF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161288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0823"/>
                </a:solidFill>
              </a:rPr>
              <a:t>2D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783080"/>
            <a:ext cx="340156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Objects exist in TWO dimensions
(X-axis width + Y-axis height)
CHARACTERISTICS:
  • Flat, like drawing on paper
  • No real depth perception
  • Simple to create &amp; render
  • Low hardware requirements
  • Classic cartoon aesthetic
  • Fast production pipeline
EXAMPLES:
  Tom &amp; Jerry
  Classic Disney (pre-1990)
  Original Mario &amp; Pac-Man
  Most mobile game animations
  Flash web animations
TOOLS:
  Adobe Animate, Toon Boom,
  Spine, TVPaint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115568"/>
            <a:ext cx="3657600" cy="553212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115568"/>
            <a:ext cx="3657600" cy="594360"/>
          </a:xfrm>
          <a:prstGeom prst="rect">
            <a:avLst/>
          </a:prstGeom>
          <a:solidFill>
            <a:srgbClr val="FF9100"/>
          </a:solidFill>
          <a:ln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161288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0823"/>
                </a:solidFill>
              </a:rPr>
              <a:t>2½D SPACE
(Two-and-a-Half 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1783080"/>
            <a:ext cx="340156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2D art creating the ILLUSION
of depth via layers &amp; parallax.
CHARACTERISTICS:
  • Parallax scrolling = depth
  • Objects appear on Z-axis
    but are still 2D sprites
  • 'Pseudo-3D' / 'Layered 2D'
  • Richer than 2D, simpler than 3D
  • Great performance/visual trade-off
EXAMPLES:
  Paper Mario games
  South Park animation
  Ori and the Blind Forest
  Disney multiplane camera
  (Sleeping Beauty, 1959)
TOOLS:
  After Effects (Z-depth layers)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84464" y="1115568"/>
            <a:ext cx="3657600" cy="553212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84464" y="1115568"/>
            <a:ext cx="3657600" cy="594360"/>
          </a:xfrm>
          <a:prstGeom prst="rect">
            <a:avLst/>
          </a:prstGeom>
          <a:solidFill>
            <a:srgbClr val="2ED573"/>
          </a:solidFill>
          <a:ln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1161288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0823"/>
                </a:solidFill>
              </a:rPr>
              <a:t>3D 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783080"/>
            <a:ext cx="340156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Full THREE dimensions:
X-axis + Y-axis + Z-axis (depth)
CHARACTERISTICS:
  • True depth, volume, perspective
  • Viewable from ANY angle
  • Realistic lighting &amp; shadows
  • Requires powerful hardware
  • Longer render times
  • Maximum visual versatility
EXAMPLES:
  Toy Story, Frozen, Moana
  Fortnite, Call of Duty
  Architectural visualization
  Medical simulations
  VFX in live-action films
TOOLS:
  Blender, Autodesk Maya,
  Cinema 4D, Houdini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FF9100"/>
          </a:solidFill>
          <a:ln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50528"/>
          </a:solidFill>
          <a:ln>
            <a:solidFill>
              <a:srgbClr val="050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73152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9100"/>
                </a:solidFill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4592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ANIMATION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1247120" cy="731520"/>
          </a:xfrm>
          <a:prstGeom prst="rect">
            <a:avLst/>
          </a:prstGeom>
          <a:solidFill>
            <a:srgbClr val="593200"/>
          </a:solidFill>
          <a:ln>
            <a:solidFill>
              <a:srgbClr val="593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All professional animation — from a 10-second ad to a 2-hour film — follows this 4-stage pipeline.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74519"/>
            <a:ext cx="2743200" cy="475488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2743200" cy="411480"/>
          </a:xfrm>
          <a:prstGeom prst="rect">
            <a:avLst/>
          </a:prstGeom>
          <a:solidFill>
            <a:srgbClr val="00D2FF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7451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823"/>
                </a:solidFill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860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2FF"/>
                </a:solidFill>
              </a:rPr>
              <a:t>ORGANIZE
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3017520"/>
            <a:ext cx="2523744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• Define project goals &amp; scope
• Identify team roles
• Set milestones &amp; deadlines
• Gather reference material
• Create style guide
• Budget &amp; resource planning
• Risk assessment
OUTPUT:
  Project bible, schedule,
  mood boards, storyboard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411480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910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5848" y="1874519"/>
            <a:ext cx="2743200" cy="475488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55848" y="1874519"/>
            <a:ext cx="2743200" cy="411480"/>
          </a:xfrm>
          <a:prstGeom prst="rect">
            <a:avLst/>
          </a:prstGeom>
          <a:solidFill>
            <a:srgbClr val="FF9100"/>
          </a:solidFill>
          <a:ln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5848" y="187451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823"/>
                </a:solidFill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22860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9100"/>
                </a:solidFill>
              </a:rPr>
              <a:t>CHOOSE
ANIMATION 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5576" y="3017520"/>
            <a:ext cx="2523744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• Match tool to project type
• Consider team skill level
• Account for budget
2D ANIMATION:
  Adobe Animate, Toon Boom
3D ANIMATION:
  Maya, Blender, Cinema 4D
MOTION GRAPHICS:
  After Effects, Motion
GAMES (real-time):
  Unity, Unreal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7608" y="411480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910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0216" y="1874519"/>
            <a:ext cx="2743200" cy="475488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0216" y="1874519"/>
            <a:ext cx="2743200" cy="411480"/>
          </a:xfrm>
          <a:prstGeom prst="rect">
            <a:avLst/>
          </a:prstGeom>
          <a:solidFill>
            <a:srgbClr val="2ED573"/>
          </a:solidFill>
          <a:ln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216" y="187451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823"/>
                </a:solidFill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22860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D573"/>
                </a:solidFill>
              </a:rPr>
              <a:t>BUILD &amp; TWEAK
SEQUENCES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3017520"/>
            <a:ext cx="2523744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• Create rough blocking first
• Refine with keyframes
• Add secondary animation
• Apply the 12 Principles
• Sync with audio / music
• Team review cycles
• Iterate until approved
NOTE:
  This step is ITERATIVE —
  you cycle through it
  many times before moving 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1976" y="411480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9100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44584" y="1874519"/>
            <a:ext cx="2743200" cy="475488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44584" y="1874519"/>
            <a:ext cx="2743200" cy="411480"/>
          </a:xfrm>
          <a:prstGeom prst="rect">
            <a:avLst/>
          </a:prstGeom>
          <a:solidFill>
            <a:srgbClr val="9650DC"/>
          </a:solidFill>
          <a:ln>
            <a:solidFill>
              <a:srgbClr val="965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44584" y="187451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823"/>
                </a:solidFill>
              </a:rPr>
              <a:t>STEP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4584" y="22860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650DC"/>
                </a:solidFill>
              </a:rPr>
              <a:t>POST-PROCESS
ANIMATION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4312" y="3017520"/>
            <a:ext cx="2523744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• Render final frames
• Color grading &amp; correction
• Add visual effects / overlays
• Sound design &amp; music mix
• Quality assurance testing
• Format for delivery target
  (web, broadcast, cinema)
• Archive project files
OUTPUT:
  Final deliverable file
  (MP4, MOV, WebM, etc.)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446520"/>
            <a:ext cx="11338560" cy="347472"/>
          </a:xfrm>
          <a:prstGeom prst="rect">
            <a:avLst/>
          </a:prstGeom>
          <a:solidFill>
            <a:srgbClr val="005A00"/>
          </a:solidFill>
          <a:ln>
            <a:solidFill>
              <a:srgbClr val="00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64808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D573"/>
                </a:solidFill>
              </a:rPr>
              <a:t>KEY INSIGHT: Animation is ITERATIVE — Step 3 is repeated multiple times before you ever reach Step 4.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008CBE"/>
          </a:solidFill>
          <a:ln>
            <a:solidFill>
              <a:srgbClr val="008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SUMMARY —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25880"/>
            <a:ext cx="594360" cy="868680"/>
          </a:xfrm>
          <a:prstGeom prst="rect">
            <a:avLst/>
          </a:prstGeom>
          <a:solidFill>
            <a:srgbClr val="00D2FF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25880"/>
            <a:ext cx="594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80823"/>
                </a:solidFill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325880"/>
            <a:ext cx="5212080" cy="86868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362456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2FF"/>
                </a:solidFill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709928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Animation = sequential images exploiting Persistence of Vision + Phi Phenomenon to create seamless motion.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404872"/>
            <a:ext cx="594360" cy="868680"/>
          </a:xfrm>
          <a:prstGeom prst="rect">
            <a:avLst/>
          </a:prstGeom>
          <a:solidFill>
            <a:srgbClr val="9650DC"/>
          </a:solidFill>
          <a:ln>
            <a:solidFill>
              <a:srgbClr val="965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404872"/>
            <a:ext cx="594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80823"/>
                </a:solidFill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404872"/>
            <a:ext cx="5212080" cy="86868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4414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650DC"/>
                </a:solidFill>
              </a:rPr>
              <a:t>Usage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78892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Used in art, storytelling, scientific visualization, and instructional training across all industries.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483864"/>
            <a:ext cx="594360" cy="868680"/>
          </a:xfrm>
          <a:prstGeom prst="rect">
            <a:avLst/>
          </a:prstGeom>
          <a:solidFill>
            <a:srgbClr val="FF9100"/>
          </a:solidFill>
          <a:ln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483864"/>
            <a:ext cx="594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80823"/>
                </a:solidFill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3483864"/>
            <a:ext cx="5212080" cy="86868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52044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100"/>
                </a:solidFill>
              </a:rPr>
              <a:t>Techniques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867912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3 core techniques: Cel (hand-drawn), Path (trajectory-based), Computer (digital, most versatile).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562856"/>
            <a:ext cx="594360" cy="868680"/>
          </a:xfrm>
          <a:prstGeom prst="rect">
            <a:avLst/>
          </a:prstGeom>
          <a:solidFill>
            <a:srgbClr val="2ED573"/>
          </a:solidFill>
          <a:ln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4562856"/>
            <a:ext cx="594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80823"/>
                </a:solidFill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4562856"/>
            <a:ext cx="5212080" cy="86868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599432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D573"/>
                </a:solidFill>
              </a:rPr>
              <a:t>Cel Animation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946904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Relies on keyframes + tweening to create smooth motion efficiently. Pencil test validates timing early.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641848"/>
            <a:ext cx="594360" cy="868680"/>
          </a:xfrm>
          <a:prstGeom prst="rect">
            <a:avLst/>
          </a:prstGeom>
          <a:solidFill>
            <a:srgbClr val="FF5AA0"/>
          </a:solidFill>
          <a:ln>
            <a:solidFill>
              <a:srgbClr val="FF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5641848"/>
            <a:ext cx="594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80823"/>
                </a:solidFill>
              </a:rPr>
              <a:t>05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5641848"/>
            <a:ext cx="5212080" cy="86868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5678424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AA0"/>
                </a:solidFill>
              </a:rPr>
              <a:t>Path Animation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6025896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Object follows a predefined path — straight line or Bezier curve — with easing for natural feel.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1325880"/>
            <a:ext cx="594360" cy="868680"/>
          </a:xfrm>
          <a:prstGeom prst="rect">
            <a:avLst/>
          </a:prstGeom>
          <a:solidFill>
            <a:srgbClr val="00D2FF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325880"/>
            <a:ext cx="594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80823"/>
                </a:solidFill>
              </a:rPr>
              <a:t>06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0880" y="1325880"/>
            <a:ext cx="4800600" cy="86868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14032" y="136245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2FF"/>
                </a:solidFill>
              </a:rPr>
              <a:t>Computer Anim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2" y="170992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Digital animation with FK/IK chains and morphing — far faster, more flexible than traditional cel.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404872"/>
            <a:ext cx="594360" cy="868680"/>
          </a:xfrm>
          <a:prstGeom prst="rect">
            <a:avLst/>
          </a:prstGeom>
          <a:solidFill>
            <a:srgbClr val="9650DC"/>
          </a:solidFill>
          <a:ln>
            <a:solidFill>
              <a:srgbClr val="965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2404872"/>
            <a:ext cx="594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80823"/>
                </a:solidFill>
              </a:rPr>
              <a:t>07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2404872"/>
            <a:ext cx="4800600" cy="86868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14032" y="24414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650DC"/>
                </a:solidFill>
              </a:rPr>
              <a:t>Levels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14032" y="27889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Basic (GIFs/CSS) → Intermediate (motion graphics/2D chars) → Advanced (feature films, real-time VFX).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483864"/>
            <a:ext cx="594360" cy="868680"/>
          </a:xfrm>
          <a:prstGeom prst="rect">
            <a:avLst/>
          </a:prstGeom>
          <a:solidFill>
            <a:srgbClr val="FF9100"/>
          </a:solidFill>
          <a:ln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3483864"/>
            <a:ext cx="594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80823"/>
                </a:solidFill>
              </a:rPr>
              <a:t>08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3483864"/>
            <a:ext cx="4800600" cy="86868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14032" y="35204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100"/>
                </a:solidFill>
              </a:rPr>
              <a:t>12 Principles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14032" y="386791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Disney's foundational rules — Squash &amp; Stretch, Anticipation, Timing, Ease, Arcs, and 8 more. Still universal.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4562856"/>
            <a:ext cx="594360" cy="868680"/>
          </a:xfrm>
          <a:prstGeom prst="rect">
            <a:avLst/>
          </a:prstGeom>
          <a:solidFill>
            <a:srgbClr val="2ED573"/>
          </a:solidFill>
          <a:ln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562856"/>
            <a:ext cx="594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80823"/>
                </a:solidFill>
              </a:rPr>
              <a:t>09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40880" y="4562856"/>
            <a:ext cx="4800600" cy="86868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14032" y="459943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D573"/>
                </a:solidFill>
              </a:rPr>
              <a:t>Animation Space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4032" y="4946904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2D (flat), 2½D (pseudo-depth via parallax), 3D (full volumetric space with any camera angle).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5641848"/>
            <a:ext cx="594360" cy="868680"/>
          </a:xfrm>
          <a:prstGeom prst="rect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5641848"/>
            <a:ext cx="594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80823"/>
                </a:solidFill>
              </a:rPr>
              <a:t>  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40880" y="5641848"/>
            <a:ext cx="4800600" cy="868680"/>
          </a:xfrm>
          <a:prstGeom prst="rect">
            <a:avLst/>
          </a:prstGeom>
          <a:solidFill>
            <a:srgbClr val="12123E"/>
          </a:solidFill>
          <a:ln>
            <a:solidFill>
              <a:srgbClr val="121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14032" y="567842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Process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14032" y="602589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3CDEB"/>
                </a:solidFill>
              </a:rPr>
              <a:t>Organize → Choose Tool → Build &amp; Tweak Sequences → Post-Process. Iterative, not linear.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35040" y="1188720"/>
            <a:ext cx="64008" cy="5486400"/>
          </a:xfrm>
          <a:prstGeom prst="rect">
            <a:avLst/>
          </a:prstGeom>
          <a:solidFill>
            <a:srgbClr val="28285A"/>
          </a:solidFill>
          <a:ln>
            <a:solidFill>
              <a:srgbClr val="28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00D2FF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9650DC"/>
          </a:solidFill>
          <a:ln>
            <a:solidFill>
              <a:srgbClr val="965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365760"/>
            <a:ext cx="9445752" cy="6126480"/>
          </a:xfrm>
          <a:prstGeom prst="rect">
            <a:avLst/>
          </a:prstGeom>
          <a:solidFill>
            <a:srgbClr val="0D0D34"/>
          </a:solidFill>
          <a:ln>
            <a:solidFill>
              <a:srgbClr val="0D0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59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00D2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7259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1">
                <a:solidFill>
                  <a:srgbClr val="C3CDEB"/>
                </a:solidFill>
              </a:rPr>
              <a:t>Animation: Where Imagination Meets Technology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730752"/>
            <a:ext cx="5788152" cy="64008"/>
          </a:xfrm>
          <a:prstGeom prst="rect">
            <a:avLst/>
          </a:prstGeom>
          <a:solidFill>
            <a:srgbClr val="FF9100"/>
          </a:solidFill>
          <a:ln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9100"/>
                </a:solidFill>
              </a:rPr>
              <a:t>Group 3  —  Graphics &amp; Multimedia  —  SMIT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0725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3CDEB"/>
                </a:solidFill>
              </a:rPr>
              <a:t>Hashir Junaid           2023F-BCS-358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83480"/>
            <a:ext cx="10725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3CDEB"/>
                </a:solidFill>
              </a:rPr>
              <a:t>Taha Haider             2023F-BCS-079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40680"/>
            <a:ext cx="10725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3CDEB"/>
                </a:solidFill>
              </a:rPr>
              <a:t>Abdul Rahman Baig       2023F-BCS-100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2648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64A0"/>
                </a:solidFill>
              </a:rPr>
              <a:t>Topics Covered: Introduction • Usage • Techniques • Types • Computer Animation • Levels • 12 Principles • Space • Process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