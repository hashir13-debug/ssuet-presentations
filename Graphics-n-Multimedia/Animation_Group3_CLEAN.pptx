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040412"/>
              </a:gs>
              <a:gs pos="100000">
                <a:srgbClr val="0A0823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4712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75104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25496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75888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76672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27064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77456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27848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28632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329416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24712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75104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25496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75888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76672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27064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77456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27848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78240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28632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79024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329416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0" y="1097280"/>
            <a:ext cx="7589520" cy="4572000"/>
          </a:xfrm>
          <a:prstGeom prst="rect">
            <a:avLst/>
          </a:prstGeom>
          <a:ln>
            <a:noFill/>
          </a:ln>
          <a:gradFill>
            <a:gsLst>
              <a:gs pos="0">
                <a:srgbClr val="001E32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1371600"/>
            <a:ext cx="731520" cy="731520"/>
          </a:xfrm>
          <a:prstGeom prst="rect">
            <a:avLst/>
          </a:prstGeom>
          <a:solidFill>
            <a:srgbClr val="080828"/>
          </a:solidFill>
          <a:ln w="1905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B50E1"/>
                </a:solidFill>
              </a:rPr>
              <a:t>f1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1328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9789E"/>
                </a:solidFill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91640" y="1371600"/>
            <a:ext cx="731520" cy="731520"/>
          </a:xfrm>
          <a:prstGeom prst="rect">
            <a:avLst/>
          </a:prstGeom>
          <a:solidFill>
            <a:srgbClr val="080828"/>
          </a:solidFill>
          <a:ln w="1905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9164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7FF"/>
                </a:solidFill>
              </a:rPr>
              <a:t>f2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41448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9789E"/>
                </a:solidFill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1371600"/>
            <a:ext cx="731520" cy="731520"/>
          </a:xfrm>
          <a:prstGeom prst="rect">
            <a:avLst/>
          </a:prstGeom>
          <a:solidFill>
            <a:srgbClr val="080828"/>
          </a:solidFill>
          <a:ln w="1905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DC73"/>
                </a:solidFill>
              </a:rPr>
              <a:t>f3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1568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9789E"/>
                </a:solidFill>
              </a:rPr>
              <a:t>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11880" y="1371600"/>
            <a:ext cx="731520" cy="731520"/>
          </a:xfrm>
          <a:prstGeom prst="rect">
            <a:avLst/>
          </a:prstGeom>
          <a:solidFill>
            <a:srgbClr val="080828"/>
          </a:solidFill>
          <a:ln w="1905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400"/>
                </a:solidFill>
              </a:rPr>
              <a:t>f4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9789E"/>
                </a:solidFill>
              </a:rPr>
              <a:t>Still frames  →  Illusion of Motion  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2240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7FF"/>
                </a:solidFill>
              </a:rPr>
              <a:t>ANIMATION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0" y="2743200"/>
            <a:ext cx="8503920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2834640"/>
            <a:ext cx="8503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</a:rPr>
              <a:t>ANIMATION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00D7FF"/>
                </a:solidFill>
              </a:rPr>
              <a:t>The Art &amp; Science of Bringing Images to Life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4645152"/>
            <a:ext cx="8503920" cy="45720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0" y="47548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9789E"/>
                </a:solidFill>
              </a:rPr>
              <a:t>Graphics &amp; Multimedia  •  SMIT  •  Group 3  •  Topics 1—9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5840" y="5577840"/>
            <a:ext cx="3291840" cy="960120"/>
          </a:xfrm>
          <a:prstGeom prst="rect">
            <a:avLst/>
          </a:prstGeom>
          <a:solidFill>
            <a:srgbClr val="0A0A28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56235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7FF"/>
                </a:solidFill>
              </a:rPr>
              <a:t>Hashir Junaid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60076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9789E"/>
                </a:solidFill>
              </a:rPr>
              <a:t>2023F-BCS-358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79" y="5577840"/>
            <a:ext cx="3291840" cy="960120"/>
          </a:xfrm>
          <a:prstGeom prst="rect">
            <a:avLst/>
          </a:prstGeom>
          <a:solidFill>
            <a:srgbClr val="0A0A28"/>
          </a:solidFill>
          <a:ln w="1524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54879" y="56235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50E1"/>
                </a:solidFill>
              </a:rPr>
              <a:t>Taha Haider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79" y="60076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9789E"/>
                </a:solidFill>
              </a:rPr>
              <a:t>2023F-BCS-079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19" y="5577840"/>
            <a:ext cx="3291840" cy="960120"/>
          </a:xfrm>
          <a:prstGeom prst="rect">
            <a:avLst/>
          </a:prstGeom>
          <a:solidFill>
            <a:srgbClr val="0A0A28"/>
          </a:solidFill>
          <a:ln w="1524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3919" y="56235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DC73"/>
                </a:solidFill>
              </a:rPr>
              <a:t>Abdul Rahman Baig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19" y="60076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9789E"/>
                </a:solidFill>
              </a:rPr>
              <a:t>2023F-BCS-100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ln>
            <a:noFill/>
          </a:ln>
          <a:gradFill>
            <a:gsLst>
              <a:gs pos="0">
                <a:srgbClr val="080823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40412"/>
                </a:solidFill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7FF"/>
                </a:solidFill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858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89E"/>
                </a:solidFill>
              </a:rPr>
              <a:t>9 Topics  •  Animation: Complete Foundation  •  Group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3749039" cy="1554480"/>
          </a:xfrm>
          <a:prstGeom prst="rect">
            <a:avLst/>
          </a:prstGeom>
          <a:solidFill>
            <a:srgbClr val="0D0D30"/>
          </a:solidFill>
          <a:ln w="1270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73152" cy="1554480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0D0D3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7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37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Introduction to Animation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097280"/>
            <a:ext cx="3749039" cy="1554480"/>
          </a:xfrm>
          <a:prstGeom prst="rect">
            <a:avLst/>
          </a:prstGeom>
          <a:solidFill>
            <a:srgbClr val="0D0D30"/>
          </a:solidFill>
          <a:ln w="1270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672" y="1097280"/>
            <a:ext cx="73152" cy="1554480"/>
          </a:xfrm>
          <a:prstGeom prst="rect">
            <a:avLst/>
          </a:prstGeom>
          <a:ln>
            <a:noFill/>
          </a:ln>
          <a:gradFill>
            <a:gsLst>
              <a:gs pos="0">
                <a:srgbClr val="9B50E1"/>
              </a:gs>
              <a:gs pos="100000">
                <a:srgbClr val="0D0D3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B50E1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Usage of Animation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1097280"/>
            <a:ext cx="3749039" cy="1554480"/>
          </a:xfrm>
          <a:prstGeom prst="rect">
            <a:avLst/>
          </a:prstGeom>
          <a:solidFill>
            <a:srgbClr val="0D0D30"/>
          </a:solidFill>
          <a:ln w="1270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1097280"/>
            <a:ext cx="73152" cy="1554480"/>
          </a:xfrm>
          <a:prstGeom prst="rect">
            <a:avLst/>
          </a:prstGeom>
          <a:ln>
            <a:noFill/>
          </a:ln>
          <a:gradFill>
            <a:gsLst>
              <a:gs pos="0">
                <a:srgbClr val="2EDC73"/>
              </a:gs>
              <a:gs pos="100000">
                <a:srgbClr val="0D0D3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4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DC73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1737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Animation Techniques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34639"/>
            <a:ext cx="3749039" cy="1554480"/>
          </a:xfrm>
          <a:prstGeom prst="rect">
            <a:avLst/>
          </a:prstGeom>
          <a:solidFill>
            <a:srgbClr val="0D0D30"/>
          </a:solidFill>
          <a:ln w="1270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834639"/>
            <a:ext cx="73152" cy="1554480"/>
          </a:xfrm>
          <a:prstGeom prst="rect">
            <a:avLst/>
          </a:prstGeom>
          <a:ln>
            <a:noFill/>
          </a:ln>
          <a:gradFill>
            <a:gsLst>
              <a:gs pos="0">
                <a:srgbClr val="FF9400"/>
              </a:gs>
              <a:gs pos="100000">
                <a:srgbClr val="0D0D3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9717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9400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47471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Types of Animation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3672" y="2834639"/>
            <a:ext cx="3749039" cy="1554480"/>
          </a:xfrm>
          <a:prstGeom prst="rect">
            <a:avLst/>
          </a:prstGeom>
          <a:solidFill>
            <a:srgbClr val="0D0D30"/>
          </a:solidFill>
          <a:ln w="12700">
            <a:solidFill>
              <a:srgbClr val="FF5A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33672" y="2834639"/>
            <a:ext cx="73152" cy="1554480"/>
          </a:xfrm>
          <a:prstGeom prst="rect">
            <a:avLst/>
          </a:prstGeom>
          <a:ln>
            <a:noFill/>
          </a:ln>
          <a:gradFill>
            <a:gsLst>
              <a:gs pos="0">
                <a:srgbClr val="FF5AA2"/>
              </a:gs>
              <a:gs pos="100000">
                <a:srgbClr val="0D0D3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0832" y="29717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5AA2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347471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Computer Animation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93024" y="2834639"/>
            <a:ext cx="3749039" cy="1554480"/>
          </a:xfrm>
          <a:prstGeom prst="rect">
            <a:avLst/>
          </a:prstGeom>
          <a:solidFill>
            <a:srgbClr val="0D0D3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93024" y="2834639"/>
            <a:ext cx="73152" cy="1554480"/>
          </a:xfrm>
          <a:prstGeom prst="rect">
            <a:avLst/>
          </a:prstGeom>
          <a:ln>
            <a:noFill/>
          </a:ln>
          <a:gradFill>
            <a:gsLst>
              <a:gs pos="0">
                <a:srgbClr val="FFD700"/>
              </a:gs>
              <a:gs pos="100000">
                <a:srgbClr val="0D0D3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0184" y="29717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347471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Levels of Animation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572000"/>
            <a:ext cx="3749039" cy="1554480"/>
          </a:xfrm>
          <a:prstGeom prst="rect">
            <a:avLst/>
          </a:prstGeom>
          <a:solidFill>
            <a:srgbClr val="0D0D30"/>
          </a:solidFill>
          <a:ln w="1270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572000"/>
            <a:ext cx="73152" cy="1554480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0D0D3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709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7FF"/>
                </a:solidFill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2120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12 Basic Principles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33672" y="4572000"/>
            <a:ext cx="3749039" cy="1554480"/>
          </a:xfrm>
          <a:prstGeom prst="rect">
            <a:avLst/>
          </a:prstGeom>
          <a:solidFill>
            <a:srgbClr val="0D0D30"/>
          </a:solidFill>
          <a:ln w="1270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33672" y="4572000"/>
            <a:ext cx="73152" cy="1554480"/>
          </a:xfrm>
          <a:prstGeom prst="rect">
            <a:avLst/>
          </a:prstGeom>
          <a:ln>
            <a:noFill/>
          </a:ln>
          <a:gradFill>
            <a:gsLst>
              <a:gs pos="0">
                <a:srgbClr val="9B50E1"/>
              </a:gs>
              <a:gs pos="100000">
                <a:srgbClr val="0D0D3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0832" y="4709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B50E1"/>
                </a:solidFill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52120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Animation Space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93024" y="4572000"/>
            <a:ext cx="3749039" cy="1554480"/>
          </a:xfrm>
          <a:prstGeom prst="rect">
            <a:avLst/>
          </a:prstGeom>
          <a:solidFill>
            <a:srgbClr val="0D0D30"/>
          </a:solidFill>
          <a:ln w="1270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93024" y="4572000"/>
            <a:ext cx="73152" cy="1554480"/>
          </a:xfrm>
          <a:prstGeom prst="rect">
            <a:avLst/>
          </a:prstGeom>
          <a:ln>
            <a:noFill/>
          </a:ln>
          <a:gradFill>
            <a:gsLst>
              <a:gs pos="0">
                <a:srgbClr val="2EDC73"/>
              </a:gs>
              <a:gs pos="100000">
                <a:srgbClr val="0D0D3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0184" y="4709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DC73"/>
                </a:solidFill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0184" y="52120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Animation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ln>
            <a:noFill/>
          </a:ln>
          <a:gradFill>
            <a:gsLst>
              <a:gs pos="0">
                <a:srgbClr val="080823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40412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7FF"/>
                </a:solidFill>
              </a:rPr>
              <a:t>INTRODUCTION TO ANIMATION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ln>
            <a:noFill/>
          </a:ln>
          <a:gradFill>
            <a:gsLst>
              <a:gs pos="0">
                <a:srgbClr val="08081E"/>
              </a:gs>
              <a:gs pos="100000">
                <a:srgbClr val="04041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Presenter: Hashir Junaid   |   Slide 3 / 17   |   Group 3 · Graphics &amp; Multimedia · SMIT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4754880" cy="1508760"/>
          </a:xfrm>
          <a:prstGeom prst="rect">
            <a:avLst/>
          </a:prstGeom>
          <a:solidFill>
            <a:srgbClr val="0D0D30"/>
          </a:solidFill>
          <a:ln w="1016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960120"/>
            <a:ext cx="64008" cy="1508760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7FF"/>
                </a:solidFill>
              </a:rPr>
              <a:t>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99032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Still images shown rapidly → illusion of 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73352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Brain is 'tricked' by two biological effects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47672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9789E"/>
                </a:solidFill>
              </a:rPr>
              <a:t>• From Latin 'anima' = to give soul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94560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9789E"/>
                </a:solidFill>
              </a:rPr>
              <a:t>First animation: Muybridge horse gallop (1878)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78608"/>
            <a:ext cx="4754880" cy="2057400"/>
          </a:xfrm>
          <a:prstGeom prst="rect">
            <a:avLst/>
          </a:prstGeom>
          <a:solidFill>
            <a:srgbClr val="0D0D30"/>
          </a:solidFill>
          <a:ln w="1016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578608"/>
            <a:ext cx="64008" cy="2057400"/>
          </a:xfrm>
          <a:prstGeom prst="rect">
            <a:avLst/>
          </a:prstGeom>
          <a:solidFill>
            <a:srgbClr val="9B5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6700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0E1"/>
                </a:solidFill>
              </a:rPr>
              <a:t>THE TWO BRAIN EFFECTS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035808"/>
            <a:ext cx="2103120" cy="1417320"/>
          </a:xfrm>
          <a:prstGeom prst="rect">
            <a:avLst/>
          </a:prstGeom>
          <a:solidFill>
            <a:srgbClr val="140A32"/>
          </a:solidFill>
          <a:ln w="762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081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0E1"/>
                </a:solidFill>
              </a:rPr>
              <a:t>PERSISTENCE OF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3558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Physical effect in the eye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584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Image stays ~50ms after disappearing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3813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Afterimages overlap → smooth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0599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9789E"/>
                </a:solidFill>
              </a:rPr>
              <a:t>Discovered: Peter Roget (1824)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3035808"/>
            <a:ext cx="2103120" cy="1417320"/>
          </a:xfrm>
          <a:prstGeom prst="rect">
            <a:avLst/>
          </a:prstGeom>
          <a:solidFill>
            <a:srgbClr val="140A32"/>
          </a:solidFill>
          <a:ln w="762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61488" y="3081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7FF"/>
                </a:solidFill>
              </a:rPr>
              <a:t>PHI PHENOMENON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1488" y="33558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Psychological brain effect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3584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Brain infers motion between objects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488" y="3813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Examples: flip-books, neon arrows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1488" y="40599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9789E"/>
                </a:solidFill>
              </a:rPr>
              <a:t>Discovered: Wertheimer (1912)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745736"/>
            <a:ext cx="4754880" cy="1143000"/>
          </a:xfrm>
          <a:prstGeom prst="rect">
            <a:avLst/>
          </a:prstGeom>
          <a:solidFill>
            <a:srgbClr val="0D0D30"/>
          </a:solidFill>
          <a:ln w="1016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745736"/>
            <a:ext cx="64008" cy="1143000"/>
          </a:xfrm>
          <a:prstGeom prst="rect">
            <a:avLst/>
          </a:prstGeom>
          <a:solidFill>
            <a:srgbClr val="2ED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8371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DC73"/>
                </a:solidFill>
              </a:rPr>
              <a:t>FPS STANDARDS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5202936"/>
            <a:ext cx="1051560" cy="530352"/>
          </a:xfrm>
          <a:prstGeom prst="rect">
            <a:avLst/>
          </a:prstGeom>
          <a:solidFill>
            <a:srgbClr val="0F0F32"/>
          </a:solidFill>
          <a:ln w="1016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522122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7FF"/>
                </a:solidFill>
              </a:rPr>
              <a:t>24fps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545896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9789E"/>
                </a:solidFill>
              </a:rPr>
              <a:t>Cinema Gold Standard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81912" y="5202936"/>
            <a:ext cx="1051560" cy="530352"/>
          </a:xfrm>
          <a:prstGeom prst="rect">
            <a:avLst/>
          </a:prstGeom>
          <a:solidFill>
            <a:srgbClr val="0F0F32"/>
          </a:solidFill>
          <a:ln w="1016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400"/>
                </a:solidFill>
              </a:rPr>
              <a:t>30fps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45896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9789E"/>
                </a:solidFill>
              </a:rPr>
              <a:t>TV Broadcast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24912" y="5202936"/>
            <a:ext cx="1051560" cy="530352"/>
          </a:xfrm>
          <a:prstGeom prst="rect">
            <a:avLst/>
          </a:prstGeom>
          <a:solidFill>
            <a:srgbClr val="0F0F32"/>
          </a:solidFill>
          <a:ln w="1016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24912" y="522122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DC73"/>
                </a:solidFill>
              </a:rPr>
              <a:t>60fps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24912" y="545896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9789E"/>
                </a:solidFill>
              </a:rPr>
              <a:t>Modern Gaming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67912" y="5202936"/>
            <a:ext cx="1051560" cy="530352"/>
          </a:xfrm>
          <a:prstGeom prst="rect">
            <a:avLst/>
          </a:prstGeom>
          <a:solidFill>
            <a:srgbClr val="0F0F32"/>
          </a:solidFill>
          <a:ln w="10160">
            <a:solidFill>
              <a:srgbClr val="FF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67912" y="522122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3C3C"/>
                </a:solidFill>
              </a:rPr>
              <a:t>&lt; 12fps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67912" y="545896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9789E"/>
                </a:solidFill>
              </a:rPr>
              <a:t>Visible Flicker!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6702552" cy="201168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57800" y="1563624"/>
            <a:ext cx="6702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1911096"/>
            <a:ext cx="6702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Flip-book / Eye Diagram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2276856"/>
            <a:ext cx="6702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9789E"/>
                </a:solidFill>
              </a:rPr>
              <a:t>Show how frames create motion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57800" y="3108960"/>
            <a:ext cx="6702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7FF"/>
                </a:solidFill>
              </a:rPr>
              <a:t>How Animation Works: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57800" y="3429000"/>
            <a:ext cx="1097280" cy="914400"/>
          </a:xfrm>
          <a:prstGeom prst="rect">
            <a:avLst/>
          </a:prstGeom>
          <a:solidFill>
            <a:srgbClr val="0A0A2D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57800" y="34290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Frame
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73368" y="3429000"/>
            <a:ext cx="1097280" cy="914400"/>
          </a:xfrm>
          <a:prstGeom prst="rect">
            <a:avLst/>
          </a:prstGeom>
          <a:solidFill>
            <a:srgbClr val="0A0A2D"/>
          </a:solidFill>
          <a:ln w="1524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73368" y="34290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50E1"/>
                </a:solidFill>
              </a:rPr>
              <a:t>Frame
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88936" y="3429000"/>
            <a:ext cx="1097280" cy="914400"/>
          </a:xfrm>
          <a:prstGeom prst="rect">
            <a:avLst/>
          </a:prstGeom>
          <a:solidFill>
            <a:srgbClr val="0A0A2D"/>
          </a:solidFill>
          <a:ln w="1524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88936" y="34290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DC73"/>
                </a:solidFill>
              </a:rPr>
              <a:t>Frame
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04504" y="3429000"/>
            <a:ext cx="1097280" cy="914400"/>
          </a:xfrm>
          <a:prstGeom prst="rect">
            <a:avLst/>
          </a:prstGeom>
          <a:solidFill>
            <a:srgbClr val="0A0A2D"/>
          </a:solidFill>
          <a:ln w="1524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04504" y="34290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400"/>
                </a:solidFill>
              </a:rPr>
              <a:t>Frame
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20072" y="3429000"/>
            <a:ext cx="1097280" cy="914400"/>
          </a:xfrm>
          <a:prstGeom prst="rect">
            <a:avLst/>
          </a:prstGeom>
          <a:solidFill>
            <a:srgbClr val="0A0A2D"/>
          </a:solidFill>
          <a:ln w="15240">
            <a:solidFill>
              <a:srgbClr val="FF5A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20072" y="34290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5AA2"/>
                </a:solidFill>
              </a:rPr>
              <a:t>Frame
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7800" y="4416552"/>
            <a:ext cx="6702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Shown at 24+ fps  →  BRAIN sees continuous motion!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57800" y="4754880"/>
            <a:ext cx="6702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COMBINED = SEAMLESS ANIMATION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57800" y="4892040"/>
            <a:ext cx="6702552" cy="155448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57800" y="5358384"/>
            <a:ext cx="6702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57800" y="5705856"/>
            <a:ext cx="6702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Phi Phenomenon Diagram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57800" y="6071616"/>
            <a:ext cx="6702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9789E"/>
                </a:solidFill>
              </a:rPr>
              <a:t>Two stationary dots → brain sees movement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ln>
            <a:noFill/>
          </a:ln>
          <a:gradFill>
            <a:gsLst>
              <a:gs pos="0">
                <a:srgbClr val="080823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9B50E1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solidFill>
            <a:srgbClr val="9B5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40412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B50E1"/>
                </a:solidFill>
              </a:rPr>
              <a:t>USAGE OF ANIMATION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ln>
            <a:noFill/>
          </a:ln>
          <a:gradFill>
            <a:gsLst>
              <a:gs pos="0">
                <a:srgbClr val="08081E"/>
              </a:gs>
              <a:gs pos="100000">
                <a:srgbClr val="04041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Presenter: Hashir Junaid   |   Slide 4 / 17   |   Group 3 · Graphics &amp; Multimedia · SMIT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5669280" cy="2514600"/>
          </a:xfrm>
          <a:prstGeom prst="rect">
            <a:avLst/>
          </a:prstGeom>
          <a:solidFill>
            <a:srgbClr val="0D0D30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960120"/>
            <a:ext cx="5669280" cy="73152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0972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7FF"/>
                </a:solidFill>
              </a:rPr>
              <a:t>ARTISTIC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554480"/>
            <a:ext cx="294802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Fine art &amp; experimental films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901952"/>
            <a:ext cx="294802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Music video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249424"/>
            <a:ext cx="294802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Title sequence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5731" y="1463040"/>
            <a:ext cx="2381097" cy="1554480"/>
          </a:xfrm>
          <a:prstGeom prst="rect">
            <a:avLst/>
          </a:prstGeom>
          <a:solidFill>
            <a:srgbClr val="0A0A28"/>
          </a:solidFill>
          <a:ln w="762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8883" y="1508760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7FF"/>
                </a:solidFill>
              </a:rPr>
              <a:t>Examples: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8883" y="1783080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• Disney Fantasia (1940)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8883" y="2130552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• Spider-Verse (Oscar 2018)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883" y="2478024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• Yellow Submarine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960120"/>
            <a:ext cx="5669280" cy="2514600"/>
          </a:xfrm>
          <a:prstGeom prst="rect">
            <a:avLst/>
          </a:prstGeom>
          <a:solidFill>
            <a:srgbClr val="0D0D30"/>
          </a:solidFill>
          <a:ln w="1524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960120"/>
            <a:ext cx="5669280" cy="73152"/>
          </a:xfrm>
          <a:prstGeom prst="rect">
            <a:avLst/>
          </a:prstGeom>
          <a:ln>
            <a:noFill/>
          </a:ln>
          <a:gradFill>
            <a:gsLst>
              <a:gs pos="0">
                <a:srgbClr val="9B50E1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10972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B50E1"/>
                </a:solidFill>
              </a:rPr>
              <a:t>STORYTELLING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1554480"/>
            <a:ext cx="294802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Feature films &amp; TV series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1901952"/>
            <a:ext cx="294802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Video game cutscenes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249424"/>
            <a:ext cx="294802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Character-driven dramas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9331" y="1463040"/>
            <a:ext cx="2381097" cy="1554480"/>
          </a:xfrm>
          <a:prstGeom prst="rect">
            <a:avLst/>
          </a:prstGeom>
          <a:solidFill>
            <a:srgbClr val="0A0A28"/>
          </a:solidFill>
          <a:ln w="762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2483" y="1508760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0E1"/>
                </a:solidFill>
              </a:rPr>
              <a:t>Examples: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2483" y="1783080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• Pixar Toy 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2483" y="2130552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• Studio Ghibli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2483" y="2478024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• Arcane – Netflix (2021)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703320"/>
            <a:ext cx="5669280" cy="2514600"/>
          </a:xfrm>
          <a:prstGeom prst="rect">
            <a:avLst/>
          </a:prstGeom>
          <a:solidFill>
            <a:srgbClr val="0D0D30"/>
          </a:solidFill>
          <a:ln w="1524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703320"/>
            <a:ext cx="5669280" cy="73152"/>
          </a:xfrm>
          <a:prstGeom prst="rect">
            <a:avLst/>
          </a:prstGeom>
          <a:ln>
            <a:noFill/>
          </a:ln>
          <a:gradFill>
            <a:gsLst>
              <a:gs pos="0">
                <a:srgbClr val="2EDC73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38404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DC73"/>
                </a:solidFill>
              </a:rPr>
              <a:t>SCIENTIFIC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297680"/>
            <a:ext cx="294802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Human anatomy explainers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645152"/>
            <a:ext cx="294802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Weather &amp; climate models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4992624"/>
            <a:ext cx="294802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DNA &amp; molecular modeling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5731" y="4206240"/>
            <a:ext cx="2381097" cy="1554480"/>
          </a:xfrm>
          <a:prstGeom prst="rect">
            <a:avLst/>
          </a:prstGeom>
          <a:solidFill>
            <a:srgbClr val="0A0A28"/>
          </a:solidFill>
          <a:ln w="762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08883" y="4251960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DC73"/>
                </a:solidFill>
              </a:rPr>
              <a:t>Examples: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8883" y="4526280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• NASA mission visualizations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8883" y="4873752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• Medical surgical training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8883" y="5221224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• Climate simulations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703320"/>
            <a:ext cx="5669280" cy="2514600"/>
          </a:xfrm>
          <a:prstGeom prst="rect">
            <a:avLst/>
          </a:prstGeom>
          <a:solidFill>
            <a:srgbClr val="0D0D30"/>
          </a:solidFill>
          <a:ln w="1524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3703320"/>
            <a:ext cx="5669280" cy="73152"/>
          </a:xfrm>
          <a:prstGeom prst="rect">
            <a:avLst/>
          </a:prstGeom>
          <a:ln>
            <a:noFill/>
          </a:ln>
          <a:gradFill>
            <a:gsLst>
              <a:gs pos="0">
                <a:srgbClr val="FF9400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38404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400"/>
                </a:solidFill>
              </a:rPr>
              <a:t>INSTRUCTIONAL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4297680"/>
            <a:ext cx="294802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Educational explainer videos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4645152"/>
            <a:ext cx="294802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Military &amp; flight simulators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4992624"/>
            <a:ext cx="294802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Safety procedure demos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79331" y="4206240"/>
            <a:ext cx="2381097" cy="1554480"/>
          </a:xfrm>
          <a:prstGeom prst="rect">
            <a:avLst/>
          </a:prstGeom>
          <a:solidFill>
            <a:srgbClr val="0A0A28"/>
          </a:solidFill>
          <a:ln w="762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52483" y="4251960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400"/>
                </a:solidFill>
              </a:rPr>
              <a:t>Examples: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52483" y="4526280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• Khan Academy lessons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52483" y="4873752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• Boeing pilot simulators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52483" y="5221224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• IKEA assembly guides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6400800"/>
            <a:ext cx="11612880" cy="109728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43371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78119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ln>
            <a:noFill/>
          </a:ln>
          <a:gradFill>
            <a:gsLst>
              <a:gs pos="0">
                <a:srgbClr val="080823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2EDC73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solidFill>
            <a:srgbClr val="2ED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40412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DC73"/>
                </a:solidFill>
              </a:rPr>
              <a:t>ANIMATION TECHNIQUES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ln>
            <a:noFill/>
          </a:ln>
          <a:gradFill>
            <a:gsLst>
              <a:gs pos="0">
                <a:srgbClr val="08081E"/>
              </a:gs>
              <a:gs pos="100000">
                <a:srgbClr val="04041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Presenter: Hashir Junaid   |   Slide 5 / 17   |   Group 3 · Graphics &amp; Multimedia · SMIT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960120"/>
            <a:ext cx="3840480" cy="571500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960120"/>
            <a:ext cx="3840480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069848"/>
            <a:ext cx="2286000" cy="292608"/>
          </a:xfrm>
          <a:prstGeom prst="rect">
            <a:avLst/>
          </a:prstGeom>
          <a:solidFill>
            <a:srgbClr val="0A0A28"/>
          </a:solidFill>
          <a:ln w="635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069848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7FF"/>
                </a:solidFill>
              </a:rPr>
              <a:t>1910s – 1990s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7FF"/>
                </a:solidFill>
              </a:rPr>
              <a:t>CEL ANIMATION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1920240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Draw characters on transparent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2240280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celluloid (plastic) sheets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2560320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Each sheet = 1 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2880359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Layer over reused backgrounds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3200400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Hand-filmed, frame by frame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703320"/>
            <a:ext cx="3657600" cy="685800"/>
          </a:xfrm>
          <a:prstGeom prst="rect">
            <a:avLst/>
          </a:prstGeom>
          <a:solidFill>
            <a:srgbClr val="080823"/>
          </a:solidFill>
          <a:ln w="762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374904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7FF"/>
                </a:solidFill>
              </a:rPr>
              <a:t>Used In: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395935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Tom &amp; Jerry · Snow White
Looney Tunes · Bambi · Akira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4526280"/>
            <a:ext cx="3657600" cy="196596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51160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54635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Cel layers stacked over BG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3672" y="960120"/>
            <a:ext cx="3840480" cy="571500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33672" y="960120"/>
            <a:ext cx="3840480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9B50E1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5112" y="1069848"/>
            <a:ext cx="2286000" cy="292608"/>
          </a:xfrm>
          <a:prstGeom prst="rect">
            <a:avLst/>
          </a:prstGeom>
          <a:solidFill>
            <a:srgbClr val="0A0A28"/>
          </a:solidFill>
          <a:ln w="635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0832" y="1069848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50E1"/>
                </a:solidFill>
              </a:rPr>
              <a:t>1970s – Present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0E1"/>
                </a:solidFill>
              </a:rPr>
              <a:t>PATH ANIMATION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8264" y="1920240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Animator draws the path first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8264" y="2240280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Object follows it automatically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8264" y="2560320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Straight lines or Bezier curves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98264" y="2880359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Set easing (slow in/out)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8264" y="3200400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Object can resize along path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5112" y="3703320"/>
            <a:ext cx="3657600" cy="685800"/>
          </a:xfrm>
          <a:prstGeom prst="rect">
            <a:avLst/>
          </a:prstGeom>
          <a:solidFill>
            <a:srgbClr val="080823"/>
          </a:solidFill>
          <a:ln w="762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98264" y="374904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B50E1"/>
                </a:solidFill>
              </a:rPr>
              <a:t>Used In: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395935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CSS animations · After Effects
Unity NavMesh · SVG paths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5112" y="4526280"/>
            <a:ext cx="3657600" cy="196596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5112" y="51160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5112" y="54635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Object on curved path with arrows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11311" y="960120"/>
            <a:ext cx="3840480" cy="571500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11311" y="960120"/>
            <a:ext cx="3840480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2EDC73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02751" y="1069848"/>
            <a:ext cx="2286000" cy="292608"/>
          </a:xfrm>
          <a:prstGeom prst="rect">
            <a:avLst/>
          </a:prstGeom>
          <a:solidFill>
            <a:srgbClr val="0A0A28"/>
          </a:solidFill>
          <a:ln w="635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48471" y="1069848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DC73"/>
                </a:solidFill>
              </a:rPr>
              <a:t>1980s – Present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39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DC73"/>
                </a:solidFill>
              </a:rPr>
              <a:t>COMPUTER ANIMATION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75903" y="1920240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Creates motion entirely in software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75903" y="2240280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Can simulate both Cel &amp; Path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5903" y="2560320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2D digital, 3D CG, or hybrid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75903" y="2880359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Physics simulation built-in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75903" y="3200400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Real-time or pre-rendered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02751" y="3703320"/>
            <a:ext cx="3657600" cy="685800"/>
          </a:xfrm>
          <a:prstGeom prst="rect">
            <a:avLst/>
          </a:prstGeom>
          <a:solidFill>
            <a:srgbClr val="080823"/>
          </a:solidFill>
          <a:ln w="762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75903" y="374904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DC73"/>
                </a:solidFill>
              </a:rPr>
              <a:t>Used In: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75903" y="395935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Pixar · DreamWorks · ILM
Fortnite · Unreal Engine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02751" y="4526280"/>
            <a:ext cx="3657600" cy="196596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02751" y="51160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02751" y="54635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3D software interface screenshot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ln>
            <a:noFill/>
          </a:ln>
          <a:gradFill>
            <a:gsLst>
              <a:gs pos="0">
                <a:srgbClr val="080823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FF9400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40412"/>
                </a:solidFill>
              </a:rPr>
              <a:t>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400"/>
                </a:solidFill>
              </a:rPr>
              <a:t>TYPES OF ANIMATION — CEL ANIMATION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ln>
            <a:noFill/>
          </a:ln>
          <a:gradFill>
            <a:gsLst>
              <a:gs pos="0">
                <a:srgbClr val="08081E"/>
              </a:gs>
              <a:gs pos="100000">
                <a:srgbClr val="04041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Presenter: Taha Haider   |   Slide 6 / 17   |   Group 3 · Graphics &amp; Multimedia · SMIT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040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9789E"/>
                </a:solidFill>
              </a:rPr>
              <a:t>Named after CELLULOID — transparent plastic sheets. Raoul Barré &amp; John Bray developed the technique ~1914.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24128"/>
            <a:ext cx="4572000" cy="1325880"/>
          </a:xfrm>
          <a:prstGeom prst="rect">
            <a:avLst/>
          </a:prstGeom>
          <a:solidFill>
            <a:srgbClr val="0D0D30"/>
          </a:solidFill>
          <a:ln w="1016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024128"/>
            <a:ext cx="64008" cy="132588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115568"/>
            <a:ext cx="4407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400"/>
                </a:solidFill>
              </a:rPr>
              <a:t>CEL SHEET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408176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1 transparent celluloid sheet = 1 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655064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Character on cel, background separate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1901952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Background reused to save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148840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Colors applied to BACK of 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395728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12–24 unique cels per second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414016"/>
            <a:ext cx="4572000" cy="1325880"/>
          </a:xfrm>
          <a:prstGeom prst="rect">
            <a:avLst/>
          </a:prstGeom>
          <a:solidFill>
            <a:srgbClr val="0D0D30"/>
          </a:solidFill>
          <a:ln w="1016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2414016"/>
            <a:ext cx="64008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505456"/>
            <a:ext cx="4407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KEYFRAMES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2798064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The 'anchor' extreme poses of an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044952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Drawn by SENIOR animators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291840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Define timing and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538728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Example: Frame 1=standing, 12=peak jump, 24=landed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3803904"/>
            <a:ext cx="4572000" cy="1325880"/>
          </a:xfrm>
          <a:prstGeom prst="rect">
            <a:avLst/>
          </a:prstGeom>
          <a:solidFill>
            <a:srgbClr val="0D0D30"/>
          </a:solidFill>
          <a:ln w="1016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" y="3803904"/>
            <a:ext cx="64008" cy="1325880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895344"/>
            <a:ext cx="4407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7FF"/>
                </a:solidFill>
              </a:rPr>
              <a:t>TWEENING (In-betweening)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187952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Frames drawn BETWEEN keyframes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434840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Done by JUNIOR animators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681728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More tweens = smoother motion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4928616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Modern software auto-tweens between keyframes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5193792"/>
            <a:ext cx="4572000" cy="1325880"/>
          </a:xfrm>
          <a:prstGeom prst="rect">
            <a:avLst/>
          </a:prstGeom>
          <a:solidFill>
            <a:srgbClr val="0D0D30"/>
          </a:solidFill>
          <a:ln w="1016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5193792"/>
            <a:ext cx="64008" cy="1325880"/>
          </a:xfrm>
          <a:prstGeom prst="rect">
            <a:avLst/>
          </a:prstGeom>
          <a:solidFill>
            <a:srgbClr val="2ED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5285232"/>
            <a:ext cx="4407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DC73"/>
                </a:solidFill>
              </a:rPr>
              <a:t>PENCIL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5577840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Rough pencil sketches filmed and played 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5824728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Checks timing BEFORE expensive inking/painting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6071616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Modern version: 'animatic' preview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6318504"/>
            <a:ext cx="4407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Every major studio uses this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10058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400"/>
                </a:solidFill>
              </a:rPr>
              <a:t>HOW CELS STACK: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4920" y="1417320"/>
            <a:ext cx="6675120" cy="530352"/>
          </a:xfrm>
          <a:prstGeom prst="rect">
            <a:avLst/>
          </a:prstGeom>
          <a:solidFill>
            <a:srgbClr val="0A0A2D"/>
          </a:solidFill>
          <a:ln w="15240">
            <a:solidFill>
              <a:srgbClr val="FF5A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0" y="1554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AA2"/>
                </a:solidFill>
              </a:rPr>
              <a:t>CEL 3 — Top Character Layer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74920" y="2057400"/>
            <a:ext cx="6675120" cy="530352"/>
          </a:xfrm>
          <a:prstGeom prst="rect">
            <a:avLst/>
          </a:prstGeom>
          <a:solidFill>
            <a:srgbClr val="0A0A2D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2194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7FF"/>
                </a:solidFill>
              </a:rPr>
              <a:t>CEL 2 — Mid Character Detail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74920" y="2697480"/>
            <a:ext cx="6675120" cy="530352"/>
          </a:xfrm>
          <a:prstGeom prst="rect">
            <a:avLst/>
          </a:prstGeom>
          <a:solidFill>
            <a:srgbClr val="0A0A2D"/>
          </a:solidFill>
          <a:ln w="1524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2834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0E1"/>
                </a:solidFill>
              </a:rPr>
              <a:t>CEL 1 — Base Character Outline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74920" y="3337559"/>
            <a:ext cx="6675120" cy="530352"/>
          </a:xfrm>
          <a:prstGeom prst="rect">
            <a:avLst/>
          </a:prstGeom>
          <a:solidFill>
            <a:srgbClr val="0A0A2D"/>
          </a:solidFill>
          <a:ln w="1524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347471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DC73"/>
                </a:solidFill>
              </a:rPr>
              <a:t>BACKGROUND — Static, Reused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406908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400"/>
                </a:solidFill>
              </a:rPr>
              <a:t>↓ LAYERED TOGETHER 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74920" y="4434840"/>
            <a:ext cx="6675120" cy="502920"/>
          </a:xfrm>
          <a:prstGeom prst="rect">
            <a:avLst/>
          </a:prstGeom>
          <a:solidFill>
            <a:srgbClr val="0F0F3C"/>
          </a:solidFill>
          <a:ln w="1905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66360" y="448056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= ONE FRAME of the film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74920" y="5074920"/>
            <a:ext cx="6675120" cy="1572768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74920" y="554675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20" y="5894222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Tom &amp; Jerry / Snow White clip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74920" y="6259982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9789E"/>
                </a:solidFill>
              </a:rPr>
              <a:t>Classic cel animation example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ln>
            <a:noFill/>
          </a:ln>
          <a:gradFill>
            <a:gsLst>
              <a:gs pos="0">
                <a:srgbClr val="080823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9B50E1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solidFill>
            <a:srgbClr val="9B5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40412"/>
                </a:solidFill>
              </a:rPr>
              <a:t>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B50E1"/>
                </a:solidFill>
              </a:rPr>
              <a:t>TYPES OF ANIMATION — PATH ANIMATION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ln>
            <a:noFill/>
          </a:ln>
          <a:gradFill>
            <a:gsLst>
              <a:gs pos="0">
                <a:srgbClr val="08081E"/>
              </a:gs>
              <a:gs pos="100000">
                <a:srgbClr val="04041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Presenter: Taha Haider   |   Slide 7 / 17   |   Group 3 · Graphics &amp; Multimedia · SMIT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040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9789E"/>
                </a:solidFill>
              </a:rPr>
              <a:t>Object follows a predefined trajectory. Animator draws the path; software moves the object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05840"/>
            <a:ext cx="5029200" cy="80467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005840"/>
            <a:ext cx="384048" cy="804672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1005840"/>
            <a:ext cx="3840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40412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07899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7FF"/>
                </a:solidFill>
              </a:rPr>
              <a:t>Draw the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138988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9789E"/>
                </a:solidFill>
              </a:rPr>
              <a:t>Straight line, Bezier curve, or freehand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1938528"/>
            <a:ext cx="5029200" cy="80467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1938528"/>
            <a:ext cx="384048" cy="804672"/>
          </a:xfrm>
          <a:prstGeom prst="rect">
            <a:avLst/>
          </a:prstGeom>
          <a:solidFill>
            <a:srgbClr val="9B5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1938528"/>
            <a:ext cx="3840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40412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01168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0E1"/>
                </a:solidFill>
              </a:rPr>
              <a:t>Set START &amp; END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32257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9789E"/>
                </a:solidFill>
              </a:rPr>
              <a:t>Define where the object begins and ends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871216"/>
            <a:ext cx="5029200" cy="80467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2871216"/>
            <a:ext cx="384048" cy="804672"/>
          </a:xfrm>
          <a:prstGeom prst="rect">
            <a:avLst/>
          </a:prstGeom>
          <a:solidFill>
            <a:srgbClr val="2ED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2871216"/>
            <a:ext cx="3840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40412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94436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DC73"/>
                </a:solidFill>
              </a:rPr>
              <a:t>Set DURATION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5526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9789E"/>
                </a:solidFill>
              </a:rPr>
              <a:t>How long the journey takes (seconds)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3803904"/>
            <a:ext cx="5029200" cy="80467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" y="3803904"/>
            <a:ext cx="384048" cy="804672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3803904"/>
            <a:ext cx="3840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40412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387705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400"/>
                </a:solidFill>
              </a:rPr>
              <a:t>Apply EASING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1879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9789E"/>
                </a:solidFill>
              </a:rPr>
              <a:t>Slow in / slow out for natural feel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4736592"/>
            <a:ext cx="5029200" cy="80467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4736592"/>
            <a:ext cx="384048" cy="804672"/>
          </a:xfrm>
          <a:prstGeom prst="rect">
            <a:avLst/>
          </a:prstGeom>
          <a:solidFill>
            <a:srgbClr val="FF5A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4736592"/>
            <a:ext cx="3840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40412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80974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AA2"/>
                </a:solidFill>
              </a:rPr>
              <a:t>Set ORIENTATION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1206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9789E"/>
                </a:solidFill>
              </a:rPr>
              <a:t>Does object face direction of travel?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5669279"/>
            <a:ext cx="5029200" cy="80467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5669279"/>
            <a:ext cx="384048" cy="8046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" y="5669279"/>
            <a:ext cx="3840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40412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742431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Preview &amp; Adjust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6053327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9789E"/>
                </a:solidFill>
              </a:rPr>
              <a:t>Repeat until satisfied, then render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960120"/>
            <a:ext cx="6446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0E1"/>
                </a:solidFill>
              </a:rPr>
              <a:t>PATH TYPES: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1371600"/>
            <a:ext cx="6263640" cy="777240"/>
          </a:xfrm>
          <a:prstGeom prst="rect">
            <a:avLst/>
          </a:prstGeom>
          <a:solidFill>
            <a:srgbClr val="0D0D30"/>
          </a:solidFill>
          <a:ln w="1016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0" y="1371600"/>
            <a:ext cx="54864" cy="777240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23560" y="1444752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7FF"/>
                </a:solidFill>
              </a:rPr>
              <a:t>STRAIGHT 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560" y="1755648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Mechanical movement, text reveals, UI transitions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2286000"/>
            <a:ext cx="6263640" cy="777240"/>
          </a:xfrm>
          <a:prstGeom prst="rect">
            <a:avLst/>
          </a:prstGeom>
          <a:solidFill>
            <a:srgbClr val="0D0D30"/>
          </a:solidFill>
          <a:ln w="1016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0" y="2286000"/>
            <a:ext cx="54864" cy="777240"/>
          </a:xfrm>
          <a:prstGeom prst="rect">
            <a:avLst/>
          </a:prstGeom>
          <a:solidFill>
            <a:srgbClr val="9B5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23560" y="2359152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0E1"/>
                </a:solidFill>
              </a:rPr>
              <a:t>BEZIER CURVE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2670048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Natural organic paths — balls, camera, flying objects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3200400"/>
            <a:ext cx="6263640" cy="777240"/>
          </a:xfrm>
          <a:prstGeom prst="rect">
            <a:avLst/>
          </a:prstGeom>
          <a:solidFill>
            <a:srgbClr val="0D0D30"/>
          </a:solidFill>
          <a:ln w="1016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0" y="3200400"/>
            <a:ext cx="54864" cy="777240"/>
          </a:xfrm>
          <a:prstGeom prst="rect">
            <a:avLst/>
          </a:prstGeom>
          <a:solidFill>
            <a:srgbClr val="2ED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23560" y="3273552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DC73"/>
                </a:solidFill>
              </a:rPr>
              <a:t>EASING CURVE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60" y="3584448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Controls speed: slow start → full speed → slow end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0" y="4251960"/>
            <a:ext cx="6263640" cy="242316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0" y="4978908"/>
            <a:ext cx="6263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5326380"/>
            <a:ext cx="6263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Path Animation Diagram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5692140"/>
            <a:ext cx="6263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9789E"/>
                </a:solidFill>
              </a:rPr>
              <a:t>Ball following Bezier curve path with start→end dots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0" y="6583680"/>
            <a:ext cx="6446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Used in: CSS animations  •  After Effects  •  Unity  •  SVG paths  •  Game projectiles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ln>
            <a:noFill/>
          </a:ln>
          <a:gradFill>
            <a:gsLst>
              <a:gs pos="0">
                <a:srgbClr val="080823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FF5AA2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solidFill>
            <a:srgbClr val="FF5A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40412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5AA2"/>
                </a:solidFill>
              </a:rPr>
              <a:t>COMPUTER ANIMATION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ln>
            <a:noFill/>
          </a:ln>
          <a:gradFill>
            <a:gsLst>
              <a:gs pos="0">
                <a:srgbClr val="08081E"/>
              </a:gs>
              <a:gs pos="100000">
                <a:srgbClr val="04041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Presenter: Taha Haider   |   Slide 8 / 17   |   Group 3 · Graphics &amp; Multimedia · SMIT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040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9789E"/>
                </a:solidFill>
              </a:rPr>
              <a:t>Digital software creates motion — simulating traditional techniques or producing entirely new effects impossible by hand.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5486400" cy="457200"/>
          </a:xfrm>
          <a:prstGeom prst="rect">
            <a:avLst/>
          </a:prstGeom>
          <a:solidFill>
            <a:srgbClr val="0A0F32"/>
          </a:solidFill>
          <a:ln w="1270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005840"/>
            <a:ext cx="5943600" cy="457200"/>
          </a:xfrm>
          <a:prstGeom prst="rect">
            <a:avLst/>
          </a:prstGeom>
          <a:solidFill>
            <a:srgbClr val="0A0F32"/>
          </a:solidFill>
          <a:ln w="12700">
            <a:solidFill>
              <a:srgbClr val="FF5A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241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400"/>
                </a:solidFill>
              </a:rPr>
              <a:t>CEL ANIMATION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02412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AA2"/>
                </a:solidFill>
              </a:rPr>
              <a:t>COMPUTER ANIMATION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005840"/>
            <a:ext cx="41148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1024128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412"/>
                </a:solidFill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554480"/>
            <a:ext cx="5486400" cy="713232"/>
          </a:xfrm>
          <a:prstGeom prst="rect">
            <a:avLst/>
          </a:prstGeom>
          <a:solidFill>
            <a:srgbClr val="0D0D30"/>
          </a:solidFill>
          <a:ln w="508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554480"/>
            <a:ext cx="5943600" cy="713232"/>
          </a:xfrm>
          <a:prstGeom prst="rect">
            <a:avLst/>
          </a:prstGeom>
          <a:solidFill>
            <a:srgbClr val="0D0D30"/>
          </a:solidFill>
          <a:ln w="5080">
            <a:solidFill>
              <a:srgbClr val="FF5A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7556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Hand-drawn on celluloid sheets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75564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Created entirely in digital software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31720"/>
            <a:ext cx="5486400" cy="713232"/>
          </a:xfrm>
          <a:prstGeom prst="rect">
            <a:avLst/>
          </a:prstGeom>
          <a:solidFill>
            <a:srgbClr val="141441"/>
          </a:solidFill>
          <a:ln w="508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2331720"/>
            <a:ext cx="5943600" cy="713232"/>
          </a:xfrm>
          <a:prstGeom prst="rect">
            <a:avLst/>
          </a:prstGeom>
          <a:solidFill>
            <a:srgbClr val="141441"/>
          </a:solidFill>
          <a:ln w="5080">
            <a:solidFill>
              <a:srgbClr val="FF5A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5328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Every frame drawn manually (slow!)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5328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Automation: tweens, physics, rendering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108960"/>
            <a:ext cx="5486400" cy="713232"/>
          </a:xfrm>
          <a:prstGeom prst="rect">
            <a:avLst/>
          </a:prstGeom>
          <a:solidFill>
            <a:srgbClr val="0D0D30"/>
          </a:solidFill>
          <a:ln w="508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9320" y="3108960"/>
            <a:ext cx="5943600" cy="713232"/>
          </a:xfrm>
          <a:prstGeom prst="rect">
            <a:avLst/>
          </a:prstGeom>
          <a:solidFill>
            <a:srgbClr val="0D0D30"/>
          </a:solidFill>
          <a:ln w="5080">
            <a:solidFill>
              <a:srgbClr val="FF5A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3101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Physical storage — film cans, warehouses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31012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Digital files — backup &amp; share instantly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86200"/>
            <a:ext cx="5486400" cy="713232"/>
          </a:xfrm>
          <a:prstGeom prst="rect">
            <a:avLst/>
          </a:prstGeom>
          <a:solidFill>
            <a:srgbClr val="141441"/>
          </a:solidFill>
          <a:ln w="508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3886200"/>
            <a:ext cx="5943600" cy="713232"/>
          </a:xfrm>
          <a:prstGeom prst="rect">
            <a:avLst/>
          </a:prstGeom>
          <a:solidFill>
            <a:srgbClr val="141441"/>
          </a:solidFill>
          <a:ln w="5080">
            <a:solidFill>
              <a:srgbClr val="FF5A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0873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Expensive: cels, paint, camera, lab fees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08736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One-time software cost, no consumables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663440"/>
            <a:ext cx="5486400" cy="713232"/>
          </a:xfrm>
          <a:prstGeom prst="rect">
            <a:avLst/>
          </a:prstGeom>
          <a:solidFill>
            <a:srgbClr val="0D0D30"/>
          </a:solidFill>
          <a:ln w="508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89320" y="4663440"/>
            <a:ext cx="5943600" cy="713232"/>
          </a:xfrm>
          <a:prstGeom prst="rect">
            <a:avLst/>
          </a:prstGeom>
          <a:solidFill>
            <a:srgbClr val="0D0D30"/>
          </a:solidFill>
          <a:ln w="5080">
            <a:solidFill>
              <a:srgbClr val="FF5A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8646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Months per 1 minute of finished film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86460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Real-time previews — much faster iterations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440680"/>
            <a:ext cx="5486400" cy="713232"/>
          </a:xfrm>
          <a:prstGeom prst="rect">
            <a:avLst/>
          </a:prstGeom>
          <a:solidFill>
            <a:srgbClr val="141441"/>
          </a:solidFill>
          <a:ln w="508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89320" y="5440680"/>
            <a:ext cx="5943600" cy="713232"/>
          </a:xfrm>
          <a:prstGeom prst="rect">
            <a:avLst/>
          </a:prstGeom>
          <a:solidFill>
            <a:srgbClr val="141441"/>
          </a:solidFill>
          <a:ln w="5080">
            <a:solidFill>
              <a:srgbClr val="FF5A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6418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Organic, hand-crafted visual warmth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64184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Any style: cartoon to photorealistic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ln>
            <a:noFill/>
          </a:ln>
          <a:gradFill>
            <a:gsLst>
              <a:gs pos="0">
                <a:srgbClr val="080823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40412"/>
                </a:solidFill>
              </a:rPr>
              <a:t>5B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7FF"/>
                </a:solidFill>
              </a:rPr>
              <a:t>KINEMATICS &amp; MORPHING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ln>
            <a:noFill/>
          </a:ln>
          <a:gradFill>
            <a:gsLst>
              <a:gs pos="0">
                <a:srgbClr val="08081E"/>
              </a:gs>
              <a:gs pos="100000">
                <a:srgbClr val="04041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Presenter: Taha Haider   |   Slide 9 / 17   |   Group 3 · Graphics &amp; Multimedia · SMIT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960120"/>
            <a:ext cx="3749039" cy="576072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960120"/>
            <a:ext cx="3749039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97280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7FF"/>
                </a:solidFill>
              </a:rPr>
              <a:t>FORWARD KINEMATICS (FK)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55448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7FF"/>
                </a:solidFill>
              </a:rPr>
              <a:t>HOW IT WORKS: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182880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Move PARENT joint → children follow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19456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Shoulder → Elbow → Wrist → Finger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256032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Like a puppet — control parent, rest follows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01752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7FF"/>
                </a:solidFill>
              </a:rPr>
              <a:t>BEST FOR: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329184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Robotic / mechanical arms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3639311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Waving &amp; swinging motions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" y="3986783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Tail &amp; tentacle animation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4434840"/>
            <a:ext cx="3566159" cy="214884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507949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426964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Arm chain diagram
(shoulder→elbow→wrist)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960120"/>
            <a:ext cx="3749039" cy="576072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960120"/>
            <a:ext cx="3749039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9B50E1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1097280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0E1"/>
                </a:solidFill>
              </a:rPr>
              <a:t>INVERSE KINEMATICS (IK)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155448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0E1"/>
                </a:solidFill>
              </a:rPr>
              <a:t>HOW IT WORKS: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182880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Move END POINT → chain auto-adjusts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219456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Place hand → software calculates elbow &amp; shoulder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256032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Like reaching for a cup — aim hand, body figures out joints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301752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0E1"/>
                </a:solidFill>
              </a:rPr>
              <a:t>BEST FOR: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329184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Character walking &amp; running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2" y="3639311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Reaching &amp; grabbing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2" y="3986783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Real-time game characters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4434840"/>
            <a:ext cx="3566159" cy="214884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507949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5426964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IK reach diagram
(hand position → full arm)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47888" y="960120"/>
            <a:ext cx="3749039" cy="576072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47888" y="960120"/>
            <a:ext cx="3749039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2EDC73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7616" y="1097280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DC73"/>
                </a:solidFill>
              </a:rPr>
              <a:t>MORPHING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616" y="155448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DC73"/>
                </a:solidFill>
              </a:rPr>
              <a:t>HOW IT WORKS: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182880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Smooth shape/image transformation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19456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Map matching points on source &amp; target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256032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Software interpolates all points together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7616" y="301752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DC73"/>
                </a:solidFill>
              </a:rPr>
              <a:t>BEST FOR: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329184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MJ 'Black or White' (1991)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3639311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T-1000 — Terminator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986783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Logo reveal animations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39328" y="4434840"/>
            <a:ext cx="3566159" cy="214884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8" y="507949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9328" y="5426964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Morphing sequence:
face A → face 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ln>
            <a:noFill/>
          </a:ln>
          <a:gradFill>
            <a:gsLst>
              <a:gs pos="0">
                <a:srgbClr val="080823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FFD700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40412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00"/>
                </a:solidFill>
              </a:rPr>
              <a:t>LEVELS OF COMPUTER ANIMATION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ln>
            <a:noFill/>
          </a:ln>
          <a:gradFill>
            <a:gsLst>
              <a:gs pos="0">
                <a:srgbClr val="08081E"/>
              </a:gs>
              <a:gs pos="100000">
                <a:srgbClr val="04041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Presenter: Taha Haider   |   Slide 10 / 17   |   Group 3 · Graphics &amp; Multimedia · SMIT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960120"/>
            <a:ext cx="3749039" cy="574243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960120"/>
            <a:ext cx="3749039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2EDC73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69848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DC73"/>
                </a:solidFill>
              </a:rPr>
              <a:t>★☆☆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9903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DC73"/>
                </a:solidFill>
              </a:rPr>
              <a:t>BASIC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78308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DC73"/>
                </a:solidFill>
              </a:rPr>
              <a:t>WHAT YOU CREATE: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05740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Animated GIFs &amp; simple sprites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237743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CSS &amp; JavaScript transitions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269748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PowerPoint animations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301752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Basic logo animations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3558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DC73"/>
                </a:solidFill>
              </a:rPr>
              <a:t>TOOLS: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" y="3630168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MS PowerPoint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3931920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Canva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4233672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GIMP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4663440"/>
            <a:ext cx="3566159" cy="530352"/>
          </a:xfrm>
          <a:prstGeom prst="rect">
            <a:avLst/>
          </a:prstGeom>
          <a:solidFill>
            <a:srgbClr val="080823"/>
          </a:solidFill>
          <a:ln w="635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4709159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DC73"/>
                </a:solidFill>
              </a:rPr>
              <a:t>Time: Days to Weeks  |  Skill: Beginner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" y="4937759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Career: Social media content
Marketing materials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5276088"/>
            <a:ext cx="3566159" cy="1298448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566562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6013094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BASIC level tool screenshot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960120"/>
            <a:ext cx="3749039" cy="574243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960120"/>
            <a:ext cx="3749039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1069848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7FF"/>
                </a:solidFill>
              </a:rPr>
              <a:t>★★☆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139903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7FF"/>
                </a:solidFill>
              </a:rPr>
              <a:t>INTERMEDIATE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178308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7FF"/>
                </a:solidFill>
              </a:rPr>
              <a:t>WHAT YOU CREATE: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2" y="205740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2D character animation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6552" y="237743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Motion graphics &amp; infographics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6552" y="269748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Complex path animations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301752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Basic 3D object animation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1688" y="33558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7FF"/>
                </a:solidFill>
              </a:rPr>
              <a:t>TOOLS: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6552" y="3630168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Adobe After Effects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2" y="3931920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Adobe Animate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16552" y="4233672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Blender (basics)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43400" y="4663440"/>
            <a:ext cx="3566159" cy="530352"/>
          </a:xfrm>
          <a:prstGeom prst="rect">
            <a:avLst/>
          </a:prstGeom>
          <a:solidFill>
            <a:srgbClr val="080823"/>
          </a:solidFill>
          <a:ln w="635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4709159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7FF"/>
                </a:solidFill>
              </a:rPr>
              <a:t>Time: Several Months  |  Skill: Intermediate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937759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Career: Motion designer
2D animator · Game dev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5276088"/>
            <a:ext cx="3566159" cy="1298448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566562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400" y="6013094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INTERMEDIATE level tool screenshot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47888" y="960120"/>
            <a:ext cx="3749039" cy="5742432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47888" y="960120"/>
            <a:ext cx="3749039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9B50E1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57616" y="1069848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B50E1"/>
                </a:solidFill>
              </a:rPr>
              <a:t>★★★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57616" y="139903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B50E1"/>
                </a:solidFill>
              </a:rPr>
              <a:t>ADVANCED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57616" y="178308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0E1"/>
                </a:solidFill>
              </a:rPr>
              <a:t>WHAT YOU CREATE: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205740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Full CG feature films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237743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Realistic physics simulations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269748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Motion capture integration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301752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Real-time VFX in games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57616" y="33558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0E1"/>
                </a:solidFill>
              </a:rPr>
              <a:t>TOOLS: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3630168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Autodesk Maya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3931920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Houdini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4233672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9789E"/>
                </a:solidFill>
              </a:rPr>
              <a:t>→ Unreal Engine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39328" y="4663440"/>
            <a:ext cx="3566159" cy="530352"/>
          </a:xfrm>
          <a:prstGeom prst="rect">
            <a:avLst/>
          </a:prstGeom>
          <a:solidFill>
            <a:srgbClr val="080823"/>
          </a:solidFill>
          <a:ln w="635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85048" y="4709159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50E1"/>
                </a:solidFill>
              </a:rPr>
              <a:t>Time: Multiple Years  |  Skill: Professional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85048" y="4937759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Career: VFX artist · 3D animator
Technical Director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39328" y="5276088"/>
            <a:ext cx="3566159" cy="1298448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39328" y="566562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39328" y="6013094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ADVANCED level tool screenshot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ln>
            <a:noFill/>
          </a:ln>
          <a:gradFill>
            <a:gsLst>
              <a:gs pos="0">
                <a:srgbClr val="080823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40412"/>
                </a:solidFill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7FF"/>
                </a:solidFill>
              </a:rPr>
              <a:t>12 PRINCIPLES OF ANIMATION — PART 1 OF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ln>
            <a:noFill/>
          </a:ln>
          <a:gradFill>
            <a:gsLst>
              <a:gs pos="0">
                <a:srgbClr val="08081E"/>
              </a:gs>
              <a:gs pos="100000">
                <a:srgbClr val="04041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Presenter: Abdul Rahman Baig   |   Slide 11 / 17   |   Group 3 · Graphics &amp; Multimedia · SMIT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040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9789E"/>
                </a:solidFill>
              </a:rPr>
              <a:t>Developed by Disney masters Ollie Johnston &amp; Frank Thomas (1981). Still the universal GOLD STANDARD.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05840"/>
            <a:ext cx="5742432" cy="2423160"/>
          </a:xfrm>
          <a:prstGeom prst="rect">
            <a:avLst/>
          </a:prstGeom>
          <a:solidFill>
            <a:srgbClr val="0D0D30"/>
          </a:solidFill>
          <a:ln w="1270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005840"/>
            <a:ext cx="5742432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15568"/>
            <a:ext cx="315833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7FF"/>
                </a:solidFill>
              </a:rPr>
              <a:t>01  SQUASH &amp; STRETCH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1508760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Object squashes on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1847088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Object stretches when MOVING fast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2185416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GOLDEN RULE: Volume stays constant!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2523744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Shows elasticity, mass, and life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" y="3136392"/>
            <a:ext cx="2986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89E"/>
                </a:solidFill>
              </a:rPr>
              <a:t>Most fundamental principle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1793" y="1115568"/>
            <a:ext cx="2354397" cy="224028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1793" y="1787652"/>
            <a:ext cx="235439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1793" y="2135124"/>
            <a:ext cx="235439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Rubber ball bounce showing squash on landing, stretch in air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5742432" cy="2423160"/>
          </a:xfrm>
          <a:prstGeom prst="rect">
            <a:avLst/>
          </a:prstGeom>
          <a:solidFill>
            <a:srgbClr val="0D0D30"/>
          </a:solidFill>
          <a:ln w="1270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005840"/>
            <a:ext cx="5742432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9B50E1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1115568"/>
            <a:ext cx="315833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0E1"/>
                </a:solidFill>
              </a:rPr>
              <a:t>02  ANTICIPATION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508760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Small opposite action BEFORE main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847088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Character crouches before jumping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185416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Arm swings back before throwing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523744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Prepares audience mentally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136392"/>
            <a:ext cx="2986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89E"/>
                </a:solidFill>
              </a:rPr>
              <a:t>Without it, actions feel sudden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33681" y="1115568"/>
            <a:ext cx="2354397" cy="224028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33681" y="1787652"/>
            <a:ext cx="235439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3681" y="2135124"/>
            <a:ext cx="235439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Bugs Bunny crouching before leap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3611880"/>
            <a:ext cx="5742432" cy="2423160"/>
          </a:xfrm>
          <a:prstGeom prst="rect">
            <a:avLst/>
          </a:prstGeom>
          <a:solidFill>
            <a:srgbClr val="0D0D30"/>
          </a:solidFill>
          <a:ln w="1270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3611880"/>
            <a:ext cx="5742432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2EDC73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721608"/>
            <a:ext cx="315833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DC73"/>
                </a:solidFill>
              </a:rPr>
              <a:t>03  STAGING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" y="4114800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Present ONE clear idea at a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" y="4453128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Use clear readable silhouettes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" y="4791456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Camera angle serves the story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" y="5129784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Direct the audience's eye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" y="5742432"/>
            <a:ext cx="2986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89E"/>
                </a:solidFill>
              </a:rPr>
              <a:t>Think: theater staging, not photography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1793" y="3721608"/>
            <a:ext cx="2354397" cy="224028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1793" y="4393692"/>
            <a:ext cx="235439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1793" y="4741164"/>
            <a:ext cx="235439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Character profile with dramatic gesture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611880"/>
            <a:ext cx="5742432" cy="2423160"/>
          </a:xfrm>
          <a:prstGeom prst="rect">
            <a:avLst/>
          </a:prstGeom>
          <a:solidFill>
            <a:srgbClr val="0D0D30"/>
          </a:solidFill>
          <a:ln w="1270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3611880"/>
            <a:ext cx="5742432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FF9400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3721608"/>
            <a:ext cx="315833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400"/>
                </a:solidFill>
              </a:rPr>
              <a:t>04  STRAIGHT AHEAD vs POSE-TO-POSE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114800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STRAIGHT AHEAD: draw frame by frame → fluid &amp; spontaneous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453128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POSE-TO-POSE: draw key poses first → controlled &amp; consistent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4791456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Best work COMBINES both methods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742432"/>
            <a:ext cx="2986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89E"/>
                </a:solidFill>
              </a:rPr>
              <a:t>Straight ahead = fire/water | P-to-P = character acting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33681" y="3721608"/>
            <a:ext cx="2354397" cy="224028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33681" y="4393692"/>
            <a:ext cx="235439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33681" y="4741164"/>
            <a:ext cx="235439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Side-by-side comparison of both methods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Principles 1–4 of 12  |  Continued next slide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ln>
            <a:noFill/>
          </a:ln>
          <a:gradFill>
            <a:gsLst>
              <a:gs pos="0">
                <a:srgbClr val="080823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9B50E1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solidFill>
            <a:srgbClr val="9B5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40412"/>
                </a:solidFill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B50E1"/>
                </a:solidFill>
              </a:rPr>
              <a:t>12 PRINCIPLES OF ANIMATION — PART 2 OF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ln>
            <a:noFill/>
          </a:ln>
          <a:gradFill>
            <a:gsLst>
              <a:gs pos="0">
                <a:srgbClr val="08081E"/>
              </a:gs>
              <a:gs pos="100000">
                <a:srgbClr val="04041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Presenter: Abdul Rahman Baig   |   Slide 12 / 17   |   Group 3 · Graphics &amp; Multimedia · SMIT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040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9789E"/>
                </a:solidFill>
              </a:rPr>
              <a:t>These principles govern how objects move AFTER the main action — the details that separate amateur from professional.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05840"/>
            <a:ext cx="5742432" cy="2423160"/>
          </a:xfrm>
          <a:prstGeom prst="rect">
            <a:avLst/>
          </a:prstGeom>
          <a:solidFill>
            <a:srgbClr val="0D0D30"/>
          </a:solidFill>
          <a:ln w="1270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005840"/>
            <a:ext cx="5742432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15568"/>
            <a:ext cx="315833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7FF"/>
                </a:solidFill>
              </a:rPr>
              <a:t>05  FOLLOW THROUGH &amp; OVERLAP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1508760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Parts keep moving AFTER main action stops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1847088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Hair swings after head stops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2185416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OVERLAP: different parts move at different rates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2523744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Makes motion feel organic &amp; believable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" y="3136392"/>
            <a:ext cx="2986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89E"/>
                </a:solidFill>
              </a:rPr>
              <a:t>Coat settles after character stops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1793" y="1115568"/>
            <a:ext cx="2354397" cy="224028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1793" y="1787652"/>
            <a:ext cx="235439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1793" y="2135124"/>
            <a:ext cx="235439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Character stopping, coat still swinging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5742432" cy="2423160"/>
          </a:xfrm>
          <a:prstGeom prst="rect">
            <a:avLst/>
          </a:prstGeom>
          <a:solidFill>
            <a:srgbClr val="0D0D30"/>
          </a:solidFill>
          <a:ln w="1270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005840"/>
            <a:ext cx="5742432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9B50E1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1115568"/>
            <a:ext cx="315833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0E1"/>
                </a:solidFill>
              </a:rPr>
              <a:t>06  EASE IN &amp; EASE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508760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Slow start + slow end for every movement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847088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Nothing starts at full speed or stops instantly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185416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A car: slow → full speed → slow stop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523744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Linear = robotic | Ease = natural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136392"/>
            <a:ext cx="2986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89E"/>
                </a:solidFill>
              </a:rPr>
              <a:t>Most impactful for 'weight' feeling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33681" y="1115568"/>
            <a:ext cx="2354397" cy="224028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33681" y="1787652"/>
            <a:ext cx="235439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3681" y="2135124"/>
            <a:ext cx="235439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Bezier easing curve graph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3611880"/>
            <a:ext cx="5742432" cy="2423160"/>
          </a:xfrm>
          <a:prstGeom prst="rect">
            <a:avLst/>
          </a:prstGeom>
          <a:solidFill>
            <a:srgbClr val="0D0D30"/>
          </a:solidFill>
          <a:ln w="1270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3611880"/>
            <a:ext cx="5742432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2EDC73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721608"/>
            <a:ext cx="315833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DC73"/>
                </a:solidFill>
              </a:rPr>
              <a:t>07  ARCS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" y="4114800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All natural motion follows ARC paths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" y="4453128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Arms, heads, eyes — all move in arcs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" y="4791456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Thrown objects follow a parabola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" y="5129784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EXCEPTION: robots move in straight lines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" y="5742432"/>
            <a:ext cx="2986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89E"/>
                </a:solidFill>
              </a:rPr>
              <a:t>Breaking arcs = instant 'robot' look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1793" y="3721608"/>
            <a:ext cx="2354397" cy="224028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1793" y="4393692"/>
            <a:ext cx="235439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1793" y="4741164"/>
            <a:ext cx="235439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Arm swing arc diagram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611880"/>
            <a:ext cx="5742432" cy="2423160"/>
          </a:xfrm>
          <a:prstGeom prst="rect">
            <a:avLst/>
          </a:prstGeom>
          <a:solidFill>
            <a:srgbClr val="0D0D30"/>
          </a:solidFill>
          <a:ln w="1270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3611880"/>
            <a:ext cx="5742432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FF9400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3721608"/>
            <a:ext cx="315833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400"/>
                </a:solidFill>
              </a:rPr>
              <a:t>08  SECONDARY ACTION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114800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Supporting actions that ENRICH main movement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453128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Walking (main) + arms swing (secondary)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4791456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Running (main) + hair flows (secondary)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129784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MUST NOT overpower the main 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5742432"/>
            <a:ext cx="2986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89E"/>
                </a:solidFill>
              </a:rPr>
              <a:t>It supports — never steals focus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33681" y="3721608"/>
            <a:ext cx="2354397" cy="224028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33681" y="4393692"/>
            <a:ext cx="235439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33681" y="4741164"/>
            <a:ext cx="235439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Character walking with secondary elements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Principles 5–8 of 12  |  Continued next slide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ln>
            <a:noFill/>
          </a:ln>
          <a:gradFill>
            <a:gsLst>
              <a:gs pos="0">
                <a:srgbClr val="080823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2EDC73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solidFill>
            <a:srgbClr val="2ED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40412"/>
                </a:solidFill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DC73"/>
                </a:solidFill>
              </a:rPr>
              <a:t>12 PRINCIPLES OF ANIMATION — PART 3 OF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ln>
            <a:noFill/>
          </a:ln>
          <a:gradFill>
            <a:gsLst>
              <a:gs pos="0">
                <a:srgbClr val="08081E"/>
              </a:gs>
              <a:gs pos="100000">
                <a:srgbClr val="04041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Presenter: Abdul Rahman Baig   |   Slide 13 / 17   |   Group 3 · Graphics &amp; Multimedia · SMIT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040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9789E"/>
                </a:solidFill>
              </a:rPr>
              <a:t>Walt Disney: 'The secret of animation is the exaggeration of the truth.' These final 4 deliver exactly that truth.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05840"/>
            <a:ext cx="5742432" cy="2423160"/>
          </a:xfrm>
          <a:prstGeom prst="rect">
            <a:avLst/>
          </a:prstGeom>
          <a:solidFill>
            <a:srgbClr val="0D0D30"/>
          </a:solidFill>
          <a:ln w="1270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005840"/>
            <a:ext cx="5742432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15568"/>
            <a:ext cx="315833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7FF"/>
                </a:solidFill>
              </a:rPr>
              <a:t>09 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1508760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Number of frames = speed &amp; personality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1847088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MORE frames = slower, heavier movement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2185416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FEWER frames = faster, lighter movement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2523744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Eye blink: 6–8f | Head turn: 10–15f | Heavy punch: 3–4f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" y="3136392"/>
            <a:ext cx="2986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89E"/>
                </a:solidFill>
              </a:rPr>
              <a:t>Wrong timing = nothing else matters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1793" y="1115568"/>
            <a:ext cx="2354397" cy="224028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1793" y="1787652"/>
            <a:ext cx="235439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1793" y="2135124"/>
            <a:ext cx="235439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Frame count chart for different actions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5742432" cy="2423160"/>
          </a:xfrm>
          <a:prstGeom prst="rect">
            <a:avLst/>
          </a:prstGeom>
          <a:solidFill>
            <a:srgbClr val="0D0D30"/>
          </a:solidFill>
          <a:ln w="1270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005840"/>
            <a:ext cx="5742432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9B50E1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1115568"/>
            <a:ext cx="315833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0E1"/>
                </a:solidFill>
              </a:rPr>
              <a:t>10  EXAGGERATION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508760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Push actions BEYOND realistic limits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847088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Giant cartoon eyes, impossible stretching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185416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Over-the-top emotional reactions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523744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NOT unrealistic — making TRUTH more visible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136392"/>
            <a:ext cx="2986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89E"/>
                </a:solidFill>
              </a:rPr>
              <a:t>Exaggerate the ESSENCE, not randomness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33681" y="1115568"/>
            <a:ext cx="2354397" cy="224028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33681" y="1787652"/>
            <a:ext cx="235439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3681" y="2135124"/>
            <a:ext cx="235439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Exaggerated cartoon expressions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3611880"/>
            <a:ext cx="5742432" cy="2423160"/>
          </a:xfrm>
          <a:prstGeom prst="rect">
            <a:avLst/>
          </a:prstGeom>
          <a:solidFill>
            <a:srgbClr val="0D0D30"/>
          </a:solidFill>
          <a:ln w="1270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3611880"/>
            <a:ext cx="5742432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2EDC73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721608"/>
            <a:ext cx="315833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DC73"/>
                </a:solidFill>
              </a:rPr>
              <a:t>11  SOLID DRAWING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" y="4114800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Characters must feel like 3D objects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" y="4453128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Understand basic 3D shapes (cube, sphere, cylinder)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" y="4791456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Avoid 'twinning' — mirror-image poses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" y="5129784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Strong line of action in every pose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" y="5742432"/>
            <a:ext cx="2986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89E"/>
                </a:solidFill>
              </a:rPr>
              <a:t>Even 2D must FEEL three-dimensional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1793" y="3721608"/>
            <a:ext cx="2354397" cy="224028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1793" y="4393692"/>
            <a:ext cx="235439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1793" y="4741164"/>
            <a:ext cx="235439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Line of action pose examples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611880"/>
            <a:ext cx="5742432" cy="2423160"/>
          </a:xfrm>
          <a:prstGeom prst="rect">
            <a:avLst/>
          </a:prstGeom>
          <a:solidFill>
            <a:srgbClr val="0D0D30"/>
          </a:solidFill>
          <a:ln w="1270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3611880"/>
            <a:ext cx="5742432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FF9400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3721608"/>
            <a:ext cx="315833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400"/>
                </a:solidFill>
              </a:rPr>
              <a:t>12  APPEAL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114800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Characters must be interesting to WATCH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453128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NOT just cuteness — villains have appeal too!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4791456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Clear, readable design &amp; strong silhouette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129784"/>
            <a:ext cx="2986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Dynamic, asymmetric poses with personality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5742432"/>
            <a:ext cx="2986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89E"/>
                </a:solidFill>
              </a:rPr>
              <a:t>TEST: Would audience want to keep watching?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33681" y="3721608"/>
            <a:ext cx="2354397" cy="2240280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33681" y="4393692"/>
            <a:ext cx="235439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33681" y="4741164"/>
            <a:ext cx="235439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Strong character silhouettes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All 12 Principles covered! Developed by Disney (1981) — still used by EVERY professional animator today.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ln>
            <a:noFill/>
          </a:ln>
          <a:gradFill>
            <a:gsLst>
              <a:gs pos="0">
                <a:srgbClr val="080823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FFD700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40412"/>
                </a:solidFill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00"/>
                </a:solidFill>
              </a:rPr>
              <a:t>ANIMATION SPACE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ln>
            <a:noFill/>
          </a:ln>
          <a:gradFill>
            <a:gsLst>
              <a:gs pos="0">
                <a:srgbClr val="08081E"/>
              </a:gs>
              <a:gs pos="100000">
                <a:srgbClr val="04041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Presenter: Abdul Rahman Baig   |   Slide 14 / 17   |   Group 3 · Graphics &amp; Multimedia · SMIT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040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9789E"/>
                </a:solidFill>
              </a:rPr>
              <a:t>Animation can exist in 3 types of spatial dimensions — each with different tools, techniques, and visual results.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05840"/>
            <a:ext cx="3749039" cy="571500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005840"/>
            <a:ext cx="3749039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15568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7FF"/>
                </a:solidFill>
              </a:rPr>
              <a:t>2D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0876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9789E"/>
                </a:solidFill>
              </a:rPr>
              <a:t>X + Y axes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1810512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Flat — like drawing on paper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2148840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No real depth perception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2487168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Simple to create &amp; render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2825495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Low hardware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3163824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Classic cartoon aesthetic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5844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7FF"/>
                </a:solidFill>
              </a:rPr>
              <a:t>Examples: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3840480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• Tom &amp; Jerry, classic Disney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4142232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• Original Mario &amp; Pac-Man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4443984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• Mobile game animations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754879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7FF"/>
                </a:solidFill>
              </a:rPr>
              <a:t>Tools: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502920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Adobe Animate · Toon Boom · Spine · TVPaint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5349240"/>
            <a:ext cx="3566159" cy="1261872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5727801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6075273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2D flat diagram
(X and Y axes only)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1005840"/>
            <a:ext cx="3749039" cy="571500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1005840"/>
            <a:ext cx="3749039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9B50E1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1115568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B50E1"/>
                </a:solidFill>
              </a:rPr>
              <a:t>2½D 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150876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9789E"/>
                </a:solidFill>
              </a:rPr>
              <a:t>2D art + depth illusion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2" y="1810512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2D sprites with illusion of depth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2" y="2148840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Parallax scrolling creates depth effect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6552" y="2487168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Technically still 2D sprites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6552" y="2825495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'Pseudo-3D' or 'Layered 2D'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3163824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Great performance-to-visual ratio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1688" y="35844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0E1"/>
                </a:solidFill>
              </a:rPr>
              <a:t>Examples: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6552" y="3840480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• Paper Mario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2" y="4142232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• Ori and the Blind Forest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16552" y="4443984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• South Park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4754879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0E1"/>
                </a:solidFill>
              </a:rPr>
              <a:t>Tools: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16552" y="502920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After Effects (Z-depth) · Unity 2D with parallax · Spine Pro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5349240"/>
            <a:ext cx="3566159" cy="1261872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400" y="5727801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3400" y="6075273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Parallax layers diagram
(foreground/mid/background)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47888" y="1005840"/>
            <a:ext cx="3749039" cy="571500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47888" y="1005840"/>
            <a:ext cx="3749039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2EDC73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7616" y="1115568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DC73"/>
                </a:solidFill>
              </a:rPr>
              <a:t>3D SPACE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57616" y="150876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9789E"/>
                </a:solidFill>
              </a:rPr>
              <a:t>X + Y + Z axes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1810512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True depth, volume, perspective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2148840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Viewable from ANY camera angle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2487168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Realistic lighting &amp; shadows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2825495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Maximum visual versatility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3163824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Requires powerful hardware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57616" y="35844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DC73"/>
                </a:solidFill>
              </a:rPr>
              <a:t>Examples: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3840480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• Toy Story, Frozen, Moana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4142232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• Fortnite, Call of Duty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4443984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• Architectural visualizations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57616" y="4754879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DC73"/>
                </a:solidFill>
              </a:rPr>
              <a:t>Tools: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502920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Blender · Autodesk Maya · Houdini · Unreal Engine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39328" y="5349240"/>
            <a:ext cx="3566159" cy="1261872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39328" y="5727801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39328" y="6075273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3D coordinate axes
(X, Y, Z cube)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ln>
            <a:noFill/>
          </a:ln>
          <a:gradFill>
            <a:gsLst>
              <a:gs pos="0">
                <a:srgbClr val="080823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2EDC73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solidFill>
            <a:srgbClr val="2ED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40412"/>
                </a:solidFill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DC73"/>
                </a:solidFill>
              </a:rPr>
              <a:t>ANIMATION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ln>
            <a:noFill/>
          </a:ln>
          <a:gradFill>
            <a:gsLst>
              <a:gs pos="0">
                <a:srgbClr val="08081E"/>
              </a:gs>
              <a:gs pos="100000">
                <a:srgbClr val="04041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Presenter: Abdul Rahman Baig   |   Slide 15 / 17   |   Group 3 · Graphics &amp; Multimedia · SMIT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040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9789E"/>
                </a:solidFill>
              </a:rPr>
              <a:t>Every animation project — from a 10-second ad to a 2-hour feature film — follows this same 4-stage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2834640" cy="571500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005840"/>
            <a:ext cx="2834640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" y="1097280"/>
            <a:ext cx="502920" cy="502920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40412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097280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7FF"/>
                </a:solidFill>
              </a:rPr>
              <a:t>ORGANIZE
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75564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Define project goals &amp;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12140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Assign team roles &amp; deadlines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48716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Create style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5292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Budget &amp; risk planning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37560"/>
            <a:ext cx="2651760" cy="640080"/>
          </a:xfrm>
          <a:prstGeom prst="rect">
            <a:avLst/>
          </a:prstGeom>
          <a:solidFill>
            <a:srgbClr val="080823"/>
          </a:solidFill>
          <a:ln w="635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38328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D7FF"/>
                </a:solidFill>
              </a:rPr>
              <a:t>OUTPUT: Schedule, moodboard,
storyboard, project bible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096512"/>
            <a:ext cx="2651760" cy="2487168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84266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19013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Project planning board
or Gantt chart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5661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7FF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18688" y="1005840"/>
            <a:ext cx="2834640" cy="571500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18688" y="1005840"/>
            <a:ext cx="2834640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9B50E1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28416" y="1097280"/>
            <a:ext cx="502920" cy="502920"/>
          </a:xfrm>
          <a:prstGeom prst="rect">
            <a:avLst/>
          </a:prstGeom>
          <a:solidFill>
            <a:srgbClr val="9B5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28416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40412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1097280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0E1"/>
                </a:solidFill>
              </a:rPr>
              <a:t>CHOOSE
ANIMATION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175564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Match tool to project 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5848" y="212140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Consider team skill level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5848" y="248716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2D: Adobe Animate, Toon Boom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5848" y="285292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3D: Maya, Blender | MG: After Effects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10128" y="3337560"/>
            <a:ext cx="2651760" cy="640080"/>
          </a:xfrm>
          <a:prstGeom prst="rect">
            <a:avLst/>
          </a:prstGeom>
          <a:solidFill>
            <a:srgbClr val="080823"/>
          </a:solidFill>
          <a:ln w="635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5848" y="338328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B50E1"/>
                </a:solidFill>
              </a:rPr>
              <a:t>Games: Unity / Unreal Engine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0128" y="4096512"/>
            <a:ext cx="2651760" cy="2487168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10128" y="484266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0128" y="519013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Software logos:
After Effects, Blender, Maya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35661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B50E1"/>
                </a:solidFill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08776" y="1005840"/>
            <a:ext cx="2834640" cy="571500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8776" y="1005840"/>
            <a:ext cx="2834640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2EDC73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18504" y="1097280"/>
            <a:ext cx="502920" cy="502920"/>
          </a:xfrm>
          <a:prstGeom prst="rect">
            <a:avLst/>
          </a:prstGeom>
          <a:solidFill>
            <a:srgbClr val="2ED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18504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40412"/>
                </a:solidFill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22008" y="1097280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DC73"/>
                </a:solidFill>
              </a:rPr>
              <a:t>BUILD &amp; TWEAK
SEQUENCES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175564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Create rough blocking first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212140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Refine with keyframes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5936" y="248716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Apply the 12 Principles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45936" y="285292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Team review cycles — repeat!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0216" y="3337560"/>
            <a:ext cx="2651760" cy="640080"/>
          </a:xfrm>
          <a:prstGeom prst="rect">
            <a:avLst/>
          </a:prstGeom>
          <a:solidFill>
            <a:srgbClr val="080823"/>
          </a:solidFill>
          <a:ln w="635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45936" y="338328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DC73"/>
                </a:solidFill>
              </a:rPr>
              <a:t>ITERATIVE STEP — repeat many
times before moving to Step 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0216" y="4096512"/>
            <a:ext cx="2651760" cy="2487168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0216" y="484266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0216" y="519013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Animation timeline with
keyframes and tweens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43416" y="35661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DC73"/>
                </a:solidFill>
              </a:rPr>
              <a:t>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98864" y="1005840"/>
            <a:ext cx="2834640" cy="5715000"/>
          </a:xfrm>
          <a:prstGeom prst="rect">
            <a:avLst/>
          </a:prstGeom>
          <a:solidFill>
            <a:srgbClr val="0D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98864" y="1005840"/>
            <a:ext cx="2834640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FF9400"/>
              </a:gs>
              <a:gs pos="100000">
                <a:srgbClr val="0D0D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308592" y="1097280"/>
            <a:ext cx="502920" cy="5029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08592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40412"/>
                </a:solidFill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12096" y="1097280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400"/>
                </a:solidFill>
              </a:rPr>
              <a:t>POST-PROCESS
ANIMATION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36024" y="175564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Render final frames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36024" y="212140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Color grading &amp; VFX overlays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36024" y="248716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Sound design &amp; music mix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36024" y="285292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QA testing &amp; format for delivery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90304" y="3337560"/>
            <a:ext cx="2651760" cy="640080"/>
          </a:xfrm>
          <a:prstGeom prst="rect">
            <a:avLst/>
          </a:prstGeom>
          <a:solidFill>
            <a:srgbClr val="080823"/>
          </a:solidFill>
          <a:ln w="635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36024" y="338328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9400"/>
                </a:solidFill>
              </a:rPr>
              <a:t>OUTPUT: Final MP4, MOV, WebM
Archive project files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90304" y="4096512"/>
            <a:ext cx="2651760" cy="2487168"/>
          </a:xfrm>
          <a:prstGeom prst="rect">
            <a:avLst/>
          </a:prstGeom>
          <a:solidFill>
            <a:srgbClr val="080823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90304" y="484266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7FF"/>
                </a:solidFill>
              </a:rPr>
              <a:t>[ IMAGE 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90304" y="519013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Render farm or
post-production setup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6400800"/>
            <a:ext cx="11722608" cy="201168"/>
          </a:xfrm>
          <a:prstGeom prst="rect">
            <a:avLst/>
          </a:prstGeom>
          <a:solidFill>
            <a:srgbClr val="0A1E0A"/>
          </a:solidFill>
          <a:ln w="635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64190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DC73"/>
                </a:solidFill>
              </a:rPr>
              <a:t>KEY INSIGHT: Step 3 (Build &amp; Tweak) is ITERATIVE — you cycle through it many times before Post-Processing.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ln>
            <a:noFill/>
          </a:ln>
          <a:gradFill>
            <a:gsLst>
              <a:gs pos="0">
                <a:srgbClr val="080823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40412"/>
                </a:solidFill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7FF"/>
                </a:solidFill>
              </a:rPr>
              <a:t>SUMMARY — 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ln>
            <a:noFill/>
          </a:ln>
          <a:gradFill>
            <a:gsLst>
              <a:gs pos="0">
                <a:srgbClr val="08081E"/>
              </a:gs>
              <a:gs pos="100000">
                <a:srgbClr val="040412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Presenter: Abdul Rahman Baig   |   Slide 16 / 17   |   Group 3 · Graphics &amp; Multimedia · SMIT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005840"/>
            <a:ext cx="5742432" cy="566928"/>
          </a:xfrm>
          <a:prstGeom prst="rect">
            <a:avLst/>
          </a:prstGeom>
          <a:solidFill>
            <a:srgbClr val="0D0D30"/>
          </a:solidFill>
          <a:ln w="762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005840"/>
            <a:ext cx="64008" cy="566928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115568"/>
            <a:ext cx="384048" cy="347472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1155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412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069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7FF"/>
                </a:solidFill>
              </a:rPr>
              <a:t>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325880"/>
            <a:ext cx="5148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Still frames + Persistence of Vision + Phi Phenomenon = seamless motion illusion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05840"/>
            <a:ext cx="5742432" cy="566928"/>
          </a:xfrm>
          <a:prstGeom prst="rect">
            <a:avLst/>
          </a:prstGeom>
          <a:solidFill>
            <a:srgbClr val="0D0D30"/>
          </a:solidFill>
          <a:ln w="762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05840"/>
            <a:ext cx="64008" cy="566928"/>
          </a:xfrm>
          <a:prstGeom prst="rect">
            <a:avLst/>
          </a:prstGeom>
          <a:solidFill>
            <a:srgbClr val="9B5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115568"/>
            <a:ext cx="384048" cy="347472"/>
          </a:xfrm>
          <a:prstGeom prst="rect">
            <a:avLst/>
          </a:prstGeom>
          <a:solidFill>
            <a:srgbClr val="9B5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1155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412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069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0E1"/>
                </a:solidFill>
              </a:rPr>
              <a:t>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325880"/>
            <a:ext cx="5148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Art, storytelling, science, education — animation powers every major industry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585290157840"/>
            <a:ext cx="5742432" cy="566928"/>
          </a:xfrm>
          <a:prstGeom prst="rect">
            <a:avLst/>
          </a:prstGeom>
          <a:solidFill>
            <a:srgbClr val="0D0D30"/>
          </a:solidFill>
          <a:ln w="762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" y="585290157840"/>
            <a:ext cx="64008" cy="566928"/>
          </a:xfrm>
          <a:prstGeom prst="rect">
            <a:avLst/>
          </a:prstGeom>
          <a:solidFill>
            <a:srgbClr val="2ED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585290267568"/>
            <a:ext cx="384048" cy="347472"/>
          </a:xfrm>
          <a:prstGeom prst="rect">
            <a:avLst/>
          </a:prstGeom>
          <a:solidFill>
            <a:srgbClr val="2ED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5852902675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412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85290221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DC73"/>
                </a:solidFill>
              </a:rPr>
              <a:t>Techniques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85290477880"/>
            <a:ext cx="5148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3 core methods: Cel (hand-drawn), Path (trajectory), Computer (digital — most versatile)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85290157840"/>
            <a:ext cx="5742432" cy="566928"/>
          </a:xfrm>
          <a:prstGeom prst="rect">
            <a:avLst/>
          </a:prstGeom>
          <a:solidFill>
            <a:srgbClr val="0D0D30"/>
          </a:solidFill>
          <a:ln w="7620"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585290157840"/>
            <a:ext cx="64008" cy="566928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585290267568"/>
            <a:ext cx="384048" cy="347472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5852902675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412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85290221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400"/>
                </a:solidFill>
              </a:rPr>
              <a:t>Cel Animation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85290477880"/>
            <a:ext cx="5148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Keyframes + tweening = smooth motion. Pencil test validates timing before final production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" y="1170579309840"/>
            <a:ext cx="5742432" cy="566928"/>
          </a:xfrm>
          <a:prstGeom prst="rect">
            <a:avLst/>
          </a:prstGeom>
          <a:solidFill>
            <a:srgbClr val="0D0D30"/>
          </a:solidFill>
          <a:ln w="7620">
            <a:solidFill>
              <a:srgbClr val="FF5A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" y="1170579309840"/>
            <a:ext cx="64008" cy="566928"/>
          </a:xfrm>
          <a:prstGeom prst="rect">
            <a:avLst/>
          </a:prstGeom>
          <a:solidFill>
            <a:srgbClr val="FF5A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7472" y="1170579419568"/>
            <a:ext cx="384048" cy="347472"/>
          </a:xfrm>
          <a:prstGeom prst="rect">
            <a:avLst/>
          </a:prstGeom>
          <a:solidFill>
            <a:srgbClr val="FF5A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11705794195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412"/>
                </a:solidFill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1170579373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AA2"/>
                </a:solidFill>
              </a:rPr>
              <a:t>Path Anim.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" y="1170579629880"/>
            <a:ext cx="5148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Object follows preset path (straight or Bezier) with easing for natural weighted motion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1170579309840"/>
            <a:ext cx="5742432" cy="566928"/>
          </a:xfrm>
          <a:prstGeom prst="rect">
            <a:avLst/>
          </a:prstGeom>
          <a:solidFill>
            <a:srgbClr val="0D0D30"/>
          </a:solidFill>
          <a:ln w="762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1170579309840"/>
            <a:ext cx="64008" cy="5669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1170579419568"/>
            <a:ext cx="384048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11705794195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412"/>
                </a:solidFill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1170579373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Computer Anim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1170579629880"/>
            <a:ext cx="5148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FK/IK chains for rigs. Morphing for shape transforms. Faster &amp; more flexible than traditional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" y="1755868461840"/>
            <a:ext cx="5742432" cy="566928"/>
          </a:xfrm>
          <a:prstGeom prst="rect">
            <a:avLst/>
          </a:prstGeom>
          <a:solidFill>
            <a:srgbClr val="0D0D30"/>
          </a:solidFill>
          <a:ln w="762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6032" y="1755868461840"/>
            <a:ext cx="64008" cy="566928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" y="1755868571568"/>
            <a:ext cx="384048" cy="347472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" y="17558685715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412"/>
                </a:solidFill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" y="1755868525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7FF"/>
                </a:solidFill>
              </a:rPr>
              <a:t>12 Principles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" y="1755868781880"/>
            <a:ext cx="5148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Disney's Squash &amp; Stretch, Anticipation, Timing, Ease, Arcs and 7 more — the universal standard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1755868461840"/>
            <a:ext cx="5742432" cy="566928"/>
          </a:xfrm>
          <a:prstGeom prst="rect">
            <a:avLst/>
          </a:prstGeom>
          <a:solidFill>
            <a:srgbClr val="0D0D30"/>
          </a:solidFill>
          <a:ln w="762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1755868461840"/>
            <a:ext cx="64008" cy="566928"/>
          </a:xfrm>
          <a:prstGeom prst="rect">
            <a:avLst/>
          </a:prstGeom>
          <a:solidFill>
            <a:srgbClr val="9B5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09360" y="1755868571568"/>
            <a:ext cx="384048" cy="347472"/>
          </a:xfrm>
          <a:prstGeom prst="rect">
            <a:avLst/>
          </a:prstGeom>
          <a:solidFill>
            <a:srgbClr val="9B5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17558685715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412"/>
                </a:solidFill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755868525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0E1"/>
                </a:solidFill>
              </a:rPr>
              <a:t>Anim Space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1755868781880"/>
            <a:ext cx="5148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2D (flat) → 2½D (pseudo-depth via parallax) → 3D (full volumetric, any camera angle)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6032" y="2474937991440"/>
            <a:ext cx="11658600" cy="566928"/>
          </a:xfrm>
          <a:prstGeom prst="rect">
            <a:avLst/>
          </a:prstGeom>
          <a:solidFill>
            <a:srgbClr val="0D0D30"/>
          </a:solidFill>
          <a:ln w="762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6032" y="2474937991440"/>
            <a:ext cx="64008" cy="566928"/>
          </a:xfrm>
          <a:prstGeom prst="rect">
            <a:avLst/>
          </a:prstGeom>
          <a:solidFill>
            <a:srgbClr val="2ED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7472" y="2474938101168"/>
            <a:ext cx="384048" cy="347472"/>
          </a:xfrm>
          <a:prstGeom prst="rect">
            <a:avLst/>
          </a:prstGeom>
          <a:solidFill>
            <a:srgbClr val="2ED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7472" y="24749381011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412"/>
                </a:solidFill>
              </a:rPr>
              <a:t>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2" y="2474938055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DC73"/>
                </a:solidFill>
              </a:rPr>
              <a:t>Process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" y="2474938311480"/>
            <a:ext cx="11064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Organize → Choose Tool → Build &amp; Tweak (iterative!) → Post-Process — every studio uses this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040412"/>
              </a:gs>
              <a:gs pos="100000">
                <a:srgbClr val="0A0823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712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75104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75104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25496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25496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75888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75888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76672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76672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7064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77456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77456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27848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27848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78240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0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28632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28632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79024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479024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329416" y="9144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329416" y="6537960"/>
            <a:ext cx="502920" cy="228600"/>
          </a:xfrm>
          <a:prstGeom prst="rect">
            <a:avLst/>
          </a:prstGeom>
          <a:solidFill>
            <a:srgbClr val="0F0F32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0" y="1371600"/>
            <a:ext cx="7589520" cy="3657600"/>
          </a:xfrm>
          <a:prstGeom prst="rect">
            <a:avLst/>
          </a:prstGeom>
          <a:ln>
            <a:noFill/>
          </a:ln>
          <a:gradFill>
            <a:gsLst>
              <a:gs pos="0">
                <a:srgbClr val="001E32"/>
              </a:gs>
              <a:gs pos="100000">
                <a:srgbClr val="04041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2148840"/>
            <a:ext cx="8503920" cy="64008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22402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383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D7FF"/>
                </a:solidFill>
              </a:rPr>
              <a:t>Animation: Where Imagination Meets Technology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0" y="3913632"/>
            <a:ext cx="8503920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00D7FF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0" y="4041648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9789E"/>
                </a:solidFill>
              </a:rPr>
              <a:t>Group 3  •  Graphics &amp; Multimedia  •  SMIT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4663440"/>
            <a:ext cx="3291840" cy="960120"/>
          </a:xfrm>
          <a:prstGeom prst="rect">
            <a:avLst/>
          </a:prstGeom>
          <a:solidFill>
            <a:srgbClr val="0A0A28"/>
          </a:solidFill>
          <a:ln w="15240"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7091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7FF"/>
                </a:solidFill>
              </a:rPr>
              <a:t>Hashir Junaid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093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9789E"/>
                </a:solidFill>
              </a:rPr>
              <a:t>2023F-BCS-358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79" y="4663440"/>
            <a:ext cx="3291840" cy="960120"/>
          </a:xfrm>
          <a:prstGeom prst="rect">
            <a:avLst/>
          </a:prstGeom>
          <a:solidFill>
            <a:srgbClr val="0A0A28"/>
          </a:solidFill>
          <a:ln w="15240"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79" y="47091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50E1"/>
                </a:solidFill>
              </a:rPr>
              <a:t>Taha Haider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79" y="5093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9789E"/>
                </a:solidFill>
              </a:rPr>
              <a:t>2023F-BCS-079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19" y="4663440"/>
            <a:ext cx="3291840" cy="960120"/>
          </a:xfrm>
          <a:prstGeom prst="rect">
            <a:avLst/>
          </a:prstGeom>
          <a:solidFill>
            <a:srgbClr val="0A0A28"/>
          </a:solidFill>
          <a:ln w="15240"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19" y="47091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DC73"/>
                </a:solidFill>
              </a:rPr>
              <a:t>Abdul Rahman Baig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19" y="5093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9789E"/>
                </a:solidFill>
              </a:rPr>
              <a:t>2023F-BCS-100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Topics: Introduction • Usage • Techniques • Types • Computer Animation • Levels • 12 Principles • Space • 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