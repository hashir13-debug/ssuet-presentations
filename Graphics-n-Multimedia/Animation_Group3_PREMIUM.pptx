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755522" y="5782277"/>
            <a:ext cx="78479" cy="78479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168289" y="3722325"/>
            <a:ext cx="61236" cy="61236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09332" y="5438695"/>
            <a:ext cx="41725" cy="41725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14667" y="5713991"/>
            <a:ext cx="60319" cy="60319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04850" y="835284"/>
            <a:ext cx="61011" cy="61011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28015" y="2161713"/>
            <a:ext cx="88437" cy="88437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33475" y="1001977"/>
            <a:ext cx="37972" cy="37972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19744" y="6319011"/>
            <a:ext cx="57490" cy="57490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18028" y="3293253"/>
            <a:ext cx="38169" cy="38169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777630" y="3385548"/>
            <a:ext cx="63778" cy="63778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910974" y="2174027"/>
            <a:ext cx="48579" cy="48579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62226" y="2518808"/>
            <a:ext cx="37755" cy="37755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986160" y="4079419"/>
            <a:ext cx="71814" cy="71814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58786" y="6631482"/>
            <a:ext cx="83756" cy="83756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597814" y="2769945"/>
            <a:ext cx="76159" cy="76159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06896" y="6303160"/>
            <a:ext cx="59734" cy="59734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897883" y="4745695"/>
            <a:ext cx="53220" cy="53220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60111" y="5987368"/>
            <a:ext cx="83001" cy="83001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096883" y="4269895"/>
            <a:ext cx="38470" cy="38470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23986" y="5489497"/>
            <a:ext cx="59306" cy="59306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207813" y="4034618"/>
            <a:ext cx="75147" cy="75147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77277" y="3015782"/>
            <a:ext cx="60659" cy="60659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33666" y="5378530"/>
            <a:ext cx="65156" cy="65156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785663" y="3688724"/>
            <a:ext cx="38198" cy="38198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91869" y="4939264"/>
            <a:ext cx="90517" cy="90517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125692" y="3126368"/>
            <a:ext cx="45922" cy="45922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061240" y="6570229"/>
            <a:ext cx="78849" cy="78849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98735" y="5857513"/>
            <a:ext cx="49314" cy="49314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196227" y="6396951"/>
            <a:ext cx="68276" cy="68276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556704" y="2398826"/>
            <a:ext cx="66641" cy="66641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372611" y="6369798"/>
            <a:ext cx="39678" cy="39678"/>
          </a:xfrm>
          <a:prstGeom prst="ellipse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76248" y="5712433"/>
            <a:ext cx="76954" cy="76954"/>
          </a:xfrm>
          <a:prstGeom prst="ellipse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021618" y="2626223"/>
            <a:ext cx="69820" cy="69820"/>
          </a:xfrm>
          <a:prstGeom prst="ellipse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285081" y="4224258"/>
            <a:ext cx="45265" cy="45265"/>
          </a:xfrm>
          <a:prstGeom prst="ellipse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223575" y="3125971"/>
            <a:ext cx="76243" cy="76243"/>
          </a:xfrm>
          <a:prstGeom prst="ellipse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826566" y="6378974"/>
            <a:ext cx="66431" cy="66431"/>
          </a:xfrm>
          <a:prstGeom prst="ellipse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389595" y="2392747"/>
            <a:ext cx="38546" cy="38546"/>
          </a:xfrm>
          <a:prstGeom prst="ellipse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04103" y="3543593"/>
            <a:ext cx="54048" cy="54048"/>
          </a:xfrm>
          <a:prstGeom prst="ellipse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630696" y="6041854"/>
            <a:ext cx="65420" cy="65420"/>
          </a:xfrm>
          <a:prstGeom prst="ellipse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743272" y="2204791"/>
            <a:ext cx="37884" cy="37884"/>
          </a:xfrm>
          <a:prstGeom prst="ellipse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988456" y="1622935"/>
            <a:ext cx="64568" cy="64568"/>
          </a:xfrm>
          <a:prstGeom prst="ellipse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871792" y="4770123"/>
            <a:ext cx="46552" cy="46552"/>
          </a:xfrm>
          <a:prstGeom prst="ellipse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641527" y="5485726"/>
            <a:ext cx="76868" cy="76868"/>
          </a:xfrm>
          <a:prstGeom prst="ellipse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793942" y="5287487"/>
            <a:ext cx="79904" cy="79904"/>
          </a:xfrm>
          <a:prstGeom prst="ellipse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323716" y="6563791"/>
            <a:ext cx="89349" cy="89349"/>
          </a:xfrm>
          <a:prstGeom prst="ellipse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069436" y="5235512"/>
            <a:ext cx="75812" cy="75812"/>
          </a:xfrm>
          <a:prstGeom prst="ellipse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583331" y="3926686"/>
            <a:ext cx="63460" cy="63460"/>
          </a:xfrm>
          <a:prstGeom prst="ellipse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007410" y="3753962"/>
            <a:ext cx="82196" cy="82196"/>
          </a:xfrm>
          <a:prstGeom prst="ellipse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325322" y="5989544"/>
            <a:ext cx="85937" cy="85937"/>
          </a:xfrm>
          <a:prstGeom prst="ellipse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578713" y="4145260"/>
            <a:ext cx="87069" cy="87069"/>
          </a:xfrm>
          <a:prstGeom prst="ellipse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531352" y="-2743200"/>
            <a:ext cx="6400800" cy="6400800"/>
          </a:xfrm>
          <a:prstGeom prst="ellipse">
            <a:avLst/>
          </a:prstGeom>
          <a:solidFill>
            <a:srgbClr val="060C24"/>
          </a:solidFill>
          <a:ln w="6350">
            <a:solidFill>
              <a:srgbClr val="00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537192" y="-1737360"/>
            <a:ext cx="4389120" cy="4389120"/>
          </a:xfrm>
          <a:prstGeom prst="ellipse">
            <a:avLst/>
          </a:prstGeom>
          <a:solidFill>
            <a:srgbClr val="08102C"/>
          </a:solidFill>
          <a:ln w="6350">
            <a:solidFill>
              <a:srgbClr val="00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451592" y="-822959"/>
            <a:ext cx="2560320" cy="2560320"/>
          </a:xfrm>
          <a:prstGeom prst="ellipse">
            <a:avLst/>
          </a:prstGeom>
          <a:solidFill>
            <a:srgbClr val="0C1636"/>
          </a:solidFill>
          <a:ln w="6350">
            <a:solidFill>
              <a:srgbClr val="00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1274552" y="0"/>
            <a:ext cx="914400" cy="914400"/>
          </a:xfrm>
          <a:prstGeom prst="ellipse">
            <a:avLst/>
          </a:prstGeom>
          <a:solidFill>
            <a:srgbClr val="142450"/>
          </a:solidFill>
          <a:ln w="6350">
            <a:solidFill>
              <a:srgbClr val="00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104120" y="-502920"/>
            <a:ext cx="1371600" cy="1371600"/>
          </a:xfrm>
          <a:prstGeom prst="ellipse">
            <a:avLst/>
          </a:prstGeom>
          <a:solidFill>
            <a:srgbClr val="081432"/>
          </a:solidFill>
          <a:ln w="12700">
            <a:solidFill>
              <a:srgbClr val="006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378440" y="-228600"/>
            <a:ext cx="822960" cy="822960"/>
          </a:xfrm>
          <a:prstGeom prst="ellipse">
            <a:avLst/>
          </a:prstGeom>
          <a:solidFill>
            <a:srgbClr val="081432"/>
          </a:solidFill>
          <a:ln w="12700">
            <a:solidFill>
              <a:srgbClr val="006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652760" y="45720"/>
            <a:ext cx="274320" cy="274320"/>
          </a:xfrm>
          <a:prstGeom prst="ellipse">
            <a:avLst/>
          </a:prstGeom>
          <a:solidFill>
            <a:srgbClr val="081432"/>
          </a:solidFill>
          <a:ln w="12700">
            <a:solidFill>
              <a:srgbClr val="006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0" y="96012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9100"/>
                </a:solidFill>
                <a:latin typeface="Trebuchet MS"/>
              </a:rPr>
              <a:t>GRAPHICS &amp; MULTIMEDIA  •  SMIT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0" y="1371600"/>
            <a:ext cx="1218895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1" i="0">
                <a:solidFill>
                  <a:srgbClr val="00D2FF"/>
                </a:solidFill>
                <a:latin typeface="Trebuchet MS"/>
              </a:rPr>
              <a:t>ANIMATION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0" y="3291840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C3CDE8"/>
                </a:solidFill>
                <a:latin typeface="Calibri"/>
              </a:rPr>
              <a:t>The Art &amp; Science of Bringing Images to Life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023360" y="3931920"/>
            <a:ext cx="4142232" cy="228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434840" y="4096512"/>
            <a:ext cx="3319272" cy="384048"/>
          </a:xfrm>
          <a:prstGeom prst="rect">
            <a:avLst/>
          </a:prstGeom>
          <a:solidFill>
            <a:srgbClr val="081632"/>
          </a:solidFill>
          <a:ln w="9525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434840" y="4105656"/>
            <a:ext cx="3319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2FF"/>
                </a:solidFill>
                <a:latin typeface="Trebuchet MS"/>
              </a:rPr>
              <a:t>Topics 1 — 9  •  Group 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371600" y="4626864"/>
            <a:ext cx="3063240" cy="749808"/>
          </a:xfrm>
          <a:prstGeom prst="rect">
            <a:avLst/>
          </a:prstGeom>
          <a:solidFill>
            <a:srgbClr val="10103A"/>
          </a:solidFill>
          <a:ln w="63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508760" y="4672584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Trebuchet MS"/>
              </a:rPr>
              <a:t>Hashir Junaid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508760" y="4992624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7DAA"/>
                </a:solidFill>
                <a:latin typeface="Calibri"/>
              </a:rPr>
              <a:t>2023F-BCS-358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663440" y="4626864"/>
            <a:ext cx="3063240" cy="749808"/>
          </a:xfrm>
          <a:prstGeom prst="rect">
            <a:avLst/>
          </a:prstGeom>
          <a:solidFill>
            <a:srgbClr val="10103A"/>
          </a:solidFill>
          <a:ln w="63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800600" y="4672584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Trebuchet MS"/>
              </a:rPr>
              <a:t>Taha Haider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00600" y="4992624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7DAA"/>
                </a:solidFill>
                <a:latin typeface="Calibri"/>
              </a:rPr>
              <a:t>2023F-BCS-079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955279" y="4626864"/>
            <a:ext cx="3063240" cy="749808"/>
          </a:xfrm>
          <a:prstGeom prst="rect">
            <a:avLst/>
          </a:prstGeom>
          <a:solidFill>
            <a:srgbClr val="10103A"/>
          </a:solidFill>
          <a:ln w="63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092440" y="4672584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Trebuchet MS"/>
              </a:rPr>
              <a:t>Abdul Rahman Baig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092440" y="4992624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7DAA"/>
                </a:solidFill>
                <a:latin typeface="Calibri"/>
              </a:rPr>
              <a:t>2023F-BCS-100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fill="hold">
                <p:stCondLst>
                  <p:cond delay="100"/>
                </p:stCondLst>
                <p:childTnLst>
                  <p:par>
                    <p:cTn id="3" presetID="10" presetClass="entr" presetSubtype="0" fill="hold" grpId="0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4" dur="700"/>
                            <p:tgtEl>
                              <p:spTgt spid="59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5" dur="700"/>
                            <p:tgtEl>
                              <p:spTgt spid="59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delay="350"/>
                </p:stCondLst>
                <p:childTnLst>
                  <p:par>
                    <p:cTn id="7" presetID="10" presetClass="entr" presetSubtype="0" fill="hold" grpId="1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8" dur="700"/>
                            <p:tgtEl>
                              <p:spTgt spid="60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9" dur="700"/>
                            <p:tgtEl>
                              <p:spTgt spid="60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id="10" fill="hold">
                <p:stCondLst>
                  <p:cond delay="600"/>
                </p:stCondLst>
                <p:childTnLst>
                  <p:par>
                    <p:cTn id="11" presetID="10" presetClass="entr" presetSubtype="0" fill="hold" grpId="2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12" dur="700"/>
                            <p:tgtEl>
                              <p:spTgt spid="61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13" dur="700"/>
                            <p:tgtEl>
                              <p:spTgt spid="61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id="14" fill="hold">
                <p:stCondLst>
                  <p:cond delay="850"/>
                </p:stCondLst>
                <p:childTnLst>
                  <p:par>
                    <p:cTn id="15" presetID="10" presetClass="entr" presetSubtype="0" fill="hold" grpId="3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16" dur="700"/>
                            <p:tgtEl>
                              <p:spTgt spid="62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17" dur="700"/>
                            <p:tgtEl>
                              <p:spTgt spid="62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id="18" fill="hold">
                <p:stCondLst>
                  <p:cond delay="1100"/>
                </p:stCondLst>
                <p:childTnLst>
                  <p:par>
                    <p:cTn id="19" presetID="10" presetClass="entr" presetSubtype="0" fill="hold" grpId="4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20" dur="700"/>
                            <p:tgtEl>
                              <p:spTgt spid="64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21" dur="700"/>
                            <p:tgtEl>
                              <p:spTgt spid="64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id="22" fill="hold">
                <p:stCondLst>
                  <p:cond delay="1350"/>
                </p:stCondLst>
                <p:childTnLst>
                  <p:par>
                    <p:cTn id="23" presetID="10" presetClass="entr" presetSubtype="0" fill="hold" grpId="5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24" dur="700"/>
                            <p:tgtEl>
                              <p:spTgt spid="66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25" dur="700"/>
                            <p:tgtEl>
                              <p:spTgt spid="66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id="26" fill="hold">
                <p:stCondLst>
                  <p:cond delay="1600"/>
                </p:stCondLst>
                <p:childTnLst>
                  <p:par>
                    <p:cTn id="27" presetID="10" presetClass="entr" presetSubtype="0" fill="hold" grpId="6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28" dur="700"/>
                            <p:tgtEl>
                              <p:spTgt spid="69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29" dur="700"/>
                            <p:tgtEl>
                              <p:spTgt spid="69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id="30" fill="hold">
                <p:stCondLst>
                  <p:cond delay="1850"/>
                </p:stCondLst>
                <p:childTnLst>
                  <p:par>
                    <p:cTn id="31" presetID="10" presetClass="entr" presetSubtype="0" fill="hold" grpId="7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32" dur="700"/>
                            <p:tgtEl>
                              <p:spTgt spid="72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33" dur="700"/>
                            <p:tgtEl>
                              <p:spTgt spid="72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</p:childTnLst>
        </p:cTn>
      </p:par>
    </p:tnLst>
    <p:bldLst/>
  </p:timing>
  <p:transition spd="med" dur="8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968094" y="4007876"/>
            <a:ext cx="56873" cy="56873"/>
          </a:xfrm>
          <a:prstGeom prst="ellipse">
            <a:avLst/>
          </a:prstGeom>
          <a:solidFill>
            <a:srgbClr val="00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51353" y="4484775"/>
            <a:ext cx="40171" cy="40171"/>
          </a:xfrm>
          <a:prstGeom prst="ellipse">
            <a:avLst/>
          </a:prstGeom>
          <a:solidFill>
            <a:srgbClr val="00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37002" y="5723963"/>
            <a:ext cx="50805" cy="50805"/>
          </a:xfrm>
          <a:prstGeom prst="ellipse">
            <a:avLst/>
          </a:prstGeom>
          <a:solidFill>
            <a:srgbClr val="00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925564" y="6649632"/>
            <a:ext cx="62376" cy="62376"/>
          </a:xfrm>
          <a:prstGeom prst="ellipse">
            <a:avLst/>
          </a:prstGeom>
          <a:solidFill>
            <a:srgbClr val="00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973092" y="3610655"/>
            <a:ext cx="71637" cy="71637"/>
          </a:xfrm>
          <a:prstGeom prst="ellipse">
            <a:avLst/>
          </a:prstGeom>
          <a:solidFill>
            <a:srgbClr val="00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945742" y="4538266"/>
            <a:ext cx="84200" cy="84200"/>
          </a:xfrm>
          <a:prstGeom prst="ellipse">
            <a:avLst/>
          </a:prstGeom>
          <a:solidFill>
            <a:srgbClr val="00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06360" y="5160884"/>
            <a:ext cx="73412" cy="73412"/>
          </a:xfrm>
          <a:prstGeom prst="ellipse">
            <a:avLst/>
          </a:prstGeom>
          <a:solidFill>
            <a:srgbClr val="00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324" y="5260244"/>
            <a:ext cx="69006" cy="69006"/>
          </a:xfrm>
          <a:prstGeom prst="ellipse">
            <a:avLst/>
          </a:prstGeom>
          <a:solidFill>
            <a:srgbClr val="00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709013" y="1004445"/>
            <a:ext cx="84062" cy="84062"/>
          </a:xfrm>
          <a:prstGeom prst="ellipse">
            <a:avLst/>
          </a:prstGeom>
          <a:solidFill>
            <a:srgbClr val="00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16086" y="5029632"/>
            <a:ext cx="84791" cy="84791"/>
          </a:xfrm>
          <a:prstGeom prst="ellipse">
            <a:avLst/>
          </a:prstGeom>
          <a:solidFill>
            <a:srgbClr val="00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41279" y="6213376"/>
            <a:ext cx="58245" cy="58245"/>
          </a:xfrm>
          <a:prstGeom prst="ellipse">
            <a:avLst/>
          </a:prstGeom>
          <a:solidFill>
            <a:srgbClr val="00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56972" y="3424953"/>
            <a:ext cx="87906" cy="87906"/>
          </a:xfrm>
          <a:prstGeom prst="ellipse">
            <a:avLst/>
          </a:prstGeom>
          <a:solidFill>
            <a:srgbClr val="00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469416" y="1393278"/>
            <a:ext cx="44035" cy="44035"/>
          </a:xfrm>
          <a:prstGeom prst="ellipse">
            <a:avLst/>
          </a:prstGeom>
          <a:solidFill>
            <a:srgbClr val="00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722564" y="6473104"/>
            <a:ext cx="60505" cy="60505"/>
          </a:xfrm>
          <a:prstGeom prst="ellipse">
            <a:avLst/>
          </a:prstGeom>
          <a:solidFill>
            <a:srgbClr val="00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517372" y="2584613"/>
            <a:ext cx="64405" cy="64405"/>
          </a:xfrm>
          <a:prstGeom prst="ellipse">
            <a:avLst/>
          </a:prstGeom>
          <a:solidFill>
            <a:srgbClr val="00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99182" y="2876544"/>
            <a:ext cx="68675" cy="68675"/>
          </a:xfrm>
          <a:prstGeom prst="ellipse">
            <a:avLst/>
          </a:prstGeom>
          <a:solidFill>
            <a:srgbClr val="00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021149" y="6114493"/>
            <a:ext cx="73992" cy="73992"/>
          </a:xfrm>
          <a:prstGeom prst="ellipse">
            <a:avLst/>
          </a:prstGeom>
          <a:solidFill>
            <a:srgbClr val="00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055556" y="5834753"/>
            <a:ext cx="90945" cy="90945"/>
          </a:xfrm>
          <a:prstGeom prst="ellipse">
            <a:avLst/>
          </a:prstGeom>
          <a:solidFill>
            <a:srgbClr val="00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39680" y="1777445"/>
            <a:ext cx="83794" cy="83794"/>
          </a:xfrm>
          <a:prstGeom prst="ellipse">
            <a:avLst/>
          </a:prstGeom>
          <a:solidFill>
            <a:srgbClr val="00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73252" y="6117385"/>
            <a:ext cx="67799" cy="67799"/>
          </a:xfrm>
          <a:prstGeom prst="ellipse">
            <a:avLst/>
          </a:prstGeom>
          <a:solidFill>
            <a:srgbClr val="00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537622" y="2058497"/>
            <a:ext cx="82201" cy="82201"/>
          </a:xfrm>
          <a:prstGeom prst="ellipse">
            <a:avLst/>
          </a:prstGeom>
          <a:solidFill>
            <a:srgbClr val="00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95686" y="2490576"/>
            <a:ext cx="40057" cy="40057"/>
          </a:xfrm>
          <a:prstGeom prst="ellipse">
            <a:avLst/>
          </a:prstGeom>
          <a:solidFill>
            <a:srgbClr val="00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177696" y="6615463"/>
            <a:ext cx="41432" cy="41432"/>
          </a:xfrm>
          <a:prstGeom prst="ellipse">
            <a:avLst/>
          </a:prstGeom>
          <a:solidFill>
            <a:srgbClr val="00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53303" y="3225048"/>
            <a:ext cx="44847" cy="44847"/>
          </a:xfrm>
          <a:prstGeom prst="ellipse">
            <a:avLst/>
          </a:prstGeom>
          <a:solidFill>
            <a:srgbClr val="00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622677" y="5322053"/>
            <a:ext cx="84459" cy="84459"/>
          </a:xfrm>
          <a:prstGeom prst="ellipse">
            <a:avLst/>
          </a:prstGeom>
          <a:solidFill>
            <a:srgbClr val="00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A0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749808"/>
            <a:ext cx="12188952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430000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173968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917936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661904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405872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49840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" y="118872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Trebuchet MS"/>
              </a:rPr>
              <a:t>WHAT WE'LL COVER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2608" y="886968"/>
            <a:ext cx="3749039" cy="1572768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56032" y="850392"/>
            <a:ext cx="3749039" cy="1572768"/>
          </a:xfrm>
          <a:prstGeom prst="rect">
            <a:avLst/>
          </a:prstGeom>
          <a:solidFill>
            <a:srgbClr val="0E0E32"/>
          </a:solidFill>
          <a:ln w="5080">
            <a:solidFill>
              <a:srgbClr val="1C1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56032" y="850392"/>
            <a:ext cx="54864" cy="157276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10896" y="850392"/>
            <a:ext cx="3694176" cy="2743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65760" y="978408"/>
            <a:ext cx="594360" cy="594360"/>
          </a:xfrm>
          <a:prstGeom prst="rect">
            <a:avLst/>
          </a:prstGeom>
          <a:solidFill>
            <a:srgbClr val="141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1005840"/>
            <a:ext cx="594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D2FF"/>
                </a:solidFill>
                <a:latin typeface="Trebuchet MS"/>
              </a:rP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" y="100584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3CDE8"/>
                </a:solidFill>
                <a:latin typeface="Trebuchet MS"/>
              </a:rPr>
              <a:t>Introduction to Animation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138074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E7DAA"/>
                </a:solidFill>
                <a:latin typeface="Calibri"/>
              </a:rPr>
              <a:t>Definition • FPS • POV • Phi Phenomenon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78808" y="886968"/>
            <a:ext cx="3749039" cy="1572768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142232" y="850392"/>
            <a:ext cx="3749039" cy="1572768"/>
          </a:xfrm>
          <a:prstGeom prst="rect">
            <a:avLst/>
          </a:prstGeom>
          <a:solidFill>
            <a:srgbClr val="0E0E32"/>
          </a:solidFill>
          <a:ln w="5080">
            <a:solidFill>
              <a:srgbClr val="1C1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142232" y="850392"/>
            <a:ext cx="54864" cy="1572768"/>
          </a:xfrm>
          <a:prstGeom prst="rect">
            <a:avLst/>
          </a:prstGeom>
          <a:solidFill>
            <a:srgbClr val="965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197096" y="850392"/>
            <a:ext cx="3694176" cy="2743"/>
          </a:xfrm>
          <a:prstGeom prst="rect">
            <a:avLst/>
          </a:prstGeom>
          <a:solidFill>
            <a:srgbClr val="965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251960" y="978408"/>
            <a:ext cx="594360" cy="594360"/>
          </a:xfrm>
          <a:prstGeom prst="rect">
            <a:avLst/>
          </a:prstGeom>
          <a:solidFill>
            <a:srgbClr val="141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51960" y="1005840"/>
            <a:ext cx="594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650DC"/>
                </a:solidFill>
                <a:latin typeface="Trebuchet MS"/>
              </a:rPr>
              <a:t>02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37760" y="100584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3CDE8"/>
                </a:solidFill>
                <a:latin typeface="Trebuchet MS"/>
              </a:rPr>
              <a:t>Usage of Animation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37760" y="138074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E7DAA"/>
                </a:solidFill>
                <a:latin typeface="Calibri"/>
              </a:rPr>
              <a:t>Art • Storytelling • Science • Education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65007" y="886968"/>
            <a:ext cx="3749039" cy="1572768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028431" y="850392"/>
            <a:ext cx="3749039" cy="1572768"/>
          </a:xfrm>
          <a:prstGeom prst="rect">
            <a:avLst/>
          </a:prstGeom>
          <a:solidFill>
            <a:srgbClr val="0E0E32"/>
          </a:solidFill>
          <a:ln w="5080">
            <a:solidFill>
              <a:srgbClr val="1C1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28431" y="850392"/>
            <a:ext cx="54864" cy="1572768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083296" y="850392"/>
            <a:ext cx="3694176" cy="2743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138159" y="978408"/>
            <a:ext cx="594360" cy="594360"/>
          </a:xfrm>
          <a:prstGeom prst="rect">
            <a:avLst/>
          </a:prstGeom>
          <a:solidFill>
            <a:srgbClr val="141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138159" y="1005840"/>
            <a:ext cx="594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9100"/>
                </a:solidFill>
                <a:latin typeface="Trebuchet MS"/>
              </a:rPr>
              <a:t>03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23959" y="100584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3CDE8"/>
                </a:solidFill>
                <a:latin typeface="Trebuchet MS"/>
              </a:rPr>
              <a:t>Animation Techniques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23959" y="138074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E7DAA"/>
                </a:solidFill>
                <a:latin typeface="Calibri"/>
              </a:rPr>
              <a:t>Cel • Path • Computer Animation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92608" y="2551176"/>
            <a:ext cx="3749039" cy="1572768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56032" y="2514600"/>
            <a:ext cx="3749039" cy="1572768"/>
          </a:xfrm>
          <a:prstGeom prst="rect">
            <a:avLst/>
          </a:prstGeom>
          <a:solidFill>
            <a:srgbClr val="0E0E32"/>
          </a:solidFill>
          <a:ln w="5080">
            <a:solidFill>
              <a:srgbClr val="1C1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56032" y="2514600"/>
            <a:ext cx="54864" cy="1572768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10896" y="2514600"/>
            <a:ext cx="3694176" cy="2743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65760" y="2642616"/>
            <a:ext cx="594360" cy="594360"/>
          </a:xfrm>
          <a:prstGeom prst="rect">
            <a:avLst/>
          </a:prstGeom>
          <a:solidFill>
            <a:srgbClr val="141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" y="2670048"/>
            <a:ext cx="594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D573"/>
                </a:solidFill>
                <a:latin typeface="Trebuchet MS"/>
              </a:rPr>
              <a:t>04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1560" y="267004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3CDE8"/>
                </a:solidFill>
                <a:latin typeface="Trebuchet MS"/>
              </a:rPr>
              <a:t>Types of Animation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1560" y="304495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E7DAA"/>
                </a:solidFill>
                <a:latin typeface="Calibri"/>
              </a:rPr>
              <a:t>Keyframes • Tweening • Pencil Test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78808" y="2551176"/>
            <a:ext cx="3749039" cy="1572768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142232" y="2514600"/>
            <a:ext cx="3749039" cy="1572768"/>
          </a:xfrm>
          <a:prstGeom prst="rect">
            <a:avLst/>
          </a:prstGeom>
          <a:solidFill>
            <a:srgbClr val="0E0E32"/>
          </a:solidFill>
          <a:ln w="5080">
            <a:solidFill>
              <a:srgbClr val="1C1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142232" y="2514600"/>
            <a:ext cx="54864" cy="1572768"/>
          </a:xfrm>
          <a:prstGeom prst="rect">
            <a:avLst/>
          </a:prstGeom>
          <a:solidFill>
            <a:srgbClr val="FF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197096" y="2514600"/>
            <a:ext cx="3694176" cy="2743"/>
          </a:xfrm>
          <a:prstGeom prst="rect">
            <a:avLst/>
          </a:prstGeom>
          <a:solidFill>
            <a:srgbClr val="FF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251960" y="2642616"/>
            <a:ext cx="594360" cy="594360"/>
          </a:xfrm>
          <a:prstGeom prst="rect">
            <a:avLst/>
          </a:prstGeom>
          <a:solidFill>
            <a:srgbClr val="141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251960" y="2670048"/>
            <a:ext cx="594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5AA0"/>
                </a:solidFill>
                <a:latin typeface="Trebuchet MS"/>
              </a:rPr>
              <a:t>05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937760" y="267004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3CDE8"/>
                </a:solidFill>
                <a:latin typeface="Trebuchet MS"/>
              </a:rPr>
              <a:t>Computer Animation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937760" y="304495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E7DAA"/>
                </a:solidFill>
                <a:latin typeface="Calibri"/>
              </a:rPr>
              <a:t>FK • IK • Morphing • Digital vs Traditional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065007" y="2551176"/>
            <a:ext cx="3749039" cy="1572768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028431" y="2514600"/>
            <a:ext cx="3749039" cy="1572768"/>
          </a:xfrm>
          <a:prstGeom prst="rect">
            <a:avLst/>
          </a:prstGeom>
          <a:solidFill>
            <a:srgbClr val="0E0E32"/>
          </a:solidFill>
          <a:ln w="5080">
            <a:solidFill>
              <a:srgbClr val="1C1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028431" y="2514600"/>
            <a:ext cx="54864" cy="157276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083296" y="2514600"/>
            <a:ext cx="3694176" cy="2743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138159" y="2642616"/>
            <a:ext cx="594360" cy="594360"/>
          </a:xfrm>
          <a:prstGeom prst="rect">
            <a:avLst/>
          </a:prstGeom>
          <a:solidFill>
            <a:srgbClr val="141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138159" y="2670048"/>
            <a:ext cx="594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D700"/>
                </a:solidFill>
                <a:latin typeface="Trebuchet MS"/>
              </a:rPr>
              <a:t>06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823959" y="267004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3CDE8"/>
                </a:solidFill>
                <a:latin typeface="Trebuchet MS"/>
              </a:rPr>
              <a:t>Levels of Computer Animation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823959" y="304495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E7DAA"/>
                </a:solidFill>
                <a:latin typeface="Calibri"/>
              </a:rPr>
              <a:t>Basic • Intermediate • Advanced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92608" y="4215384"/>
            <a:ext cx="3749039" cy="1572768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56032" y="4178808"/>
            <a:ext cx="3749039" cy="1572768"/>
          </a:xfrm>
          <a:prstGeom prst="rect">
            <a:avLst/>
          </a:prstGeom>
          <a:solidFill>
            <a:srgbClr val="0E0E32"/>
          </a:solidFill>
          <a:ln w="5080">
            <a:solidFill>
              <a:srgbClr val="1C1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56032" y="4178808"/>
            <a:ext cx="54864" cy="157276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10896" y="4178808"/>
            <a:ext cx="3694176" cy="2743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65760" y="4306824"/>
            <a:ext cx="594360" cy="594360"/>
          </a:xfrm>
          <a:prstGeom prst="rect">
            <a:avLst/>
          </a:prstGeom>
          <a:solidFill>
            <a:srgbClr val="141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65760" y="4334256"/>
            <a:ext cx="594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D2FF"/>
                </a:solidFill>
                <a:latin typeface="Trebuchet MS"/>
              </a:rPr>
              <a:t>07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51560" y="4334256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3CDE8"/>
                </a:solidFill>
                <a:latin typeface="Trebuchet MS"/>
              </a:rPr>
              <a:t>12 Principles of Animation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51560" y="47091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E7DAA"/>
                </a:solidFill>
                <a:latin typeface="Calibri"/>
              </a:rPr>
              <a:t>Disney's universal gold standard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178808" y="4215384"/>
            <a:ext cx="3749039" cy="1572768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142232" y="4178808"/>
            <a:ext cx="3749039" cy="1572768"/>
          </a:xfrm>
          <a:prstGeom prst="rect">
            <a:avLst/>
          </a:prstGeom>
          <a:solidFill>
            <a:srgbClr val="0E0E32"/>
          </a:solidFill>
          <a:ln w="5080">
            <a:solidFill>
              <a:srgbClr val="1C1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4142232" y="4178808"/>
            <a:ext cx="54864" cy="1572768"/>
          </a:xfrm>
          <a:prstGeom prst="rect">
            <a:avLst/>
          </a:prstGeom>
          <a:solidFill>
            <a:srgbClr val="965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4197096" y="4178808"/>
            <a:ext cx="3694176" cy="2743"/>
          </a:xfrm>
          <a:prstGeom prst="rect">
            <a:avLst/>
          </a:prstGeom>
          <a:solidFill>
            <a:srgbClr val="965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4251960" y="4306824"/>
            <a:ext cx="594360" cy="594360"/>
          </a:xfrm>
          <a:prstGeom prst="rect">
            <a:avLst/>
          </a:prstGeom>
          <a:solidFill>
            <a:srgbClr val="141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251960" y="4334256"/>
            <a:ext cx="594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650DC"/>
                </a:solidFill>
                <a:latin typeface="Trebuchet MS"/>
              </a:rPr>
              <a:t>08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937760" y="4334256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3CDE8"/>
                </a:solidFill>
                <a:latin typeface="Trebuchet MS"/>
              </a:rPr>
              <a:t>Animation Space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937760" y="47091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E7DAA"/>
                </a:solidFill>
                <a:latin typeface="Calibri"/>
              </a:rPr>
              <a:t>2D  •  2½D  •  3D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065007" y="4215384"/>
            <a:ext cx="3749039" cy="1572768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028431" y="4178808"/>
            <a:ext cx="3749039" cy="1572768"/>
          </a:xfrm>
          <a:prstGeom prst="rect">
            <a:avLst/>
          </a:prstGeom>
          <a:solidFill>
            <a:srgbClr val="0E0E32"/>
          </a:solidFill>
          <a:ln w="5080">
            <a:solidFill>
              <a:srgbClr val="1C1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028431" y="4178808"/>
            <a:ext cx="54864" cy="1572768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083296" y="4178808"/>
            <a:ext cx="3694176" cy="2743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138159" y="4306824"/>
            <a:ext cx="594360" cy="594360"/>
          </a:xfrm>
          <a:prstGeom prst="rect">
            <a:avLst/>
          </a:prstGeom>
          <a:solidFill>
            <a:srgbClr val="141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138159" y="4334256"/>
            <a:ext cx="594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9100"/>
                </a:solidFill>
                <a:latin typeface="Trebuchet MS"/>
              </a:rPr>
              <a:t>09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823959" y="4334256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3CDE8"/>
                </a:solidFill>
                <a:latin typeface="Trebuchet MS"/>
              </a:rPr>
              <a:t>Animation Process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23959" y="47091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E7DAA"/>
                </a:solidFill>
                <a:latin typeface="Calibri"/>
              </a:rPr>
              <a:t>Organize → Tool → Build → Post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fill="hold">
                <p:stCondLst>
                  <p:cond delay="200"/>
                </p:stCondLst>
                <p:childTnLst>
                  <p:par>
                    <p:cTn id="3" presetID="10" presetClass="entr" presetSubtype="0" fill="hold" grpId="0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4" dur="550"/>
                            <p:tgtEl>
                              <p:spTgt spid="38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5" dur="550"/>
                            <p:tgtEl>
                              <p:spTgt spid="38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delay="350"/>
                </p:stCondLst>
                <p:childTnLst>
                  <p:par>
                    <p:cTn id="7" presetID="10" presetClass="entr" presetSubtype="0" fill="hold" grpId="1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8" dur="550"/>
                            <p:tgtEl>
                              <p:spTgt spid="46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9" dur="550"/>
                            <p:tgtEl>
                              <p:spTgt spid="46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id="10" fill="hold">
                <p:stCondLst>
                  <p:cond delay="500"/>
                </p:stCondLst>
                <p:childTnLst>
                  <p:par>
                    <p:cTn id="11" presetID="10" presetClass="entr" presetSubtype="0" fill="hold" grpId="2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12" dur="550"/>
                            <p:tgtEl>
                              <p:spTgt spid="54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13" dur="550"/>
                            <p:tgtEl>
                              <p:spTgt spid="54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id="14" fill="hold">
                <p:stCondLst>
                  <p:cond delay="650"/>
                </p:stCondLst>
                <p:childTnLst>
                  <p:par>
                    <p:cTn id="15" presetID="10" presetClass="entr" presetSubtype="0" fill="hold" grpId="3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16" dur="550"/>
                            <p:tgtEl>
                              <p:spTgt spid="62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17" dur="550"/>
                            <p:tgtEl>
                              <p:spTgt spid="62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id="18" fill="hold">
                <p:stCondLst>
                  <p:cond delay="800"/>
                </p:stCondLst>
                <p:childTnLst>
                  <p:par>
                    <p:cTn id="19" presetID="10" presetClass="entr" presetSubtype="0" fill="hold" grpId="4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20" dur="550"/>
                            <p:tgtEl>
                              <p:spTgt spid="70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21" dur="550"/>
                            <p:tgtEl>
                              <p:spTgt spid="70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id="22" fill="hold">
                <p:stCondLst>
                  <p:cond delay="950"/>
                </p:stCondLst>
                <p:childTnLst>
                  <p:par>
                    <p:cTn id="23" presetID="10" presetClass="entr" presetSubtype="0" fill="hold" grpId="5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24" dur="550"/>
                            <p:tgtEl>
                              <p:spTgt spid="78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25" dur="550"/>
                            <p:tgtEl>
                              <p:spTgt spid="78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id="26" fill="hold">
                <p:stCondLst>
                  <p:cond delay="1100"/>
                </p:stCondLst>
                <p:childTnLst>
                  <p:par>
                    <p:cTn id="27" presetID="10" presetClass="entr" presetSubtype="0" fill="hold" grpId="6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28" dur="550"/>
                            <p:tgtEl>
                              <p:spTgt spid="86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29" dur="550"/>
                            <p:tgtEl>
                              <p:spTgt spid="86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id="30" fill="hold">
                <p:stCondLst>
                  <p:cond delay="1250"/>
                </p:stCondLst>
                <p:childTnLst>
                  <p:par>
                    <p:cTn id="31" presetID="10" presetClass="entr" presetSubtype="0" fill="hold" grpId="7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32" dur="550"/>
                            <p:tgtEl>
                              <p:spTgt spid="94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33" dur="550"/>
                            <p:tgtEl>
                              <p:spTgt spid="94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id="34" fill="hold">
                <p:stCondLst>
                  <p:cond delay="1400"/>
                </p:stCondLst>
                <p:childTnLst>
                  <p:par>
                    <p:cTn id="35" presetID="10" presetClass="entr" presetSubtype="0" fill="hold" grpId="8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36" dur="550"/>
                            <p:tgtEl>
                              <p:spTgt spid="102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37" dur="550"/>
                            <p:tgtEl>
                              <p:spTgt spid="102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</p:childTnLst>
        </p:cTn>
      </p:par>
    </p:tnLst>
    <p:bldLst/>
  </p:timing>
  <p:transition spd="med" dur="500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945662" y="1426704"/>
            <a:ext cx="58305" cy="58305"/>
          </a:xfrm>
          <a:prstGeom prst="ellipse">
            <a:avLst/>
          </a:prstGeom>
          <a:solidFill>
            <a:srgbClr val="00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996725" y="1212216"/>
            <a:ext cx="58608" cy="58608"/>
          </a:xfrm>
          <a:prstGeom prst="ellipse">
            <a:avLst/>
          </a:prstGeom>
          <a:solidFill>
            <a:srgbClr val="00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26919" y="5507335"/>
            <a:ext cx="78555" cy="78555"/>
          </a:xfrm>
          <a:prstGeom prst="ellipse">
            <a:avLst/>
          </a:prstGeom>
          <a:solidFill>
            <a:srgbClr val="00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80398" y="3963697"/>
            <a:ext cx="51755" cy="51755"/>
          </a:xfrm>
          <a:prstGeom prst="ellipse">
            <a:avLst/>
          </a:prstGeom>
          <a:solidFill>
            <a:srgbClr val="00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03800" y="1444361"/>
            <a:ext cx="48338" cy="48338"/>
          </a:xfrm>
          <a:prstGeom prst="ellipse">
            <a:avLst/>
          </a:prstGeom>
          <a:solidFill>
            <a:srgbClr val="00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38351" y="5673932"/>
            <a:ext cx="80832" cy="80832"/>
          </a:xfrm>
          <a:prstGeom prst="ellipse">
            <a:avLst/>
          </a:prstGeom>
          <a:solidFill>
            <a:srgbClr val="00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51577" y="1954976"/>
            <a:ext cx="53575" cy="53575"/>
          </a:xfrm>
          <a:prstGeom prst="ellipse">
            <a:avLst/>
          </a:prstGeom>
          <a:solidFill>
            <a:srgbClr val="00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521203" y="5106124"/>
            <a:ext cx="83465" cy="83465"/>
          </a:xfrm>
          <a:prstGeom prst="ellipse">
            <a:avLst/>
          </a:prstGeom>
          <a:solidFill>
            <a:srgbClr val="00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483275" y="1330449"/>
            <a:ext cx="69815" cy="69815"/>
          </a:xfrm>
          <a:prstGeom prst="ellipse">
            <a:avLst/>
          </a:prstGeom>
          <a:solidFill>
            <a:srgbClr val="00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4688" y="3783882"/>
            <a:ext cx="46330" cy="46330"/>
          </a:xfrm>
          <a:prstGeom prst="ellipse">
            <a:avLst/>
          </a:prstGeom>
          <a:solidFill>
            <a:srgbClr val="00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725904" y="1345828"/>
            <a:ext cx="87851" cy="87851"/>
          </a:xfrm>
          <a:prstGeom prst="ellipse">
            <a:avLst/>
          </a:prstGeom>
          <a:solidFill>
            <a:srgbClr val="00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12783" y="4027830"/>
            <a:ext cx="53048" cy="53048"/>
          </a:xfrm>
          <a:prstGeom prst="ellipse">
            <a:avLst/>
          </a:prstGeom>
          <a:solidFill>
            <a:srgbClr val="00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20588" y="4172542"/>
            <a:ext cx="84983" cy="84983"/>
          </a:xfrm>
          <a:prstGeom prst="ellipse">
            <a:avLst/>
          </a:prstGeom>
          <a:solidFill>
            <a:srgbClr val="00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108659" y="3798036"/>
            <a:ext cx="59286" cy="59286"/>
          </a:xfrm>
          <a:prstGeom prst="ellipse">
            <a:avLst/>
          </a:prstGeom>
          <a:solidFill>
            <a:srgbClr val="00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92743" y="3345492"/>
            <a:ext cx="45426" cy="45426"/>
          </a:xfrm>
          <a:prstGeom prst="ellipse">
            <a:avLst/>
          </a:prstGeom>
          <a:solidFill>
            <a:srgbClr val="00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754003" y="5578380"/>
            <a:ext cx="38948" cy="38948"/>
          </a:xfrm>
          <a:prstGeom prst="ellipse">
            <a:avLst/>
          </a:prstGeom>
          <a:solidFill>
            <a:srgbClr val="00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5047" y="4488464"/>
            <a:ext cx="51961" cy="51961"/>
          </a:xfrm>
          <a:prstGeom prst="ellipse">
            <a:avLst/>
          </a:prstGeom>
          <a:solidFill>
            <a:srgbClr val="00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0264" y="3580732"/>
            <a:ext cx="55385" cy="55385"/>
          </a:xfrm>
          <a:prstGeom prst="ellipse">
            <a:avLst/>
          </a:prstGeom>
          <a:solidFill>
            <a:srgbClr val="00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855351" y="1967487"/>
            <a:ext cx="59223" cy="59223"/>
          </a:xfrm>
          <a:prstGeom prst="ellipse">
            <a:avLst/>
          </a:prstGeom>
          <a:solidFill>
            <a:srgbClr val="00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555001" y="4525416"/>
            <a:ext cx="51735" cy="51735"/>
          </a:xfrm>
          <a:prstGeom prst="ellipse">
            <a:avLst/>
          </a:prstGeom>
          <a:solidFill>
            <a:srgbClr val="00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A0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749808"/>
            <a:ext cx="12188952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430000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173968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917936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661904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405872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149840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" y="73152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D2FF"/>
                </a:solidFill>
                <a:latin typeface="Trebuchet MS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" y="118872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Trebuchet MS"/>
              </a:rPr>
              <a:t>INTRODUCTION TO ANIMATION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-2286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00" b="1" i="0">
                <a:solidFill>
                  <a:srgbClr val="00D2FF"/>
                </a:solidFill>
                <a:latin typeface="Trebuchet MS"/>
              </a:rPr>
              <a:t>01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841248"/>
            <a:ext cx="11676888" cy="548640"/>
          </a:xfrm>
          <a:prstGeom prst="rect">
            <a:avLst/>
          </a:prstGeom>
          <a:solidFill>
            <a:srgbClr val="080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56032" y="841248"/>
            <a:ext cx="50292" cy="5486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4400" y="877824"/>
            <a:ext cx="2194560" cy="475488"/>
          </a:xfrm>
          <a:prstGeom prst="rect">
            <a:avLst/>
          </a:prstGeom>
          <a:solidFill>
            <a:srgbClr val="101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783080" y="1097280"/>
            <a:ext cx="256032" cy="25603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7552" y="896112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E7DAA"/>
                </a:solidFill>
                <a:latin typeface="Calibri"/>
              </a:rPr>
              <a:t>F1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66160" y="877824"/>
            <a:ext cx="2194560" cy="475488"/>
          </a:xfrm>
          <a:prstGeom prst="rect">
            <a:avLst/>
          </a:prstGeom>
          <a:solidFill>
            <a:srgbClr val="101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434840" y="987552"/>
            <a:ext cx="256032" cy="25603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39312" y="896112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E7DAA"/>
                </a:solidFill>
                <a:latin typeface="Calibri"/>
              </a:rPr>
              <a:t>F2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877824"/>
            <a:ext cx="2194560" cy="475488"/>
          </a:xfrm>
          <a:prstGeom prst="rect">
            <a:avLst/>
          </a:prstGeom>
          <a:solidFill>
            <a:srgbClr val="101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086600" y="905256"/>
            <a:ext cx="256032" cy="25603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1072" y="896112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E7DAA"/>
                </a:solidFill>
                <a:latin typeface="Calibri"/>
              </a:rPr>
              <a:t>F3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869680" y="877824"/>
            <a:ext cx="2194560" cy="475488"/>
          </a:xfrm>
          <a:prstGeom prst="rect">
            <a:avLst/>
          </a:prstGeom>
          <a:solidFill>
            <a:srgbClr val="101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738359" y="1051560"/>
            <a:ext cx="256032" cy="256032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42832" y="896112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E7DAA"/>
                </a:solidFill>
                <a:latin typeface="Calibri"/>
              </a:rPr>
              <a:t>F4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" y="859536"/>
            <a:ext cx="11521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6E7DAA"/>
                </a:solidFill>
                <a:latin typeface="Calibri"/>
              </a:rPr>
              <a:t>24 FRAMES PER SECOND  —  ILLUSION OF MOTION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6032" y="1435608"/>
            <a:ext cx="11676888" cy="365760"/>
          </a:xfrm>
          <a:prstGeom prst="rect">
            <a:avLst/>
          </a:prstGeom>
          <a:solidFill>
            <a:srgbClr val="0A0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56032" y="1435608"/>
            <a:ext cx="50292" cy="3657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1481328"/>
            <a:ext cx="11475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3CDE8"/>
                </a:solidFill>
                <a:latin typeface="Calibri"/>
              </a:rPr>
              <a:t>"Animation = sequential still images exploiting Persistence of Vision + Phi Phenomenon to create the ILLUSION OF MOVEMENT."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2608" y="1892807"/>
            <a:ext cx="5687568" cy="2359152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56032" y="1856231"/>
            <a:ext cx="5687568" cy="2359152"/>
          </a:xfrm>
          <a:prstGeom prst="rect">
            <a:avLst/>
          </a:prstGeom>
          <a:solidFill>
            <a:srgbClr val="0E0E32"/>
          </a:solidFill>
          <a:ln w="5080"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56032" y="1856231"/>
            <a:ext cx="54864" cy="2359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10896" y="1856231"/>
            <a:ext cx="5632704" cy="2743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60" y="1947672"/>
            <a:ext cx="5522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D2FF"/>
                </a:solidFill>
                <a:latin typeface="Trebuchet MS"/>
              </a:rPr>
              <a:t>DEFINITION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2194560"/>
            <a:ext cx="5468112" cy="10972"/>
          </a:xfrm>
          <a:prstGeom prst="rect">
            <a:avLst/>
          </a:prstGeom>
          <a:solidFill>
            <a:srgbClr val="28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5760" y="2231136"/>
            <a:ext cx="5522976" cy="188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From Latin anima — 'to give soul'.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Series of still images shown rapidly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24 fps = cinema standard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30 fps = TV broadcast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60 fps = modern gaming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Below 12 fps = visible flicker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First animation: Eadweard Muybridge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horse gallop sequence (1878)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36208" y="1892807"/>
            <a:ext cx="5687568" cy="2359152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199632" y="1856231"/>
            <a:ext cx="5687568" cy="2359152"/>
          </a:xfrm>
          <a:prstGeom prst="rect">
            <a:avLst/>
          </a:prstGeom>
          <a:solidFill>
            <a:srgbClr val="0E0E32"/>
          </a:solidFill>
          <a:ln w="5080"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199632" y="1856231"/>
            <a:ext cx="54864" cy="2359152"/>
          </a:xfrm>
          <a:prstGeom prst="rect">
            <a:avLst/>
          </a:prstGeom>
          <a:solidFill>
            <a:srgbClr val="965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254496" y="1856231"/>
            <a:ext cx="5632704" cy="2743"/>
          </a:xfrm>
          <a:prstGeom prst="rect">
            <a:avLst/>
          </a:prstGeom>
          <a:solidFill>
            <a:srgbClr val="965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09360" y="1947672"/>
            <a:ext cx="5522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9650DC"/>
                </a:solidFill>
                <a:latin typeface="Trebuchet MS"/>
              </a:rPr>
              <a:t>PERSISTENCE OF VISION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09360" y="2194560"/>
            <a:ext cx="5468112" cy="10972"/>
          </a:xfrm>
          <a:prstGeom prst="rect">
            <a:avLst/>
          </a:prstGeom>
          <a:solidFill>
            <a:srgbClr val="28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09360" y="2231136"/>
            <a:ext cx="5522976" cy="188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Physical effect in the human eye.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Retina retains image ~50ms after it disappears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Afterimage overlaps the next frame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Creates seamless continuous flow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 b="1">
                <a:solidFill>
                  <a:srgbClr val="9650DC"/>
                </a:solidFill>
                <a:latin typeface="Calibri"/>
              </a:rPr>
              <a:t>DISCOVERED: Peter Mark Roget (1824)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Result: brain cannot distinguish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frames at 24+ fps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92608" y="4288536"/>
            <a:ext cx="5687568" cy="2359152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56032" y="4251960"/>
            <a:ext cx="5687568" cy="2359152"/>
          </a:xfrm>
          <a:prstGeom prst="rect">
            <a:avLst/>
          </a:prstGeom>
          <a:solidFill>
            <a:srgbClr val="0E0E32"/>
          </a:solidFill>
          <a:ln w="5080"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56032" y="4251960"/>
            <a:ext cx="54864" cy="2359152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10896" y="4251960"/>
            <a:ext cx="5632704" cy="2743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5760" y="4343400"/>
            <a:ext cx="5522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9100"/>
                </a:solidFill>
                <a:latin typeface="Trebuchet MS"/>
              </a:rPr>
              <a:t>PHI PHENOMENON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" y="4590288"/>
            <a:ext cx="5468112" cy="10972"/>
          </a:xfrm>
          <a:prstGeom prst="rect">
            <a:avLst/>
          </a:prstGeom>
          <a:solidFill>
            <a:srgbClr val="28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5760" y="4626864"/>
            <a:ext cx="5522976" cy="188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Purely PSYCHOLOGICAL motion effect.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Brain infers motion between two static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  objects in rapid sequence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Does NOT need retinal retention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 b="1">
                <a:solidFill>
                  <a:srgbClr val="FF9100"/>
                </a:solidFill>
                <a:latin typeface="Calibri"/>
              </a:rPr>
              <a:t>DISCOVERED: Max Wertheimer (1912)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Examples: Flip-book, traffic light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arrows, neon sign sequences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36208" y="4288536"/>
            <a:ext cx="5687568" cy="2359152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199632" y="4251960"/>
            <a:ext cx="5687568" cy="2359152"/>
          </a:xfrm>
          <a:prstGeom prst="rect">
            <a:avLst/>
          </a:prstGeom>
          <a:solidFill>
            <a:srgbClr val="0E0E32"/>
          </a:solidFill>
          <a:ln w="5080"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199632" y="4251960"/>
            <a:ext cx="54864" cy="2359152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54496" y="4251960"/>
            <a:ext cx="5632704" cy="2743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4343400"/>
            <a:ext cx="5522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D573"/>
                </a:solidFill>
                <a:latin typeface="Trebuchet MS"/>
              </a:rPr>
              <a:t>ILLUSION OF MOVEMENT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309360" y="4590288"/>
            <a:ext cx="5468112" cy="10972"/>
          </a:xfrm>
          <a:prstGeom prst="rect">
            <a:avLst/>
          </a:prstGeom>
          <a:solidFill>
            <a:srgbClr val="28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309360" y="4626864"/>
            <a:ext cx="5522976" cy="188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Combined result of BOTH effects.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POV alone  ≠  enough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Phi alone  ≠  enough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Together  =  seamless motion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The brain WANTS to see motion —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animators exploit this biological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'glitch' in human perception.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fill="hold">
                <p:stCondLst>
                  <p:cond delay="300"/>
                </p:stCondLst>
                <p:childTnLst>
                  <p:par>
                    <p:cTn id="3" presetID="10" presetClass="entr" presetSubtype="0" fill="hold" grpId="0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4" dur="550"/>
                            <p:tgtEl>
                              <p:spTgt spid="57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5" dur="550"/>
                            <p:tgtEl>
                              <p:spTgt spid="57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delay="480"/>
                </p:stCondLst>
                <p:childTnLst>
                  <p:par>
                    <p:cTn id="7" presetID="10" presetClass="entr" presetSubtype="0" fill="hold" grpId="1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8" dur="550"/>
                            <p:tgtEl>
                              <p:spTgt spid="64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9" dur="550"/>
                            <p:tgtEl>
                              <p:spTgt spid="64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id="10" fill="hold">
                <p:stCondLst>
                  <p:cond delay="660"/>
                </p:stCondLst>
                <p:childTnLst>
                  <p:par>
                    <p:cTn id="11" presetID="10" presetClass="entr" presetSubtype="0" fill="hold" grpId="2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12" dur="550"/>
                            <p:tgtEl>
                              <p:spTgt spid="71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13" dur="550"/>
                            <p:tgtEl>
                              <p:spTgt spid="71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id="14" fill="hold">
                <p:stCondLst>
                  <p:cond delay="840"/>
                </p:stCondLst>
                <p:childTnLst>
                  <p:par>
                    <p:cTn id="15" presetID="10" presetClass="entr" presetSubtype="0" fill="hold" grpId="3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16" dur="550"/>
                            <p:tgtEl>
                              <p:spTgt spid="78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17" dur="550"/>
                            <p:tgtEl>
                              <p:spTgt spid="78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</p:childTnLst>
        </p:cTn>
      </p:par>
    </p:tnLst>
    <p:bldLst/>
  </p:timing>
  <p:transition spd="med" dur="500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73520" y="5164016"/>
            <a:ext cx="80203" cy="80203"/>
          </a:xfrm>
          <a:prstGeom prst="ellipse">
            <a:avLst/>
          </a:prstGeom>
          <a:solidFill>
            <a:srgbClr val="1E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13619" y="5152964"/>
            <a:ext cx="87178" cy="87178"/>
          </a:xfrm>
          <a:prstGeom prst="ellipse">
            <a:avLst/>
          </a:prstGeom>
          <a:solidFill>
            <a:srgbClr val="1E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22366" y="3547858"/>
            <a:ext cx="88332" cy="88332"/>
          </a:xfrm>
          <a:prstGeom prst="ellipse">
            <a:avLst/>
          </a:prstGeom>
          <a:solidFill>
            <a:srgbClr val="1E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8685" y="6095173"/>
            <a:ext cx="42786" cy="42786"/>
          </a:xfrm>
          <a:prstGeom prst="ellipse">
            <a:avLst/>
          </a:prstGeom>
          <a:solidFill>
            <a:srgbClr val="1E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73014" y="2265943"/>
            <a:ext cx="66408" cy="66408"/>
          </a:xfrm>
          <a:prstGeom prst="ellipse">
            <a:avLst/>
          </a:prstGeom>
          <a:solidFill>
            <a:srgbClr val="1E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900471" y="899706"/>
            <a:ext cx="48466" cy="48466"/>
          </a:xfrm>
          <a:prstGeom prst="ellipse">
            <a:avLst/>
          </a:prstGeom>
          <a:solidFill>
            <a:srgbClr val="1E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454031" y="6185559"/>
            <a:ext cx="78586" cy="78586"/>
          </a:xfrm>
          <a:prstGeom prst="ellipse">
            <a:avLst/>
          </a:prstGeom>
          <a:solidFill>
            <a:srgbClr val="1E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50938" y="5487991"/>
            <a:ext cx="44189" cy="44189"/>
          </a:xfrm>
          <a:prstGeom prst="ellipse">
            <a:avLst/>
          </a:prstGeom>
          <a:solidFill>
            <a:srgbClr val="1E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09741" y="1564424"/>
            <a:ext cx="36673" cy="36673"/>
          </a:xfrm>
          <a:prstGeom prst="ellipse">
            <a:avLst/>
          </a:prstGeom>
          <a:solidFill>
            <a:srgbClr val="1E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382079" y="2048732"/>
            <a:ext cx="48398" cy="48398"/>
          </a:xfrm>
          <a:prstGeom prst="ellipse">
            <a:avLst/>
          </a:prstGeom>
          <a:solidFill>
            <a:srgbClr val="1E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681451" y="5928429"/>
            <a:ext cx="52448" cy="52448"/>
          </a:xfrm>
          <a:prstGeom prst="ellipse">
            <a:avLst/>
          </a:prstGeom>
          <a:solidFill>
            <a:srgbClr val="1E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36326" y="3978582"/>
            <a:ext cx="73764" cy="73764"/>
          </a:xfrm>
          <a:prstGeom prst="ellipse">
            <a:avLst/>
          </a:prstGeom>
          <a:solidFill>
            <a:srgbClr val="1E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579684" y="6329702"/>
            <a:ext cx="74467" cy="74467"/>
          </a:xfrm>
          <a:prstGeom prst="ellipse">
            <a:avLst/>
          </a:prstGeom>
          <a:solidFill>
            <a:srgbClr val="1E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495858" y="6053279"/>
            <a:ext cx="52968" cy="52968"/>
          </a:xfrm>
          <a:prstGeom prst="ellipse">
            <a:avLst/>
          </a:prstGeom>
          <a:solidFill>
            <a:srgbClr val="1E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10362" y="1794161"/>
            <a:ext cx="44569" cy="44569"/>
          </a:xfrm>
          <a:prstGeom prst="ellipse">
            <a:avLst/>
          </a:prstGeom>
          <a:solidFill>
            <a:srgbClr val="1E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45296" y="2586561"/>
            <a:ext cx="69665" cy="69665"/>
          </a:xfrm>
          <a:prstGeom prst="ellipse">
            <a:avLst/>
          </a:prstGeom>
          <a:solidFill>
            <a:srgbClr val="1E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22477" y="4790339"/>
            <a:ext cx="55114" cy="55114"/>
          </a:xfrm>
          <a:prstGeom prst="ellipse">
            <a:avLst/>
          </a:prstGeom>
          <a:solidFill>
            <a:srgbClr val="1E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10726" y="5613058"/>
            <a:ext cx="62951" cy="62951"/>
          </a:xfrm>
          <a:prstGeom prst="ellipse">
            <a:avLst/>
          </a:prstGeom>
          <a:solidFill>
            <a:srgbClr val="1E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79023" y="3639126"/>
            <a:ext cx="75236" cy="75236"/>
          </a:xfrm>
          <a:prstGeom prst="ellipse">
            <a:avLst/>
          </a:prstGeom>
          <a:solidFill>
            <a:srgbClr val="1E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0037" y="6529398"/>
            <a:ext cx="37830" cy="37830"/>
          </a:xfrm>
          <a:prstGeom prst="ellipse">
            <a:avLst/>
          </a:prstGeom>
          <a:solidFill>
            <a:srgbClr val="1E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958720" y="5767338"/>
            <a:ext cx="37567" cy="37567"/>
          </a:xfrm>
          <a:prstGeom prst="ellipse">
            <a:avLst/>
          </a:prstGeom>
          <a:solidFill>
            <a:srgbClr val="1E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02821" y="2965930"/>
            <a:ext cx="68315" cy="68315"/>
          </a:xfrm>
          <a:prstGeom prst="ellipse">
            <a:avLst/>
          </a:prstGeom>
          <a:solidFill>
            <a:srgbClr val="1E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A0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749808"/>
            <a:ext cx="12188952" cy="27432"/>
          </a:xfrm>
          <a:prstGeom prst="rect">
            <a:avLst/>
          </a:prstGeom>
          <a:solidFill>
            <a:srgbClr val="965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965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0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173968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917936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661904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405872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149840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" y="73152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9650DC"/>
                </a:solidFill>
                <a:latin typeface="Trebuchet MS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" y="118872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Trebuchet MS"/>
              </a:rPr>
              <a:t>USAGE OF ANIMATION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-2286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00" b="1" i="0">
                <a:solidFill>
                  <a:srgbClr val="9650DC"/>
                </a:solidFill>
                <a:latin typeface="Trebuchet MS"/>
              </a:rPr>
              <a:t>02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2608" y="886968"/>
            <a:ext cx="5724144" cy="2834640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56032" y="850392"/>
            <a:ext cx="5724144" cy="2834640"/>
          </a:xfrm>
          <a:prstGeom prst="rect">
            <a:avLst/>
          </a:prstGeom>
          <a:solidFill>
            <a:srgbClr val="0E0E32"/>
          </a:solidFill>
          <a:ln w="5080">
            <a:solidFill>
              <a:srgbClr val="1C1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56032" y="850392"/>
            <a:ext cx="54864" cy="28346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10896" y="850392"/>
            <a:ext cx="5669280" cy="2743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94183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9875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2FF"/>
                </a:solidFill>
                <a:latin typeface="Trebuchet MS"/>
              </a:rPr>
              <a:t>ARTISTIC PURPOSES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05840" y="1325880"/>
            <a:ext cx="4846320" cy="10972"/>
          </a:xfrm>
          <a:prstGeom prst="rect">
            <a:avLst/>
          </a:prstGeom>
          <a:solidFill>
            <a:srgbClr val="28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1380744"/>
            <a:ext cx="5486400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950">
                <a:solidFill>
                  <a:srgbClr val="C3CDE8"/>
                </a:solidFill>
                <a:latin typeface="Calibri"/>
              </a:rPr>
              <a:t>• Fine art &amp; experimental film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C3CDE8"/>
                </a:solidFill>
                <a:latin typeface="Calibri"/>
              </a:rPr>
              <a:t>• Music video production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C3CDE8"/>
                </a:solidFill>
                <a:latin typeface="Calibri"/>
              </a:rPr>
              <a:t>• Abstract visual compositions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C3CDE8"/>
                </a:solidFill>
                <a:latin typeface="Calibri"/>
              </a:rPr>
              <a:t>• Title sequence design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C3CDE8"/>
                </a:solidFill>
                <a:latin typeface="Calibri"/>
              </a:rPr>
              <a:t>• Gallery installations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50" b="1">
                <a:solidFill>
                  <a:srgbClr val="00D2FF"/>
                </a:solidFill>
                <a:latin typeface="Calibri"/>
              </a:rPr>
              <a:t>REAL EXAMPLES: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C3CDE8"/>
                </a:solidFill>
                <a:latin typeface="Calibri"/>
              </a:rPr>
              <a:t>Disney's Fantasia (1940)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C3CDE8"/>
                </a:solidFill>
                <a:latin typeface="Calibri"/>
              </a:rPr>
              <a:t>Yellow Submarine (1968)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C3CDE8"/>
                </a:solidFill>
                <a:latin typeface="Calibri"/>
              </a:rPr>
              <a:t>Spider-Man: Into the Spider-Verse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72784" y="886968"/>
            <a:ext cx="5724144" cy="2834640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36208" y="850392"/>
            <a:ext cx="5724144" cy="2834640"/>
          </a:xfrm>
          <a:prstGeom prst="rect">
            <a:avLst/>
          </a:prstGeom>
          <a:solidFill>
            <a:srgbClr val="0E0E32"/>
          </a:solidFill>
          <a:ln w="5080">
            <a:solidFill>
              <a:srgbClr val="1C1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36208" y="850392"/>
            <a:ext cx="54864" cy="283464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91072" y="850392"/>
            <a:ext cx="5669280" cy="2743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45936" y="94183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86016" y="9875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100"/>
                </a:solidFill>
                <a:latin typeface="Trebuchet MS"/>
              </a:rPr>
              <a:t>STORYTELLING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86016" y="1325880"/>
            <a:ext cx="4846320" cy="10972"/>
          </a:xfrm>
          <a:prstGeom prst="rect">
            <a:avLst/>
          </a:prstGeom>
          <a:solidFill>
            <a:srgbClr val="28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45936" y="1380744"/>
            <a:ext cx="5486400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950">
                <a:solidFill>
                  <a:srgbClr val="C3CDE8"/>
                </a:solidFill>
                <a:latin typeface="Calibri"/>
              </a:rPr>
              <a:t>• Narrative feature films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C3CDE8"/>
                </a:solidFill>
                <a:latin typeface="Calibri"/>
              </a:rPr>
              <a:t>• TV series &amp; web animations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C3CDE8"/>
                </a:solidFill>
                <a:latin typeface="Calibri"/>
              </a:rPr>
              <a:t>• Video game cutscenes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C3CDE8"/>
                </a:solidFill>
                <a:latin typeface="Calibri"/>
              </a:rPr>
              <a:t>• Interactive web comics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50" b="1">
                <a:solidFill>
                  <a:srgbClr val="FF9100"/>
                </a:solidFill>
                <a:latin typeface="Calibri"/>
              </a:rPr>
              <a:t>REAL EXAMPLES: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C3CDE8"/>
                </a:solidFill>
                <a:latin typeface="Calibri"/>
              </a:rPr>
              <a:t>Pixar Toy Story series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C3CDE8"/>
                </a:solidFill>
                <a:latin typeface="Calibri"/>
              </a:rPr>
              <a:t>Studio Ghibli classics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C3CDE8"/>
                </a:solidFill>
                <a:latin typeface="Calibri"/>
              </a:rPr>
              <a:t>Arcane — Netflix (2021)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C3CDE8"/>
                </a:solidFill>
                <a:latin typeface="Calibri"/>
              </a:rPr>
              <a:t>Attack on Titan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2608" y="3831336"/>
            <a:ext cx="5724144" cy="2834640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56032" y="3794760"/>
            <a:ext cx="5724144" cy="2834640"/>
          </a:xfrm>
          <a:prstGeom prst="rect">
            <a:avLst/>
          </a:prstGeom>
          <a:solidFill>
            <a:srgbClr val="0E0E32"/>
          </a:solidFill>
          <a:ln w="5080">
            <a:solidFill>
              <a:srgbClr val="1C1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56032" y="3794760"/>
            <a:ext cx="54864" cy="283464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10896" y="3794760"/>
            <a:ext cx="5669280" cy="2743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60" y="388620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🔬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5840" y="39319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D573"/>
                </a:solidFill>
                <a:latin typeface="Trebuchet MS"/>
              </a:rPr>
              <a:t>SCIENTIFIC VISUALIZATION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05840" y="4270248"/>
            <a:ext cx="4846320" cy="10972"/>
          </a:xfrm>
          <a:prstGeom prst="rect">
            <a:avLst/>
          </a:prstGeom>
          <a:solidFill>
            <a:srgbClr val="28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5760" y="4325112"/>
            <a:ext cx="5486400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950">
                <a:solidFill>
                  <a:srgbClr val="C3CDE8"/>
                </a:solidFill>
                <a:latin typeface="Calibri"/>
              </a:rPr>
              <a:t>• Medical anatomy explainers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C3CDE8"/>
                </a:solidFill>
                <a:latin typeface="Calibri"/>
              </a:rPr>
              <a:t>• Weather &amp; climate models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C3CDE8"/>
                </a:solidFill>
                <a:latin typeface="Calibri"/>
              </a:rPr>
              <a:t>• DNA &amp; molecular modeling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C3CDE8"/>
                </a:solidFill>
                <a:latin typeface="Calibri"/>
              </a:rPr>
              <a:t>• Physics simulations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C3CDE8"/>
                </a:solidFill>
                <a:latin typeface="Calibri"/>
              </a:rPr>
              <a:t>• Engineering CAD previews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50" b="1">
                <a:solidFill>
                  <a:srgbClr val="2ED573"/>
                </a:solidFill>
                <a:latin typeface="Calibri"/>
              </a:rPr>
              <a:t>REAL EXAMPLES: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C3CDE8"/>
                </a:solidFill>
                <a:latin typeface="Calibri"/>
              </a:rPr>
              <a:t>NASA mission visualizations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C3CDE8"/>
                </a:solidFill>
                <a:latin typeface="Calibri"/>
              </a:rPr>
              <a:t>Medical surgical training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C3CDE8"/>
                </a:solidFill>
                <a:latin typeface="Calibri"/>
              </a:rPr>
              <a:t>Climate change simulations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72784" y="3831336"/>
            <a:ext cx="5724144" cy="2834640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236208" y="3794760"/>
            <a:ext cx="5724144" cy="2834640"/>
          </a:xfrm>
          <a:prstGeom prst="rect">
            <a:avLst/>
          </a:prstGeom>
          <a:solidFill>
            <a:srgbClr val="0E0E32"/>
          </a:solidFill>
          <a:ln w="5080">
            <a:solidFill>
              <a:srgbClr val="1C1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236208" y="3794760"/>
            <a:ext cx="54864" cy="2834640"/>
          </a:xfrm>
          <a:prstGeom prst="rect">
            <a:avLst/>
          </a:prstGeom>
          <a:solidFill>
            <a:srgbClr val="FF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291072" y="3794760"/>
            <a:ext cx="5669280" cy="2743"/>
          </a:xfrm>
          <a:prstGeom prst="rect">
            <a:avLst/>
          </a:prstGeom>
          <a:solidFill>
            <a:srgbClr val="FF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45936" y="388620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86016" y="39319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5AA0"/>
                </a:solidFill>
                <a:latin typeface="Trebuchet MS"/>
              </a:rPr>
              <a:t>INSTRUCTIONAL PURPOSES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986016" y="4270248"/>
            <a:ext cx="4846320" cy="10972"/>
          </a:xfrm>
          <a:prstGeom prst="rect">
            <a:avLst/>
          </a:prstGeom>
          <a:solidFill>
            <a:srgbClr val="28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45936" y="4325112"/>
            <a:ext cx="5486400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950">
                <a:solidFill>
                  <a:srgbClr val="C3CDE8"/>
                </a:solidFill>
                <a:latin typeface="Calibri"/>
              </a:rPr>
              <a:t>• Educational explainer videos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C3CDE8"/>
                </a:solidFill>
                <a:latin typeface="Calibri"/>
              </a:rPr>
              <a:t>• Military &amp; flight simulators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C3CDE8"/>
                </a:solidFill>
                <a:latin typeface="Calibri"/>
              </a:rPr>
              <a:t>• Safety procedure demos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C3CDE8"/>
                </a:solidFill>
                <a:latin typeface="Calibri"/>
              </a:rPr>
              <a:t>• Product assembly guides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C3CDE8"/>
                </a:solidFill>
                <a:latin typeface="Calibri"/>
              </a:rPr>
              <a:t>• Corporate training modules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50" b="1">
                <a:solidFill>
                  <a:srgbClr val="FF5AA0"/>
                </a:solidFill>
                <a:latin typeface="Calibri"/>
              </a:rPr>
              <a:t>REAL EXAMPLES: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C3CDE8"/>
                </a:solidFill>
                <a:latin typeface="Calibri"/>
              </a:rPr>
              <a:t>Khan Academy lessons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C3CDE8"/>
                </a:solidFill>
                <a:latin typeface="Calibri"/>
              </a:rPr>
              <a:t>Boeing pilot simulators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C3CDE8"/>
                </a:solidFill>
                <a:latin typeface="Calibri"/>
              </a:rPr>
              <a:t>IKEA assembly instructions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fill="hold">
                <p:stCondLst>
                  <p:cond delay="200"/>
                </p:stCondLst>
                <p:childTnLst>
                  <p:par>
                    <p:cTn id="3" presetID="10" presetClass="entr" presetSubtype="0" fill="hold" grpId="0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4" dur="550"/>
                            <p:tgtEl>
                              <p:spTgt spid="37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5" dur="550"/>
                            <p:tgtEl>
                              <p:spTgt spid="37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delay="400"/>
                </p:stCondLst>
                <p:childTnLst>
                  <p:par>
                    <p:cTn id="7" presetID="10" presetClass="entr" presetSubtype="0" fill="hold" grpId="1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8" dur="550"/>
                            <p:tgtEl>
                              <p:spTgt spid="45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9" dur="550"/>
                            <p:tgtEl>
                              <p:spTgt spid="45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id="10" fill="hold">
                <p:stCondLst>
                  <p:cond delay="600"/>
                </p:stCondLst>
                <p:childTnLst>
                  <p:par>
                    <p:cTn id="11" presetID="10" presetClass="entr" presetSubtype="0" fill="hold" grpId="2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12" dur="550"/>
                            <p:tgtEl>
                              <p:spTgt spid="53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13" dur="550"/>
                            <p:tgtEl>
                              <p:spTgt spid="53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id="14" fill="hold">
                <p:stCondLst>
                  <p:cond delay="800"/>
                </p:stCondLst>
                <p:childTnLst>
                  <p:par>
                    <p:cTn id="15" presetID="10" presetClass="entr" presetSubtype="0" fill="hold" grpId="3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16" dur="550"/>
                            <p:tgtEl>
                              <p:spTgt spid="61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17" dur="550"/>
                            <p:tgtEl>
                              <p:spTgt spid="61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</p:childTnLst>
        </p:cTn>
      </p:par>
    </p:tnLst>
    <p:bldLst/>
  </p:timing>
  <p:transition spd="med" dur="500">
    <p:push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68386" y="5633166"/>
            <a:ext cx="63186" cy="63186"/>
          </a:xfrm>
          <a:prstGeom prst="ellipse">
            <a:avLst/>
          </a:prstGeom>
          <a:solidFill>
            <a:srgbClr val="28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44981" y="825603"/>
            <a:ext cx="72940" cy="72940"/>
          </a:xfrm>
          <a:prstGeom prst="ellipse">
            <a:avLst/>
          </a:prstGeom>
          <a:solidFill>
            <a:srgbClr val="28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86886" y="5269025"/>
            <a:ext cx="57049" cy="57049"/>
          </a:xfrm>
          <a:prstGeom prst="ellipse">
            <a:avLst/>
          </a:prstGeom>
          <a:solidFill>
            <a:srgbClr val="28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96843" y="2418832"/>
            <a:ext cx="80572" cy="80572"/>
          </a:xfrm>
          <a:prstGeom prst="ellipse">
            <a:avLst/>
          </a:prstGeom>
          <a:solidFill>
            <a:srgbClr val="28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24983" y="3245791"/>
            <a:ext cx="66109" cy="66109"/>
          </a:xfrm>
          <a:prstGeom prst="ellipse">
            <a:avLst/>
          </a:prstGeom>
          <a:solidFill>
            <a:srgbClr val="28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165831" y="1952338"/>
            <a:ext cx="66949" cy="66949"/>
          </a:xfrm>
          <a:prstGeom prst="ellipse">
            <a:avLst/>
          </a:prstGeom>
          <a:solidFill>
            <a:srgbClr val="28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6309" y="2376831"/>
            <a:ext cx="80651" cy="80651"/>
          </a:xfrm>
          <a:prstGeom prst="ellipse">
            <a:avLst/>
          </a:prstGeom>
          <a:solidFill>
            <a:srgbClr val="28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08413" y="5763835"/>
            <a:ext cx="54987" cy="54987"/>
          </a:xfrm>
          <a:prstGeom prst="ellipse">
            <a:avLst/>
          </a:prstGeom>
          <a:solidFill>
            <a:srgbClr val="28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72957" y="5506342"/>
            <a:ext cx="80729" cy="80729"/>
          </a:xfrm>
          <a:prstGeom prst="ellipse">
            <a:avLst/>
          </a:prstGeom>
          <a:solidFill>
            <a:srgbClr val="28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393788" y="1371777"/>
            <a:ext cx="47393" cy="47393"/>
          </a:xfrm>
          <a:prstGeom prst="ellipse">
            <a:avLst/>
          </a:prstGeom>
          <a:solidFill>
            <a:srgbClr val="28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14173" y="2527012"/>
            <a:ext cx="88772" cy="88772"/>
          </a:xfrm>
          <a:prstGeom prst="ellipse">
            <a:avLst/>
          </a:prstGeom>
          <a:solidFill>
            <a:srgbClr val="28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71689" y="1998508"/>
            <a:ext cx="72534" cy="72534"/>
          </a:xfrm>
          <a:prstGeom prst="ellipse">
            <a:avLst/>
          </a:prstGeom>
          <a:solidFill>
            <a:srgbClr val="28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00877" y="6281487"/>
            <a:ext cx="86475" cy="86475"/>
          </a:xfrm>
          <a:prstGeom prst="ellipse">
            <a:avLst/>
          </a:prstGeom>
          <a:solidFill>
            <a:srgbClr val="28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06521" y="4595097"/>
            <a:ext cx="74866" cy="74866"/>
          </a:xfrm>
          <a:prstGeom prst="ellipse">
            <a:avLst/>
          </a:prstGeom>
          <a:solidFill>
            <a:srgbClr val="28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10767" y="6536862"/>
            <a:ext cx="38135" cy="38135"/>
          </a:xfrm>
          <a:prstGeom prst="ellipse">
            <a:avLst/>
          </a:prstGeom>
          <a:solidFill>
            <a:srgbClr val="28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12545" y="4344481"/>
            <a:ext cx="53272" cy="53272"/>
          </a:xfrm>
          <a:prstGeom prst="ellipse">
            <a:avLst/>
          </a:prstGeom>
          <a:solidFill>
            <a:srgbClr val="28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078559" y="1347825"/>
            <a:ext cx="84860" cy="84860"/>
          </a:xfrm>
          <a:prstGeom prst="ellipse">
            <a:avLst/>
          </a:prstGeom>
          <a:solidFill>
            <a:srgbClr val="28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30728" y="1506635"/>
            <a:ext cx="72936" cy="72936"/>
          </a:xfrm>
          <a:prstGeom prst="ellipse">
            <a:avLst/>
          </a:prstGeom>
          <a:solidFill>
            <a:srgbClr val="28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37912" y="1971295"/>
            <a:ext cx="63116" cy="63116"/>
          </a:xfrm>
          <a:prstGeom prst="ellipse">
            <a:avLst/>
          </a:prstGeom>
          <a:solidFill>
            <a:srgbClr val="28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799311" y="2051242"/>
            <a:ext cx="84062" cy="84062"/>
          </a:xfrm>
          <a:prstGeom prst="ellipse">
            <a:avLst/>
          </a:prstGeom>
          <a:solidFill>
            <a:srgbClr val="28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A0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749808"/>
            <a:ext cx="12188952" cy="27432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430000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173968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917936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661904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405872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149840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" y="73152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9100"/>
                </a:solidFill>
                <a:latin typeface="Trebuchet MS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" y="118872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Trebuchet MS"/>
              </a:rPr>
              <a:t>ANIMATION TECHNIQUES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-2286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00" b="1" i="0">
                <a:solidFill>
                  <a:srgbClr val="FF9100"/>
                </a:solidFill>
                <a:latin typeface="Trebuchet MS"/>
              </a:rPr>
              <a:t>03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2608" y="886968"/>
            <a:ext cx="3849624" cy="5687568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56032" y="850392"/>
            <a:ext cx="3849624" cy="5687568"/>
          </a:xfrm>
          <a:prstGeom prst="rect">
            <a:avLst/>
          </a:prstGeom>
          <a:solidFill>
            <a:srgbClr val="0E0E32"/>
          </a:solidFill>
          <a:ln w="5080"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56032" y="850392"/>
            <a:ext cx="54864" cy="568756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10896" y="850392"/>
            <a:ext cx="3794760" cy="2743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941832"/>
            <a:ext cx="3685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D2FF"/>
                </a:solidFill>
                <a:latin typeface="Trebuchet MS"/>
              </a:rPr>
              <a:t>CEL ANIMATION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1188720"/>
            <a:ext cx="3630168" cy="10972"/>
          </a:xfrm>
          <a:prstGeom prst="rect">
            <a:avLst/>
          </a:prstGeom>
          <a:solidFill>
            <a:srgbClr val="28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1225296"/>
            <a:ext cx="3685032" cy="5212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Traditional hand-drawn technique.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Drawings on transparent celluloid sheets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Each sheet = one frame layer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Photographed frame-by-frame on film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Allows background reuse (saves cost)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Colors applied to BACK of cel sheet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~12–24 unique cels per second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 b="1">
                <a:solidFill>
                  <a:srgbClr val="00D2FF"/>
                </a:solidFill>
                <a:latin typeface="Calibri"/>
              </a:rPr>
              <a:t>ERA: 1910s – 1990s</a:t>
            </a:r>
          </a:p>
          <a:p>
            <a:pPr>
              <a:spcBef>
                <a:spcPts val="100"/>
              </a:spcBef>
            </a:pPr>
            <a:r>
              <a:rPr sz="900" b="1">
                <a:solidFill>
                  <a:srgbClr val="00D2FF"/>
                </a:solidFill>
                <a:latin typeface="Calibri"/>
              </a:rPr>
              <a:t>TOOLS: Disney, Warner Bros, Toei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WORKFLOW: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Story → Storyboard → Layout →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Key Animation → Tweening →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Inking → Painting → Photography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70248" y="886968"/>
            <a:ext cx="3849624" cy="5687568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33672" y="850392"/>
            <a:ext cx="3849624" cy="5687568"/>
          </a:xfrm>
          <a:prstGeom prst="rect">
            <a:avLst/>
          </a:prstGeom>
          <a:solidFill>
            <a:srgbClr val="0E0E32"/>
          </a:solidFill>
          <a:ln w="5080"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233672" y="850392"/>
            <a:ext cx="54864" cy="5687568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88536" y="850392"/>
            <a:ext cx="3794760" cy="2743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43400" y="941832"/>
            <a:ext cx="3685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9100"/>
                </a:solidFill>
                <a:latin typeface="Trebuchet MS"/>
              </a:rPr>
              <a:t>PATH ANIMATION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43400" y="1188720"/>
            <a:ext cx="3630168" cy="10972"/>
          </a:xfrm>
          <a:prstGeom prst="rect">
            <a:avLst/>
          </a:prstGeom>
          <a:solidFill>
            <a:srgbClr val="28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43400" y="1225296"/>
            <a:ext cx="3685032" cy="5212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Object follows a predefined trajectory.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Animator defines the path shape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Object moves along it automatically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Supports straight lines &amp; Bezier curves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Object can resize/deform along path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Easing controls speed variation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 b="1">
                <a:solidFill>
                  <a:srgbClr val="FF9100"/>
                </a:solidFill>
                <a:latin typeface="Calibri"/>
              </a:rPr>
              <a:t>TOOLS: After Effects, CSS, SVG paths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 b="1">
                <a:solidFill>
                  <a:srgbClr val="FF9100"/>
                </a:solidFill>
                <a:latin typeface="Calibri"/>
              </a:rPr>
              <a:t>REAL EXAMPLES: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Logo reveal animations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Camera fly-through sequences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UI element transitions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Game projectile trajectories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47887" y="886968"/>
            <a:ext cx="3849624" cy="5687568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211311" y="850392"/>
            <a:ext cx="3849624" cy="5687568"/>
          </a:xfrm>
          <a:prstGeom prst="rect">
            <a:avLst/>
          </a:prstGeom>
          <a:solidFill>
            <a:srgbClr val="0E0E32"/>
          </a:solidFill>
          <a:ln w="5080"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211311" y="850392"/>
            <a:ext cx="54864" cy="5687568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266175" y="850392"/>
            <a:ext cx="3794760" cy="2743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21039" y="941832"/>
            <a:ext cx="3685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D573"/>
                </a:solidFill>
                <a:latin typeface="Trebuchet MS"/>
              </a:rPr>
              <a:t>COMPUTER ANIMATION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21039" y="1188720"/>
            <a:ext cx="3630168" cy="10972"/>
          </a:xfrm>
          <a:prstGeom prst="rect">
            <a:avLst/>
          </a:prstGeom>
          <a:solidFill>
            <a:srgbClr val="28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21039" y="1225296"/>
            <a:ext cx="3685032" cy="5212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Digital creation of moving images.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Can simulate cel &amp; path techniques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Plus: physics, particles, simulation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2D digital, 3D CG, or hybrid mix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Real-time OR pre-rendered output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Procedural &amp; AI-assisted animation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 b="1">
                <a:solidFill>
                  <a:srgbClr val="2ED573"/>
                </a:solidFill>
                <a:latin typeface="Calibri"/>
              </a:rPr>
              <a:t>ERA: 1980s – present</a:t>
            </a:r>
          </a:p>
          <a:p>
            <a:pPr>
              <a:spcBef>
                <a:spcPts val="100"/>
              </a:spcBef>
            </a:pPr>
            <a:r>
              <a:rPr sz="900" b="1">
                <a:solidFill>
                  <a:srgbClr val="2ED573"/>
                </a:solidFill>
                <a:latin typeface="Calibri"/>
              </a:rPr>
              <a:t>TOOLS: Pixar, DreamWorks, ILM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 b="1">
                <a:solidFill>
                  <a:srgbClr val="2ED573"/>
                </a:solidFill>
                <a:latin typeface="Calibri"/>
              </a:rPr>
              <a:t>REAL EXAMPLES: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Toy Story, Avengers VFX,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Fortnite, Hogwarts Legacy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fill="hold">
                <p:stCondLst>
                  <p:cond delay="200"/>
                </p:stCondLst>
                <p:childTnLst>
                  <p:par>
                    <p:cTn id="3" presetID="10" presetClass="entr" presetSubtype="0" fill="hold" grpId="0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4" dur="550"/>
                            <p:tgtEl>
                              <p:spTgt spid="39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5" dur="550"/>
                            <p:tgtEl>
                              <p:spTgt spid="39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delay="420"/>
                </p:stCondLst>
                <p:childTnLst>
                  <p:par>
                    <p:cTn id="7" presetID="10" presetClass="entr" presetSubtype="0" fill="hold" grpId="1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8" dur="550"/>
                            <p:tgtEl>
                              <p:spTgt spid="46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9" dur="550"/>
                            <p:tgtEl>
                              <p:spTgt spid="46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id="10" fill="hold">
                <p:stCondLst>
                  <p:cond delay="640"/>
                </p:stCondLst>
                <p:childTnLst>
                  <p:par>
                    <p:cTn id="11" presetID="10" presetClass="entr" presetSubtype="0" fill="hold" grpId="2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12" dur="550"/>
                            <p:tgtEl>
                              <p:spTgt spid="53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13" dur="550"/>
                            <p:tgtEl>
                              <p:spTgt spid="53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</p:childTnLst>
        </p:cTn>
      </p:par>
    </p:tnLst>
    <p:bldLst/>
  </p:timing>
  <p:transition spd="med" dur="500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973122" y="1705753"/>
            <a:ext cx="72288" cy="72288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0697" y="3959027"/>
            <a:ext cx="56639" cy="56639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1717" y="3792555"/>
            <a:ext cx="38633" cy="38633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258407" y="1231765"/>
            <a:ext cx="41552" cy="41552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151588" y="5661830"/>
            <a:ext cx="43368" cy="43368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95740" y="4494799"/>
            <a:ext cx="88571" cy="88571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937477" y="3144397"/>
            <a:ext cx="90137" cy="90137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28098" y="5846854"/>
            <a:ext cx="52465" cy="52465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71287" y="1512299"/>
            <a:ext cx="53500" cy="53500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735084" y="1880599"/>
            <a:ext cx="68484" cy="68484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60927" y="3002290"/>
            <a:ext cx="66627" cy="66627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7782" y="1171755"/>
            <a:ext cx="47875" cy="47875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146499" y="3325298"/>
            <a:ext cx="53811" cy="53811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36483" y="3475067"/>
            <a:ext cx="53022" cy="53022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480551" y="4913587"/>
            <a:ext cx="49968" cy="49968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06118" y="3896493"/>
            <a:ext cx="84589" cy="84589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20541" y="2508017"/>
            <a:ext cx="90352" cy="90352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64759" y="3269881"/>
            <a:ext cx="78115" cy="78115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961755" y="3684450"/>
            <a:ext cx="38727" cy="38727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03892" y="5297351"/>
            <a:ext cx="68014" cy="68014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A0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749808"/>
            <a:ext cx="12188952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430000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173968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917936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661904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405872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149840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" y="73152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D2FF"/>
                </a:solidFill>
                <a:latin typeface="Trebuchet MS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" y="118872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Trebuchet MS"/>
              </a:rPr>
              <a:t>TYPES — CEL ANIMATION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-2286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00" b="1" i="0">
                <a:solidFill>
                  <a:srgbClr val="00D2FF"/>
                </a:solidFill>
                <a:latin typeface="Trebuchet MS"/>
              </a:rPr>
              <a:t>04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822960"/>
            <a:ext cx="11676888" cy="365760"/>
          </a:xfrm>
          <a:prstGeom prst="rect">
            <a:avLst/>
          </a:prstGeom>
          <a:solidFill>
            <a:srgbClr val="0A0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56032" y="822960"/>
            <a:ext cx="50292" cy="3657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868680"/>
            <a:ext cx="11475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3CDE8"/>
                </a:solidFill>
                <a:latin typeface="Calibri"/>
              </a:rPr>
              <a:t>Named after CELLULOID — transparent plastic sheets invented in 1869. Developed ~1914 by Raoul Barre &amp; John Bray. Dominated animation for 80 years.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6032" y="1261872"/>
            <a:ext cx="11676888" cy="475488"/>
          </a:xfrm>
          <a:prstGeom prst="rect">
            <a:avLst/>
          </a:prstGeom>
          <a:solidFill>
            <a:srgbClr val="0A0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56032" y="1261872"/>
            <a:ext cx="50292" cy="47548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128016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E7DAA"/>
                </a:solidFill>
                <a:latin typeface="Calibri"/>
              </a:rPr>
              <a:t>KEYFRAME TIMELINE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1453896"/>
            <a:ext cx="11155680" cy="18288"/>
          </a:xfrm>
          <a:prstGeom prst="rect">
            <a:avLst/>
          </a:prstGeom>
          <a:solidFill>
            <a:srgbClr val="28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307592" y="1389888"/>
            <a:ext cx="128016" cy="12801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43584" y="1527048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D2FF"/>
                </a:solidFill>
                <a:latin typeface="Calibri"/>
              </a:rPr>
              <a:t>K1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07992" y="1389888"/>
            <a:ext cx="128016" cy="12801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43984" y="1527048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D2FF"/>
                </a:solidFill>
                <a:latin typeface="Calibri"/>
              </a:rPr>
              <a:t>K2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08392" y="1389888"/>
            <a:ext cx="128016" cy="12801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44383" y="1527048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D2FF"/>
                </a:solidFill>
                <a:latin typeface="Calibri"/>
              </a:rPr>
              <a:t>K3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908792" y="1389888"/>
            <a:ext cx="128016" cy="12801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844784" y="1527048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D2FF"/>
                </a:solidFill>
                <a:latin typeface="Calibri"/>
              </a:rPr>
              <a:t>K4</a:t>
            </a:r>
          </a:p>
        </p:txBody>
      </p:sp>
      <p:sp>
        <p:nvSpPr>
          <p:cNvPr id="49" name="Oval 48"/>
          <p:cNvSpPr/>
          <p:nvPr/>
        </p:nvSpPr>
        <p:spPr>
          <a:xfrm>
            <a:off x="1883664" y="1412748"/>
            <a:ext cx="73152" cy="73152"/>
          </a:xfrm>
          <a:prstGeom prst="ellipse">
            <a:avLst/>
          </a:prstGeom>
          <a:solidFill>
            <a:srgbClr val="006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340864" y="1412748"/>
            <a:ext cx="73152" cy="73152"/>
          </a:xfrm>
          <a:prstGeom prst="ellipse">
            <a:avLst/>
          </a:prstGeom>
          <a:solidFill>
            <a:srgbClr val="006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798064" y="1412748"/>
            <a:ext cx="73152" cy="73152"/>
          </a:xfrm>
          <a:prstGeom prst="ellipse">
            <a:avLst/>
          </a:prstGeom>
          <a:solidFill>
            <a:srgbClr val="006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255264" y="1412748"/>
            <a:ext cx="73152" cy="73152"/>
          </a:xfrm>
          <a:prstGeom prst="ellipse">
            <a:avLst/>
          </a:prstGeom>
          <a:solidFill>
            <a:srgbClr val="006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712463" y="1412748"/>
            <a:ext cx="73152" cy="73152"/>
          </a:xfrm>
          <a:prstGeom prst="ellipse">
            <a:avLst/>
          </a:prstGeom>
          <a:solidFill>
            <a:srgbClr val="006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169663" y="1412748"/>
            <a:ext cx="73152" cy="73152"/>
          </a:xfrm>
          <a:prstGeom prst="ellipse">
            <a:avLst/>
          </a:prstGeom>
          <a:solidFill>
            <a:srgbClr val="006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266944" y="1412748"/>
            <a:ext cx="73152" cy="73152"/>
          </a:xfrm>
          <a:prstGeom prst="ellipse">
            <a:avLst/>
          </a:prstGeom>
          <a:solidFill>
            <a:srgbClr val="006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724144" y="1412748"/>
            <a:ext cx="73152" cy="73152"/>
          </a:xfrm>
          <a:prstGeom prst="ellipse">
            <a:avLst/>
          </a:prstGeom>
          <a:solidFill>
            <a:srgbClr val="006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181344" y="1412748"/>
            <a:ext cx="73152" cy="73152"/>
          </a:xfrm>
          <a:prstGeom prst="ellipse">
            <a:avLst/>
          </a:prstGeom>
          <a:solidFill>
            <a:srgbClr val="006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638544" y="1412748"/>
            <a:ext cx="73152" cy="73152"/>
          </a:xfrm>
          <a:prstGeom prst="ellipse">
            <a:avLst/>
          </a:prstGeom>
          <a:solidFill>
            <a:srgbClr val="006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095744" y="1412748"/>
            <a:ext cx="73152" cy="73152"/>
          </a:xfrm>
          <a:prstGeom prst="ellipse">
            <a:avLst/>
          </a:prstGeom>
          <a:solidFill>
            <a:srgbClr val="006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375904" y="1412748"/>
            <a:ext cx="73152" cy="73152"/>
          </a:xfrm>
          <a:prstGeom prst="ellipse">
            <a:avLst/>
          </a:prstGeom>
          <a:solidFill>
            <a:srgbClr val="006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833104" y="1412748"/>
            <a:ext cx="73152" cy="73152"/>
          </a:xfrm>
          <a:prstGeom prst="ellipse">
            <a:avLst/>
          </a:prstGeom>
          <a:solidFill>
            <a:srgbClr val="006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9290304" y="1412748"/>
            <a:ext cx="73152" cy="73152"/>
          </a:xfrm>
          <a:prstGeom prst="ellipse">
            <a:avLst/>
          </a:prstGeom>
          <a:solidFill>
            <a:srgbClr val="006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9747504" y="1412748"/>
            <a:ext cx="73152" cy="73152"/>
          </a:xfrm>
          <a:prstGeom prst="ellipse">
            <a:avLst/>
          </a:prstGeom>
          <a:solidFill>
            <a:srgbClr val="006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204704" y="1412748"/>
            <a:ext cx="73152" cy="73152"/>
          </a:xfrm>
          <a:prstGeom prst="ellipse">
            <a:avLst/>
          </a:prstGeom>
          <a:solidFill>
            <a:srgbClr val="006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661904" y="1412748"/>
            <a:ext cx="73152" cy="73152"/>
          </a:xfrm>
          <a:prstGeom prst="ellipse">
            <a:avLst/>
          </a:prstGeom>
          <a:solidFill>
            <a:srgbClr val="006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43200" y="152704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6E7DAA"/>
                </a:solidFill>
                <a:latin typeface="Calibri"/>
              </a:rPr>
              <a:t>-- tweens --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760720" y="152704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6E7DAA"/>
                </a:solidFill>
                <a:latin typeface="Calibri"/>
              </a:rPr>
              <a:t>-- tweens --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78240" y="152704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6E7DAA"/>
                </a:solidFill>
                <a:latin typeface="Calibri"/>
              </a:rPr>
              <a:t>-- tweens --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92608" y="1847088"/>
            <a:ext cx="5687568" cy="2377440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56032" y="1810512"/>
            <a:ext cx="5687568" cy="2377440"/>
          </a:xfrm>
          <a:prstGeom prst="rect">
            <a:avLst/>
          </a:prstGeom>
          <a:solidFill>
            <a:srgbClr val="0E0E32"/>
          </a:solidFill>
          <a:ln w="5080"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56032" y="1810512"/>
            <a:ext cx="54864" cy="23774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10896" y="1810512"/>
            <a:ext cx="5632704" cy="2743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65760" y="1901952"/>
            <a:ext cx="5522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D2FF"/>
                </a:solidFill>
                <a:latin typeface="Trebuchet MS"/>
              </a:rPr>
              <a:t>CEL ANIMATION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65760" y="2148840"/>
            <a:ext cx="5468112" cy="10972"/>
          </a:xfrm>
          <a:prstGeom prst="rect">
            <a:avLst/>
          </a:prstGeom>
          <a:solidFill>
            <a:srgbClr val="28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65760" y="2185416"/>
            <a:ext cx="5522976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Transparent sheet per frame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Character on cel; BG separate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Cels stacked = final composite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Colors on BACK of cel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~12–24 unique cels per second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 b="1">
                <a:solidFill>
                  <a:srgbClr val="00D2FF"/>
                </a:solidFill>
                <a:latin typeface="Calibri"/>
              </a:rPr>
              <a:t>USED IN: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Tom &amp; Jerry, Snow White,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Akira, Dragon Ball Z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236208" y="1847088"/>
            <a:ext cx="5687568" cy="2377440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199632" y="1810512"/>
            <a:ext cx="5687568" cy="2377440"/>
          </a:xfrm>
          <a:prstGeom prst="rect">
            <a:avLst/>
          </a:prstGeom>
          <a:solidFill>
            <a:srgbClr val="0E0E32"/>
          </a:solidFill>
          <a:ln w="5080"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199632" y="1810512"/>
            <a:ext cx="54864" cy="237744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254496" y="1810512"/>
            <a:ext cx="5632704" cy="2743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309360" y="1901952"/>
            <a:ext cx="5522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9100"/>
                </a:solidFill>
                <a:latin typeface="Trebuchet MS"/>
              </a:rPr>
              <a:t>KEYFRAMES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309360" y="2148840"/>
            <a:ext cx="5468112" cy="10972"/>
          </a:xfrm>
          <a:prstGeom prst="rect">
            <a:avLst/>
          </a:prstGeom>
          <a:solidFill>
            <a:srgbClr val="28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309360" y="2185416"/>
            <a:ext cx="5522976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The 'anchor' frames of an action.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Show most extreme/critical poses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Drawn by SENIOR animators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Define timing &amp; structure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 b="1">
                <a:solidFill>
                  <a:srgbClr val="FF9100"/>
                </a:solidFill>
                <a:latin typeface="Calibri"/>
              </a:rPr>
              <a:t>EXAMPLES: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Frame 1  =  standing still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Frame 12 =  peak of jump  UP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Frame 24 =  landed safely DOWN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Modern software uses identical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keyframe concept on timelines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92608" y="4315968"/>
            <a:ext cx="5687568" cy="2377440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56032" y="4279392"/>
            <a:ext cx="5687568" cy="2377440"/>
          </a:xfrm>
          <a:prstGeom prst="rect">
            <a:avLst/>
          </a:prstGeom>
          <a:solidFill>
            <a:srgbClr val="0E0E32"/>
          </a:solidFill>
          <a:ln w="5080"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56032" y="4279392"/>
            <a:ext cx="54864" cy="237744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10896" y="4279392"/>
            <a:ext cx="5632704" cy="2743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65760" y="4370831"/>
            <a:ext cx="5522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D573"/>
                </a:solidFill>
                <a:latin typeface="Trebuchet MS"/>
              </a:rPr>
              <a:t>TWEENING (In-Betweening)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65760" y="4617720"/>
            <a:ext cx="5468112" cy="10972"/>
          </a:xfrm>
          <a:prstGeom prst="rect">
            <a:avLst/>
          </a:prstGeom>
          <a:solidFill>
            <a:srgbClr val="28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65760" y="4654296"/>
            <a:ext cx="5522976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Frames drawn BETWEEN keyframes.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Creates smooth motion transition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Done by JUNIOR animators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More tweens = smoother motion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At 24fps: ~22 tweens per action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 b="1">
                <a:solidFill>
                  <a:srgbClr val="2ED573"/>
                </a:solidFill>
                <a:latin typeface="Calibri"/>
              </a:rPr>
              <a:t>MODERN AUTO-TWEEN TOOLS: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Adobe Animate, Flash,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Toon Boom Harmony, After Effects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236208" y="4315968"/>
            <a:ext cx="5687568" cy="2377440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199632" y="4279392"/>
            <a:ext cx="5687568" cy="2377440"/>
          </a:xfrm>
          <a:prstGeom prst="rect">
            <a:avLst/>
          </a:prstGeom>
          <a:solidFill>
            <a:srgbClr val="0E0E32"/>
          </a:solidFill>
          <a:ln w="5080"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199632" y="4279392"/>
            <a:ext cx="54864" cy="2377440"/>
          </a:xfrm>
          <a:prstGeom prst="rect">
            <a:avLst/>
          </a:prstGeom>
          <a:solidFill>
            <a:srgbClr val="965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254496" y="4279392"/>
            <a:ext cx="5632704" cy="2743"/>
          </a:xfrm>
          <a:prstGeom prst="rect">
            <a:avLst/>
          </a:prstGeom>
          <a:solidFill>
            <a:srgbClr val="965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309360" y="4370831"/>
            <a:ext cx="5522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9650DC"/>
                </a:solidFill>
                <a:latin typeface="Trebuchet MS"/>
              </a:rPr>
              <a:t>PENCIL TEST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309360" y="4617720"/>
            <a:ext cx="5468112" cy="10972"/>
          </a:xfrm>
          <a:prstGeom prst="rect">
            <a:avLst/>
          </a:prstGeom>
          <a:solidFill>
            <a:srgbClr val="28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309360" y="4654296"/>
            <a:ext cx="5522976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Quick pre-production quality check.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Rough pencil sketches filmed first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Played back to check timing &amp; flow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Catches errors BEFORE expensive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  inking &amp; painting stages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Saves significant time &amp; money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 b="1">
                <a:solidFill>
                  <a:srgbClr val="9650DC"/>
                </a:solidFill>
                <a:latin typeface="Calibri"/>
              </a:rPr>
              <a:t>MODERN EQUIVALENT: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Animatic / rough-cut preview in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editing software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fill="hold">
                <p:stCondLst>
                  <p:cond delay="250"/>
                </p:stCondLst>
                <p:childTnLst>
                  <p:par>
                    <p:cTn id="3" presetID="10" presetClass="entr" presetSubtype="0" fill="hold" grpId="0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4" dur="550"/>
                            <p:tgtEl>
                              <p:spTgt spid="74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5" dur="550"/>
                            <p:tgtEl>
                              <p:spTgt spid="74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delay="430"/>
                </p:stCondLst>
                <p:childTnLst>
                  <p:par>
                    <p:cTn id="7" presetID="10" presetClass="entr" presetSubtype="0" fill="hold" grpId="1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8" dur="550"/>
                            <p:tgtEl>
                              <p:spTgt spid="81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9" dur="550"/>
                            <p:tgtEl>
                              <p:spTgt spid="81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id="10" fill="hold">
                <p:stCondLst>
                  <p:cond delay="610"/>
                </p:stCondLst>
                <p:childTnLst>
                  <p:par>
                    <p:cTn id="11" presetID="10" presetClass="entr" presetSubtype="0" fill="hold" grpId="2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12" dur="550"/>
                            <p:tgtEl>
                              <p:spTgt spid="88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13" dur="550"/>
                            <p:tgtEl>
                              <p:spTgt spid="88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id="14" fill="hold">
                <p:stCondLst>
                  <p:cond delay="790"/>
                </p:stCondLst>
                <p:childTnLst>
                  <p:par>
                    <p:cTn id="15" presetID="10" presetClass="entr" presetSubtype="0" fill="hold" grpId="3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16" dur="550"/>
                            <p:tgtEl>
                              <p:spTgt spid="95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17" dur="550"/>
                            <p:tgtEl>
                              <p:spTgt spid="95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</p:childTnLst>
        </p:cTn>
      </p:par>
    </p:tnLst>
    <p:bldLst/>
  </p:timing>
  <p:transition spd="med" dur="500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836317" y="6454464"/>
            <a:ext cx="43507" cy="43507"/>
          </a:xfrm>
          <a:prstGeom prst="ellipse">
            <a:avLst/>
          </a:prstGeom>
          <a:solidFill>
            <a:srgbClr val="321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32282" y="1321477"/>
            <a:ext cx="50151" cy="50151"/>
          </a:xfrm>
          <a:prstGeom prst="ellipse">
            <a:avLst/>
          </a:prstGeom>
          <a:solidFill>
            <a:srgbClr val="321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877000" y="2048388"/>
            <a:ext cx="71791" cy="71791"/>
          </a:xfrm>
          <a:prstGeom prst="ellipse">
            <a:avLst/>
          </a:prstGeom>
          <a:solidFill>
            <a:srgbClr val="321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556728" y="3474763"/>
            <a:ext cx="63732" cy="63732"/>
          </a:xfrm>
          <a:prstGeom prst="ellipse">
            <a:avLst/>
          </a:prstGeom>
          <a:solidFill>
            <a:srgbClr val="321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32811" y="5683303"/>
            <a:ext cx="41489" cy="41489"/>
          </a:xfrm>
          <a:prstGeom prst="ellipse">
            <a:avLst/>
          </a:prstGeom>
          <a:solidFill>
            <a:srgbClr val="321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23832" y="939952"/>
            <a:ext cx="51211" cy="51211"/>
          </a:xfrm>
          <a:prstGeom prst="ellipse">
            <a:avLst/>
          </a:prstGeom>
          <a:solidFill>
            <a:srgbClr val="321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954308" y="6101984"/>
            <a:ext cx="57373" cy="57373"/>
          </a:xfrm>
          <a:prstGeom prst="ellipse">
            <a:avLst/>
          </a:prstGeom>
          <a:solidFill>
            <a:srgbClr val="321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14023" y="2334904"/>
            <a:ext cx="90979" cy="90979"/>
          </a:xfrm>
          <a:prstGeom prst="ellipse">
            <a:avLst/>
          </a:prstGeom>
          <a:solidFill>
            <a:srgbClr val="321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21290" y="4452282"/>
            <a:ext cx="57270" cy="57270"/>
          </a:xfrm>
          <a:prstGeom prst="ellipse">
            <a:avLst/>
          </a:prstGeom>
          <a:solidFill>
            <a:srgbClr val="321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917599" y="2803556"/>
            <a:ext cx="74503" cy="74503"/>
          </a:xfrm>
          <a:prstGeom prst="ellipse">
            <a:avLst/>
          </a:prstGeom>
          <a:solidFill>
            <a:srgbClr val="321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006721" y="4625233"/>
            <a:ext cx="86029" cy="86029"/>
          </a:xfrm>
          <a:prstGeom prst="ellipse">
            <a:avLst/>
          </a:prstGeom>
          <a:solidFill>
            <a:srgbClr val="321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89369" y="1654774"/>
            <a:ext cx="40107" cy="40107"/>
          </a:xfrm>
          <a:prstGeom prst="ellipse">
            <a:avLst/>
          </a:prstGeom>
          <a:solidFill>
            <a:srgbClr val="321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255768" y="3682716"/>
            <a:ext cx="47211" cy="47211"/>
          </a:xfrm>
          <a:prstGeom prst="ellipse">
            <a:avLst/>
          </a:prstGeom>
          <a:solidFill>
            <a:srgbClr val="321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55685" y="4211137"/>
            <a:ext cx="76568" cy="76568"/>
          </a:xfrm>
          <a:prstGeom prst="ellipse">
            <a:avLst/>
          </a:prstGeom>
          <a:solidFill>
            <a:srgbClr val="321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493914" y="2494648"/>
            <a:ext cx="56145" cy="56145"/>
          </a:xfrm>
          <a:prstGeom prst="ellipse">
            <a:avLst/>
          </a:prstGeom>
          <a:solidFill>
            <a:srgbClr val="321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460168" y="1612859"/>
            <a:ext cx="78508" cy="78508"/>
          </a:xfrm>
          <a:prstGeom prst="ellipse">
            <a:avLst/>
          </a:prstGeom>
          <a:solidFill>
            <a:srgbClr val="321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25414" y="4862011"/>
            <a:ext cx="75098" cy="75098"/>
          </a:xfrm>
          <a:prstGeom prst="ellipse">
            <a:avLst/>
          </a:prstGeom>
          <a:solidFill>
            <a:srgbClr val="321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301980" y="5759215"/>
            <a:ext cx="64206" cy="64206"/>
          </a:xfrm>
          <a:prstGeom prst="ellipse">
            <a:avLst/>
          </a:prstGeom>
          <a:solidFill>
            <a:srgbClr val="321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A0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749808"/>
            <a:ext cx="12188952" cy="27432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430000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173968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917936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661904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405872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149840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" y="73152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9100"/>
                </a:solidFill>
                <a:latin typeface="Trebuchet M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" y="118872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Trebuchet MS"/>
              </a:rPr>
              <a:t>TYPES — PATH ANIMATION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-2286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00" b="1" i="0">
                <a:solidFill>
                  <a:srgbClr val="FF9100"/>
                </a:solidFill>
                <a:latin typeface="Trebuchet MS"/>
              </a:rPr>
              <a:t>04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" y="822960"/>
            <a:ext cx="11676888" cy="365760"/>
          </a:xfrm>
          <a:prstGeom prst="rect">
            <a:avLst/>
          </a:prstGeom>
          <a:solidFill>
            <a:srgbClr val="0A0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56032" y="822960"/>
            <a:ext cx="50292" cy="3657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868680"/>
            <a:ext cx="11475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3CDE8"/>
                </a:solidFill>
                <a:latin typeface="Calibri"/>
              </a:rPr>
              <a:t>An object moves along a PREDEFINED TRAJECTORY. The animator draws the path; software handles movement along it — with full control over timing and easing.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2608" y="1453896"/>
            <a:ext cx="5687568" cy="5138928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56032" y="1417320"/>
            <a:ext cx="5687568" cy="5138928"/>
          </a:xfrm>
          <a:prstGeom prst="rect">
            <a:avLst/>
          </a:prstGeom>
          <a:solidFill>
            <a:srgbClr val="0E0E32"/>
          </a:solidFill>
          <a:ln w="5080">
            <a:solidFill>
              <a:srgbClr val="1C1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56032" y="1417320"/>
            <a:ext cx="54864" cy="5138928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150876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9100"/>
                </a:solidFill>
                <a:latin typeface="Trebuchet MS"/>
              </a:rPr>
              <a:t>PATH TYPES &amp; CONTROLS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1792224"/>
            <a:ext cx="5486400" cy="10972"/>
          </a:xfrm>
          <a:prstGeom prst="rect">
            <a:avLst/>
          </a:prstGeom>
          <a:solidFill>
            <a:srgbClr val="28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1865376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C3C64"/>
                </a:solidFill>
                <a:latin typeface="Calibri"/>
              </a:rPr>
              <a:t>X  STRAIGHT LINE  (rigid / mechanical)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2148840"/>
            <a:ext cx="5029200" cy="27432"/>
          </a:xfrm>
          <a:prstGeom prst="rect">
            <a:avLst/>
          </a:prstGeom>
          <a:solidFill>
            <a:srgbClr val="B4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47472" y="2075688"/>
            <a:ext cx="219456" cy="219456"/>
          </a:xfrm>
          <a:prstGeom prst="ellipse">
            <a:avLst/>
          </a:prstGeom>
          <a:solidFill>
            <a:srgbClr val="DC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394960" y="2075688"/>
            <a:ext cx="219456" cy="219456"/>
          </a:xfrm>
          <a:prstGeom prst="ellipse">
            <a:avLst/>
          </a:prstGeom>
          <a:solidFill>
            <a:srgbClr val="DC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2359152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D573"/>
                </a:solidFill>
                <a:latin typeface="Calibri"/>
              </a:rPr>
              <a:t>BEZIER CURVE  (smooth / organic — preferred)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2834640"/>
            <a:ext cx="512064" cy="27432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50976" y="2620670"/>
            <a:ext cx="512064" cy="27432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444752" y="2454249"/>
            <a:ext cx="512064" cy="27432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938528" y="2335377"/>
            <a:ext cx="512064" cy="27432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432304" y="2264054"/>
            <a:ext cx="512064" cy="27432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926080" y="2240280"/>
            <a:ext cx="512064" cy="27432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419856" y="2264054"/>
            <a:ext cx="512063" cy="27432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913631" y="2335377"/>
            <a:ext cx="512064" cy="27432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407408" y="2454249"/>
            <a:ext cx="512064" cy="27432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901184" y="2620670"/>
            <a:ext cx="512064" cy="27432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65760" y="2743200"/>
            <a:ext cx="182880" cy="182880"/>
          </a:xfrm>
          <a:prstGeom prst="ellipse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349240" y="2743200"/>
            <a:ext cx="182880" cy="182880"/>
          </a:xfrm>
          <a:prstGeom prst="ellipse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828800" y="2258568"/>
            <a:ext cx="146304" cy="146304"/>
          </a:xfrm>
          <a:prstGeom prst="ellipse">
            <a:avLst/>
          </a:prstGeom>
          <a:solidFill>
            <a:srgbClr val="FFC864"/>
          </a:solidFill>
          <a:ln w="9525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657600" y="2258568"/>
            <a:ext cx="146304" cy="146304"/>
          </a:xfrm>
          <a:prstGeom prst="ellipse">
            <a:avLst/>
          </a:prstGeom>
          <a:solidFill>
            <a:srgbClr val="FFC864"/>
          </a:solidFill>
          <a:ln w="9525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57200" y="2816352"/>
            <a:ext cx="1481328" cy="13716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749039" y="2816352"/>
            <a:ext cx="1673352" cy="13716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645920" y="215798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6E7DAA"/>
                </a:solidFill>
                <a:latin typeface="Calibri"/>
              </a:rPr>
              <a:t>Control handles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2999232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E7DAA"/>
                </a:solidFill>
                <a:latin typeface="Calibri"/>
              </a:rPr>
              <a:t>Easing: Slow → Fast → Slow (gives weight)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" y="3246120"/>
            <a:ext cx="5394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95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C3CDE8"/>
                </a:solidFill>
                <a:latin typeface="Calibri"/>
              </a:rPr>
              <a:t>RESIZING &amp; RESHAPING: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C3CDE8"/>
                </a:solidFill>
                <a:latin typeface="Calibri"/>
              </a:rPr>
              <a:t>Object can scale as it travels the path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C3CDE8"/>
                </a:solidFill>
                <a:latin typeface="Calibri"/>
              </a:rPr>
              <a:t>(e.g., ball squashing on bounce impact)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50" b="1">
                <a:solidFill>
                  <a:srgbClr val="FF9100"/>
                </a:solidFill>
                <a:latin typeface="Calibri"/>
              </a:rPr>
              <a:t>TOOLS: After Effects • CSS • SVG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C3CDE8"/>
                </a:solidFill>
                <a:latin typeface="Calibri"/>
              </a:rPr>
              <a:t>        Unity NavMesh • Game engines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36208" y="1453896"/>
            <a:ext cx="5687568" cy="5138928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99632" y="1417320"/>
            <a:ext cx="5687568" cy="5138928"/>
          </a:xfrm>
          <a:prstGeom prst="rect">
            <a:avLst/>
          </a:prstGeom>
          <a:solidFill>
            <a:srgbClr val="0E0E32"/>
          </a:solidFill>
          <a:ln w="5080">
            <a:solidFill>
              <a:srgbClr val="1C1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99632" y="1417320"/>
            <a:ext cx="54864" cy="5138928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09360" y="150876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9100"/>
                </a:solidFill>
                <a:latin typeface="Trebuchet MS"/>
              </a:rPr>
              <a:t>HOW PATH ANIMATION WORKS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1792224"/>
            <a:ext cx="5486400" cy="10972"/>
          </a:xfrm>
          <a:prstGeom prst="rect">
            <a:avLst/>
          </a:prstGeom>
          <a:solidFill>
            <a:srgbClr val="28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27648" y="1874519"/>
            <a:ext cx="457200" cy="457200"/>
          </a:xfrm>
          <a:prstGeom prst="rect">
            <a:avLst/>
          </a:prstGeom>
          <a:solidFill>
            <a:srgbClr val="141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27648" y="1929384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D2FF"/>
                </a:solidFill>
                <a:latin typeface="Trebuchet MS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76288" y="196596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3CDE8"/>
                </a:solidFill>
                <a:latin typeface="Calibri"/>
              </a:rPr>
              <a:t>Draw the PATH — straight, Bezier, or freehand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27648" y="2633472"/>
            <a:ext cx="457200" cy="457200"/>
          </a:xfrm>
          <a:prstGeom prst="rect">
            <a:avLst/>
          </a:prstGeom>
          <a:solidFill>
            <a:srgbClr val="141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327648" y="2688336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9100"/>
                </a:solidFill>
                <a:latin typeface="Trebuchet MS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76288" y="272491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3CDE8"/>
                </a:solidFill>
                <a:latin typeface="Calibri"/>
              </a:rPr>
              <a:t>Set START and END points along the path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327648" y="3392424"/>
            <a:ext cx="457200" cy="457200"/>
          </a:xfrm>
          <a:prstGeom prst="rect">
            <a:avLst/>
          </a:prstGeom>
          <a:solidFill>
            <a:srgbClr val="141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327648" y="344728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D573"/>
                </a:solidFill>
                <a:latin typeface="Trebuchet MS"/>
              </a:rPr>
              <a:t>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76288" y="3483864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3CDE8"/>
                </a:solidFill>
                <a:latin typeface="Calibri"/>
              </a:rPr>
              <a:t>Define DURATION — travel time for the object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327648" y="4151375"/>
            <a:ext cx="457200" cy="457200"/>
          </a:xfrm>
          <a:prstGeom prst="rect">
            <a:avLst/>
          </a:prstGeom>
          <a:solidFill>
            <a:srgbClr val="141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327648" y="4206239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9650DC"/>
                </a:solidFill>
                <a:latin typeface="Trebuchet MS"/>
              </a:rPr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76288" y="4242815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3CDE8"/>
                </a:solidFill>
                <a:latin typeface="Calibri"/>
              </a:rPr>
              <a:t>Apply EASING — slow in, slow out (natural feel)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327648" y="4910327"/>
            <a:ext cx="457200" cy="457200"/>
          </a:xfrm>
          <a:prstGeom prst="rect">
            <a:avLst/>
          </a:prstGeom>
          <a:solidFill>
            <a:srgbClr val="141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327648" y="4965191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5AA0"/>
                </a:solidFill>
                <a:latin typeface="Trebuchet MS"/>
              </a:rPr>
              <a:t>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76288" y="5001767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3CDE8"/>
                </a:solidFill>
                <a:latin typeface="Calibri"/>
              </a:rPr>
              <a:t>Set ORIENTATION — face direction of travel?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327648" y="5669279"/>
            <a:ext cx="457200" cy="457200"/>
          </a:xfrm>
          <a:prstGeom prst="rect">
            <a:avLst/>
          </a:prstGeom>
          <a:solidFill>
            <a:srgbClr val="141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327648" y="5724143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D700"/>
                </a:solidFill>
                <a:latin typeface="Trebuchet MS"/>
              </a:rPr>
              <a:t>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876288" y="5760719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3CDE8"/>
                </a:solidFill>
                <a:latin typeface="Calibri"/>
              </a:rPr>
              <a:t>Preview, adjust keyframes, render final output</a:t>
            </a:r>
          </a:p>
        </p:txBody>
      </p:sp>
    </p:spTree>
  </p:cSld>
  <p:clrMapOvr>
    <a:masterClrMapping/>
  </p:clrMapOvr>
  <p:transition spd="med" dur="500">
    <p:push dir="l"/>
  </p:transition>
  <p:timing>
    <p:tnLst>
      <p:par>
        <p:cTn id="1" dur="indefinite" restart="whenNotActive" nodeType="tmRoot">
          <p:childTnLst>
            <p:par>
              <p:cTn id="2" fill="hold">
                <p:stCondLst>
                  <p:cond delay="300"/>
                </p:stCondLst>
                <p:childTnLst>
                  <p:par>
                    <p:cTn id="3" presetID="10" presetClass="entr" presetSubtype="0" fill="hold" grpId="0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4" dur="55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" fill="hold">
                <p:stCondLst>
                  <p:cond delay="600"/>
                </p:stCondLst>
                <p:childTnLst>
                  <p:par>
                    <p:cTn id="6" presetID="10" presetClass="entr" presetSubtype="0" fill="hold" grpId="1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7" dur="55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8" fill="hold">
                <p:stCondLst>
                  <p:cond delay="900"/>
                </p:stCondLst>
                <p:childTnLst>
                  <p:par>
                    <p:cTn id="9" presetID="10" presetClass="entr" presetSubtype="0" fill="hold" grpId="2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10" dur="550"/>
                            <p:tgtEl>
                              <p:spTgt spid="6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1" fill="hold">
                <p:stCondLst>
                  <p:cond delay="1200"/>
                </p:stCondLst>
                <p:childTnLst>
                  <p:par>
                    <p:cTn id="12" presetID="10" presetClass="entr" presetSubtype="0" fill="hold" grpId="3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13" dur="550"/>
                            <p:tgtEl>
                              <p:spTgt spid="6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  <p:bldLst/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02066" y="3007641"/>
            <a:ext cx="44176" cy="44176"/>
          </a:xfrm>
          <a:prstGeom prst="ellipse">
            <a:avLst/>
          </a:prstGeom>
          <a:solidFill>
            <a:srgbClr val="003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25397" y="860618"/>
            <a:ext cx="64160" cy="64160"/>
          </a:xfrm>
          <a:prstGeom prst="ellipse">
            <a:avLst/>
          </a:prstGeom>
          <a:solidFill>
            <a:srgbClr val="003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96846" y="1295900"/>
            <a:ext cx="66985" cy="66985"/>
          </a:xfrm>
          <a:prstGeom prst="ellipse">
            <a:avLst/>
          </a:prstGeom>
          <a:solidFill>
            <a:srgbClr val="003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00349" y="1062288"/>
            <a:ext cx="57370" cy="57370"/>
          </a:xfrm>
          <a:prstGeom prst="ellipse">
            <a:avLst/>
          </a:prstGeom>
          <a:solidFill>
            <a:srgbClr val="003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6639" y="3468258"/>
            <a:ext cx="76355" cy="76355"/>
          </a:xfrm>
          <a:prstGeom prst="ellipse">
            <a:avLst/>
          </a:prstGeom>
          <a:solidFill>
            <a:srgbClr val="003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22297" y="2215845"/>
            <a:ext cx="42663" cy="42663"/>
          </a:xfrm>
          <a:prstGeom prst="ellipse">
            <a:avLst/>
          </a:prstGeom>
          <a:solidFill>
            <a:srgbClr val="003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108414" y="6229359"/>
            <a:ext cx="68969" cy="68969"/>
          </a:xfrm>
          <a:prstGeom prst="ellipse">
            <a:avLst/>
          </a:prstGeom>
          <a:solidFill>
            <a:srgbClr val="003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44475" y="3068228"/>
            <a:ext cx="77509" cy="77509"/>
          </a:xfrm>
          <a:prstGeom prst="ellipse">
            <a:avLst/>
          </a:prstGeom>
          <a:solidFill>
            <a:srgbClr val="003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72851" y="2526980"/>
            <a:ext cx="73567" cy="73567"/>
          </a:xfrm>
          <a:prstGeom prst="ellipse">
            <a:avLst/>
          </a:prstGeom>
          <a:solidFill>
            <a:srgbClr val="003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76779" y="3291140"/>
            <a:ext cx="41388" cy="41388"/>
          </a:xfrm>
          <a:prstGeom prst="ellipse">
            <a:avLst/>
          </a:prstGeom>
          <a:solidFill>
            <a:srgbClr val="003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304815" y="2051270"/>
            <a:ext cx="52002" cy="52002"/>
          </a:xfrm>
          <a:prstGeom prst="ellipse">
            <a:avLst/>
          </a:prstGeom>
          <a:solidFill>
            <a:srgbClr val="003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57652" y="1990367"/>
            <a:ext cx="85207" cy="85207"/>
          </a:xfrm>
          <a:prstGeom prst="ellipse">
            <a:avLst/>
          </a:prstGeom>
          <a:solidFill>
            <a:srgbClr val="003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475345" y="1143596"/>
            <a:ext cx="57359" cy="57359"/>
          </a:xfrm>
          <a:prstGeom prst="ellipse">
            <a:avLst/>
          </a:prstGeom>
          <a:solidFill>
            <a:srgbClr val="003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938031" y="960387"/>
            <a:ext cx="59878" cy="59878"/>
          </a:xfrm>
          <a:prstGeom prst="ellipse">
            <a:avLst/>
          </a:prstGeom>
          <a:solidFill>
            <a:srgbClr val="003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791800" y="1478672"/>
            <a:ext cx="69321" cy="69321"/>
          </a:xfrm>
          <a:prstGeom prst="ellipse">
            <a:avLst/>
          </a:prstGeom>
          <a:solidFill>
            <a:srgbClr val="003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601823" y="4209606"/>
            <a:ext cx="85695" cy="85695"/>
          </a:xfrm>
          <a:prstGeom prst="ellipse">
            <a:avLst/>
          </a:prstGeom>
          <a:solidFill>
            <a:srgbClr val="003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559479" y="871255"/>
            <a:ext cx="41157" cy="41157"/>
          </a:xfrm>
          <a:prstGeom prst="ellipse">
            <a:avLst/>
          </a:prstGeom>
          <a:solidFill>
            <a:srgbClr val="003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00514" y="925167"/>
            <a:ext cx="41230" cy="41230"/>
          </a:xfrm>
          <a:prstGeom prst="ellipse">
            <a:avLst/>
          </a:prstGeom>
          <a:solidFill>
            <a:srgbClr val="003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96903" y="6212368"/>
            <a:ext cx="59624" cy="59624"/>
          </a:xfrm>
          <a:prstGeom prst="ellipse">
            <a:avLst/>
          </a:prstGeom>
          <a:solidFill>
            <a:srgbClr val="003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42777" y="4560837"/>
            <a:ext cx="41701" cy="41701"/>
          </a:xfrm>
          <a:prstGeom prst="ellipse">
            <a:avLst/>
          </a:prstGeom>
          <a:solidFill>
            <a:srgbClr val="003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A0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749808"/>
            <a:ext cx="12188952" cy="27432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430000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173968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917936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661904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405872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149840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" y="73152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ED573"/>
                </a:solidFill>
                <a:latin typeface="Trebuchet MS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" y="118872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Trebuchet MS"/>
              </a:rPr>
              <a:t>COMPUTER ANIMATION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-2286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00" b="1" i="0">
                <a:solidFill>
                  <a:srgbClr val="2ED573"/>
                </a:solidFill>
                <a:latin typeface="Trebuchet MS"/>
              </a:rPr>
              <a:t>05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822960"/>
            <a:ext cx="11676888" cy="365760"/>
          </a:xfrm>
          <a:prstGeom prst="rect">
            <a:avLst/>
          </a:prstGeom>
          <a:solidFill>
            <a:srgbClr val="0A0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56032" y="822960"/>
            <a:ext cx="50292" cy="3657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868680"/>
            <a:ext cx="11475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3CDE8"/>
                </a:solidFill>
                <a:latin typeface="Calibri"/>
              </a:rPr>
              <a:t>Computer animation uses software to create motion — producing effects impossible by hand. Revolutionized the industry from the 1980s onward.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0" y="1389888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D700"/>
                </a:solidFill>
                <a:latin typeface="Trebuchet MS"/>
              </a:rPr>
              <a:t>TRADITIONAL CEL  vs  COMPUTER ANIMATION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2608" y="1847088"/>
            <a:ext cx="5394960" cy="4754880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56032" y="1810512"/>
            <a:ext cx="5394960" cy="4754880"/>
          </a:xfrm>
          <a:prstGeom prst="rect">
            <a:avLst/>
          </a:prstGeom>
          <a:solidFill>
            <a:srgbClr val="0E0E32"/>
          </a:solidFill>
          <a:ln w="5080">
            <a:solidFill>
              <a:srgbClr val="1C1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56032" y="1810512"/>
            <a:ext cx="5394960" cy="384048"/>
          </a:xfrm>
          <a:prstGeom prst="rect">
            <a:avLst/>
          </a:prstGeom>
          <a:solidFill>
            <a:srgbClr val="00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9184" y="1865376"/>
            <a:ext cx="5248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2FF"/>
                </a:solidFill>
                <a:latin typeface="Trebuchet MS"/>
              </a:rPr>
              <a:t>CEL ANIMATION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2267712"/>
            <a:ext cx="5257800" cy="329184"/>
          </a:xfrm>
          <a:prstGeom prst="rect">
            <a:avLst/>
          </a:prstGeom>
          <a:solidFill>
            <a:srgbClr val="101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2286000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3CDE8"/>
                </a:solidFill>
                <a:latin typeface="Calibri"/>
              </a:rPr>
              <a:t>Hand-drawn on physical celluloid sheets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2615184"/>
            <a:ext cx="5257800" cy="329184"/>
          </a:xfrm>
          <a:prstGeom prst="rect">
            <a:avLst/>
          </a:prstGeom>
          <a:solidFill>
            <a:srgbClr val="141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2633472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3CDE8"/>
                </a:solidFill>
                <a:latin typeface="Calibri"/>
              </a:rPr>
              <a:t>Every frame drawn manually — very slow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2962656"/>
            <a:ext cx="5257800" cy="329184"/>
          </a:xfrm>
          <a:prstGeom prst="rect">
            <a:avLst/>
          </a:prstGeom>
          <a:solidFill>
            <a:srgbClr val="101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2980944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3CDE8"/>
                </a:solidFill>
                <a:latin typeface="Calibri"/>
              </a:rPr>
              <a:t>Physical storage: film cans &amp; warehouses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3310128"/>
            <a:ext cx="5257800" cy="329184"/>
          </a:xfrm>
          <a:prstGeom prst="rect">
            <a:avLst/>
          </a:prstGeom>
          <a:solidFill>
            <a:srgbClr val="141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3328416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3CDE8"/>
                </a:solidFill>
                <a:latin typeface="Calibri"/>
              </a:rPr>
              <a:t>Expensive: cels, paint, camera lab costs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3657600"/>
            <a:ext cx="5257800" cy="329184"/>
          </a:xfrm>
          <a:prstGeom prst="rect">
            <a:avLst/>
          </a:prstGeom>
          <a:solidFill>
            <a:srgbClr val="101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1480" y="3675887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3CDE8"/>
                </a:solidFill>
                <a:latin typeface="Calibri"/>
              </a:rPr>
              <a:t>Difficult to modify finished frames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4005072"/>
            <a:ext cx="5257800" cy="329184"/>
          </a:xfrm>
          <a:prstGeom prst="rect">
            <a:avLst/>
          </a:prstGeom>
          <a:solidFill>
            <a:srgbClr val="141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480" y="4023360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3CDE8"/>
                </a:solidFill>
                <a:latin typeface="Calibri"/>
              </a:rPr>
              <a:t>Organic hand-crafted visual warmth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4352544"/>
            <a:ext cx="5257800" cy="329184"/>
          </a:xfrm>
          <a:prstGeom prst="rect">
            <a:avLst/>
          </a:prstGeom>
          <a:solidFill>
            <a:srgbClr val="101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4370832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3CDE8"/>
                </a:solidFill>
                <a:latin typeface="Calibri"/>
              </a:rPr>
              <a:t>Production: months per 1 minute of film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69280" y="3108960"/>
            <a:ext cx="850392" cy="1005840"/>
          </a:xfrm>
          <a:prstGeom prst="rect">
            <a:avLst/>
          </a:prstGeom>
          <a:solidFill>
            <a:srgbClr val="1E1405"/>
          </a:solidFill>
          <a:ln w="1270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669280" y="3246120"/>
            <a:ext cx="8503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9100"/>
                </a:solidFill>
                <a:latin typeface="Trebuchet MS"/>
              </a:rPr>
              <a:t>VS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74536" y="1847088"/>
            <a:ext cx="5394960" cy="4754880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537960" y="1810512"/>
            <a:ext cx="5394960" cy="4754880"/>
          </a:xfrm>
          <a:prstGeom prst="rect">
            <a:avLst/>
          </a:prstGeom>
          <a:solidFill>
            <a:srgbClr val="0E0E32"/>
          </a:solidFill>
          <a:ln w="5080">
            <a:solidFill>
              <a:srgbClr val="1C1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537960" y="1810512"/>
            <a:ext cx="5394960" cy="384048"/>
          </a:xfrm>
          <a:prstGeom prst="rect">
            <a:avLst/>
          </a:prstGeom>
          <a:solidFill>
            <a:srgbClr val="053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611112" y="1865376"/>
            <a:ext cx="5248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D573"/>
                </a:solidFill>
                <a:latin typeface="Trebuchet MS"/>
              </a:rPr>
              <a:t>COMPUTER ANIMATION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601968" y="2267712"/>
            <a:ext cx="5257800" cy="329184"/>
          </a:xfrm>
          <a:prstGeom prst="rect">
            <a:avLst/>
          </a:prstGeom>
          <a:solidFill>
            <a:srgbClr val="101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693408" y="2286000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D573"/>
                </a:solidFill>
                <a:latin typeface="Calibri"/>
              </a:rPr>
              <a:t>CHECK  CREATED entirely within digital software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601968" y="2615184"/>
            <a:ext cx="5257800" cy="329184"/>
          </a:xfrm>
          <a:prstGeom prst="rect">
            <a:avLst/>
          </a:prstGeom>
          <a:solidFill>
            <a:srgbClr val="141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693408" y="2633472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D573"/>
                </a:solidFill>
                <a:latin typeface="Calibri"/>
              </a:rPr>
              <a:t>CHECK  Automation handles tweens &amp; physics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601968" y="2962656"/>
            <a:ext cx="5257800" cy="329184"/>
          </a:xfrm>
          <a:prstGeom prst="rect">
            <a:avLst/>
          </a:prstGeom>
          <a:solidFill>
            <a:srgbClr val="101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93408" y="2980944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D573"/>
                </a:solidFill>
                <a:latin typeface="Calibri"/>
              </a:rPr>
              <a:t>CHECK  Digital files — backup &amp; share instantly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601968" y="3310128"/>
            <a:ext cx="5257800" cy="329184"/>
          </a:xfrm>
          <a:prstGeom prst="rect">
            <a:avLst/>
          </a:prstGeom>
          <a:solidFill>
            <a:srgbClr val="141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693408" y="3328416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D573"/>
                </a:solidFill>
                <a:latin typeface="Calibri"/>
              </a:rPr>
              <a:t>CHECK  One-time software cost; no consumables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601968" y="3657600"/>
            <a:ext cx="5257800" cy="329184"/>
          </a:xfrm>
          <a:prstGeom prst="rect">
            <a:avLst/>
          </a:prstGeom>
          <a:solidFill>
            <a:srgbClr val="101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693408" y="3675887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D573"/>
                </a:solidFill>
                <a:latin typeface="Calibri"/>
              </a:rPr>
              <a:t>CHECK  Copy, adjust, modify any frame instantly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601968" y="4005072"/>
            <a:ext cx="5257800" cy="329184"/>
          </a:xfrm>
          <a:prstGeom prst="rect">
            <a:avLst/>
          </a:prstGeom>
          <a:solidFill>
            <a:srgbClr val="141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693408" y="4023360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D573"/>
                </a:solidFill>
                <a:latin typeface="Calibri"/>
              </a:rPr>
              <a:t>CHECK  Any style: toon to photorealistic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601968" y="4352544"/>
            <a:ext cx="5257800" cy="329184"/>
          </a:xfrm>
          <a:prstGeom prst="rect">
            <a:avLst/>
          </a:prstGeom>
          <a:solidFill>
            <a:srgbClr val="101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693408" y="4370832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D573"/>
                </a:solidFill>
                <a:latin typeface="Calibri"/>
              </a:rPr>
              <a:t>CHECK  Real-time previews; much faster pipeline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fill="hold">
                <p:stCondLst>
                  <p:cond delay="200"/>
                </p:stCondLst>
                <p:childTnLst>
                  <p:par>
                    <p:cTn id="3" presetID="10" presetClass="entr" presetSubtype="0" fill="hold" grpId="0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4" dur="550"/>
                            <p:tgtEl>
                              <p:spTgt spid="39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5" dur="550"/>
                            <p:tgtEl>
                              <p:spTgt spid="39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delay="500"/>
                </p:stCondLst>
                <p:childTnLst>
                  <p:par>
                    <p:cTn id="7" presetID="10" presetClass="entr" presetSubtype="0" fill="hold" grpId="1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8" dur="550"/>
                            <p:tgtEl>
                              <p:spTgt spid="59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9" dur="550"/>
                            <p:tgtEl>
                              <p:spTgt spid="59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</p:childTnLst>
        </p:cTn>
      </p:par>
    </p:tnLst>
    <p:bldLst/>
  </p:timing>
  <p:transition spd="med" dur="500">
    <p:push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70758" y="3332887"/>
            <a:ext cx="68292" cy="68292"/>
          </a:xfrm>
          <a:prstGeom prst="ellipse">
            <a:avLst/>
          </a:prstGeom>
          <a:solidFill>
            <a:srgbClr val="003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95119" y="5582646"/>
            <a:ext cx="81761" cy="81761"/>
          </a:xfrm>
          <a:prstGeom prst="ellipse">
            <a:avLst/>
          </a:prstGeom>
          <a:solidFill>
            <a:srgbClr val="003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31331" y="1760649"/>
            <a:ext cx="65142" cy="65142"/>
          </a:xfrm>
          <a:prstGeom prst="ellipse">
            <a:avLst/>
          </a:prstGeom>
          <a:solidFill>
            <a:srgbClr val="003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019237" y="2285980"/>
            <a:ext cx="88851" cy="88851"/>
          </a:xfrm>
          <a:prstGeom prst="ellipse">
            <a:avLst/>
          </a:prstGeom>
          <a:solidFill>
            <a:srgbClr val="003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46901" y="1083711"/>
            <a:ext cx="83767" cy="83767"/>
          </a:xfrm>
          <a:prstGeom prst="ellipse">
            <a:avLst/>
          </a:prstGeom>
          <a:solidFill>
            <a:srgbClr val="003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242815" y="3056179"/>
            <a:ext cx="52136" cy="52136"/>
          </a:xfrm>
          <a:prstGeom prst="ellipse">
            <a:avLst/>
          </a:prstGeom>
          <a:solidFill>
            <a:srgbClr val="003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82884" y="3496408"/>
            <a:ext cx="74205" cy="74205"/>
          </a:xfrm>
          <a:prstGeom prst="ellipse">
            <a:avLst/>
          </a:prstGeom>
          <a:solidFill>
            <a:srgbClr val="003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929341" y="1601169"/>
            <a:ext cx="78702" cy="78702"/>
          </a:xfrm>
          <a:prstGeom prst="ellipse">
            <a:avLst/>
          </a:prstGeom>
          <a:solidFill>
            <a:srgbClr val="003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681359" y="6495974"/>
            <a:ext cx="70225" cy="70225"/>
          </a:xfrm>
          <a:prstGeom prst="ellipse">
            <a:avLst/>
          </a:prstGeom>
          <a:solidFill>
            <a:srgbClr val="003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00920" y="846691"/>
            <a:ext cx="43926" cy="43926"/>
          </a:xfrm>
          <a:prstGeom prst="ellipse">
            <a:avLst/>
          </a:prstGeom>
          <a:solidFill>
            <a:srgbClr val="003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196671" y="2595348"/>
            <a:ext cx="56664" cy="56664"/>
          </a:xfrm>
          <a:prstGeom prst="ellipse">
            <a:avLst/>
          </a:prstGeom>
          <a:solidFill>
            <a:srgbClr val="003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5656" y="2662667"/>
            <a:ext cx="66695" cy="66695"/>
          </a:xfrm>
          <a:prstGeom prst="ellipse">
            <a:avLst/>
          </a:prstGeom>
          <a:solidFill>
            <a:srgbClr val="003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286325" y="1203316"/>
            <a:ext cx="68646" cy="68646"/>
          </a:xfrm>
          <a:prstGeom prst="ellipse">
            <a:avLst/>
          </a:prstGeom>
          <a:solidFill>
            <a:srgbClr val="003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62120" y="1738348"/>
            <a:ext cx="48881" cy="48881"/>
          </a:xfrm>
          <a:prstGeom prst="ellipse">
            <a:avLst/>
          </a:prstGeom>
          <a:solidFill>
            <a:srgbClr val="003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015245" y="1039050"/>
            <a:ext cx="63821" cy="63821"/>
          </a:xfrm>
          <a:prstGeom prst="ellipse">
            <a:avLst/>
          </a:prstGeom>
          <a:solidFill>
            <a:srgbClr val="003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756813" y="4673043"/>
            <a:ext cx="65845" cy="65845"/>
          </a:xfrm>
          <a:prstGeom prst="ellipse">
            <a:avLst/>
          </a:prstGeom>
          <a:solidFill>
            <a:srgbClr val="003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191545" y="1698958"/>
            <a:ext cx="67696" cy="67696"/>
          </a:xfrm>
          <a:prstGeom prst="ellipse">
            <a:avLst/>
          </a:prstGeom>
          <a:solidFill>
            <a:srgbClr val="003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62341" y="4341890"/>
            <a:ext cx="42771" cy="42771"/>
          </a:xfrm>
          <a:prstGeom prst="ellipse">
            <a:avLst/>
          </a:prstGeom>
          <a:solidFill>
            <a:srgbClr val="003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59728" y="1388312"/>
            <a:ext cx="45703" cy="45703"/>
          </a:xfrm>
          <a:prstGeom prst="ellipse">
            <a:avLst/>
          </a:prstGeom>
          <a:solidFill>
            <a:srgbClr val="003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33530" y="6369016"/>
            <a:ext cx="60344" cy="60344"/>
          </a:xfrm>
          <a:prstGeom prst="ellipse">
            <a:avLst/>
          </a:prstGeom>
          <a:solidFill>
            <a:srgbClr val="003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A0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749808"/>
            <a:ext cx="12188952" cy="27432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430000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173968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917936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661904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405872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149840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" y="73152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ED573"/>
                </a:solidFill>
                <a:latin typeface="Trebuchet MS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" y="118872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Trebuchet MS"/>
              </a:rPr>
              <a:t>KINEMATICS &amp; MORPHING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-2286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00" b="1" i="0">
                <a:solidFill>
                  <a:srgbClr val="2ED573"/>
                </a:solidFill>
                <a:latin typeface="Trebuchet MS"/>
              </a:rPr>
              <a:t>05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2608" y="886968"/>
            <a:ext cx="3849624" cy="5687568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56032" y="850392"/>
            <a:ext cx="3849624" cy="5687568"/>
          </a:xfrm>
          <a:prstGeom prst="rect">
            <a:avLst/>
          </a:prstGeom>
          <a:solidFill>
            <a:srgbClr val="0E0E32"/>
          </a:solidFill>
          <a:ln w="5080">
            <a:solidFill>
              <a:srgbClr val="1C1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56032" y="850392"/>
            <a:ext cx="54864" cy="568756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94183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D2FF"/>
                </a:solidFill>
                <a:latin typeface="Trebuchet MS"/>
              </a:rPr>
              <a:t>FORWARD KINEMATICS (FK)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1225296"/>
            <a:ext cx="3657600" cy="10972"/>
          </a:xfrm>
          <a:prstGeom prst="rect">
            <a:avLst/>
          </a:prstGeom>
          <a:solidFill>
            <a:srgbClr val="28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901952" y="1170432"/>
            <a:ext cx="365760" cy="365760"/>
          </a:xfrm>
          <a:prstGeom prst="ellipse">
            <a:avLst/>
          </a:prstGeom>
          <a:solidFill>
            <a:srgbClr val="141440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56232" y="126187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00D2FF"/>
                </a:solidFill>
                <a:latin typeface="Calibri"/>
              </a:rPr>
              <a:t>SHOULDER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057400" y="1536192"/>
            <a:ext cx="54864" cy="34747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901952" y="1700784"/>
            <a:ext cx="365760" cy="365760"/>
          </a:xfrm>
          <a:prstGeom prst="ellipse">
            <a:avLst/>
          </a:prstGeom>
          <a:solidFill>
            <a:srgbClr val="141440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856232" y="179222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00D2FF"/>
                </a:solidFill>
                <a:latin typeface="Calibri"/>
              </a:rPr>
              <a:t>ELBOW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57400" y="2066544"/>
            <a:ext cx="54864" cy="34747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901952" y="2231135"/>
            <a:ext cx="365760" cy="365760"/>
          </a:xfrm>
          <a:prstGeom prst="ellipse">
            <a:avLst/>
          </a:prstGeom>
          <a:solidFill>
            <a:srgbClr val="141440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856232" y="2322575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00D2FF"/>
                </a:solidFill>
                <a:latin typeface="Calibri"/>
              </a:rPr>
              <a:t>WRIST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2944368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Animating from PARENT to CHILD joint.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 b="1">
                <a:solidFill>
                  <a:srgbClr val="00D2FF"/>
                </a:solidFill>
                <a:latin typeface="Calibri"/>
              </a:rPr>
              <a:t>HOW IT WORKS: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Move SHOULDER ==&gt;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Elbow follows automatically ==&gt;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Wrist follows elbow ==&gt;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Finger follows wrist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 b="1">
                <a:solidFill>
                  <a:srgbClr val="00D2FF"/>
                </a:solidFill>
                <a:latin typeface="Calibri"/>
              </a:rPr>
              <a:t>ANALOGY: A puppet — control the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parent; all children follow in chain.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 b="1">
                <a:solidFill>
                  <a:srgbClr val="00D2FF"/>
                </a:solidFill>
                <a:latin typeface="Calibri"/>
              </a:rPr>
              <a:t>BEST FOR: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Mechanical / robotic arms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Waving &amp; swinging motions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Tail &amp; tentacle animation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70248" y="886968"/>
            <a:ext cx="3849624" cy="5687568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233672" y="850392"/>
            <a:ext cx="3849624" cy="5687568"/>
          </a:xfrm>
          <a:prstGeom prst="rect">
            <a:avLst/>
          </a:prstGeom>
          <a:solidFill>
            <a:srgbClr val="0E0E32"/>
          </a:solidFill>
          <a:ln w="5080">
            <a:solidFill>
              <a:srgbClr val="1C1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233672" y="850392"/>
            <a:ext cx="54864" cy="5687568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43400" y="94183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9100"/>
                </a:solidFill>
                <a:latin typeface="Trebuchet MS"/>
              </a:rPr>
              <a:t>INVERSE KINEMATICS (IK)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43400" y="1225296"/>
            <a:ext cx="3657600" cy="10972"/>
          </a:xfrm>
          <a:prstGeom prst="rect">
            <a:avLst/>
          </a:prstGeom>
          <a:solidFill>
            <a:srgbClr val="28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879592" y="1170432"/>
            <a:ext cx="365760" cy="365760"/>
          </a:xfrm>
          <a:prstGeom prst="ellipse">
            <a:avLst/>
          </a:prstGeom>
          <a:solidFill>
            <a:srgbClr val="141440"/>
          </a:solidFill>
          <a:ln w="1905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833872" y="126187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9100"/>
                </a:solidFill>
                <a:latin typeface="Calibri"/>
              </a:rPr>
              <a:t>SHOULDER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35040" y="1536192"/>
            <a:ext cx="54864" cy="347472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879592" y="1700784"/>
            <a:ext cx="365760" cy="365760"/>
          </a:xfrm>
          <a:prstGeom prst="ellipse">
            <a:avLst/>
          </a:prstGeom>
          <a:solidFill>
            <a:srgbClr val="141440"/>
          </a:solidFill>
          <a:ln w="1905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833872" y="179222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9100"/>
                </a:solidFill>
                <a:latin typeface="Calibri"/>
              </a:rPr>
              <a:t>ELBOW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35040" y="2066544"/>
            <a:ext cx="54864" cy="347472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879592" y="2231135"/>
            <a:ext cx="365760" cy="365760"/>
          </a:xfrm>
          <a:prstGeom prst="ellipse">
            <a:avLst/>
          </a:prstGeom>
          <a:solidFill>
            <a:srgbClr val="141440"/>
          </a:solidFill>
          <a:ln w="1905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833872" y="2322575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9100"/>
                </a:solidFill>
                <a:latin typeface="Calibri"/>
              </a:rPr>
              <a:t>WRIST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742432" y="3108960"/>
            <a:ext cx="640080" cy="320040"/>
          </a:xfrm>
          <a:prstGeom prst="rect">
            <a:avLst/>
          </a:prstGeom>
          <a:solidFill>
            <a:srgbClr val="281405"/>
          </a:solidFill>
          <a:ln w="1270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742432" y="3127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9100"/>
                </a:solidFill>
                <a:latin typeface="Calibri"/>
              </a:rPr>
              <a:t>TARGET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43400" y="2944368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Reverse of FK — move END POINT;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the chain auto-adjusts.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 b="1">
                <a:solidFill>
                  <a:srgbClr val="FF9100"/>
                </a:solidFill>
                <a:latin typeface="Calibri"/>
              </a:rPr>
              <a:t>HOW IT WORKS: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Move HAND position ==&gt;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Software calculates elbow ==&gt;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And shoulder automatically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 b="1">
                <a:solidFill>
                  <a:srgbClr val="FF9100"/>
                </a:solidFill>
                <a:latin typeface="Calibri"/>
              </a:rPr>
              <a:t>ANALOGY: Reaching for a cup —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you aim your hand; body figures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out the rest automatically.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 b="1">
                <a:solidFill>
                  <a:srgbClr val="FF9100"/>
                </a:solidFill>
                <a:latin typeface="Calibri"/>
              </a:rPr>
              <a:t>BEST FOR: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Character walking &amp; running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Reaching &amp; grabbing actions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247887" y="886968"/>
            <a:ext cx="3849624" cy="5687568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211311" y="850392"/>
            <a:ext cx="3849624" cy="5687568"/>
          </a:xfrm>
          <a:prstGeom prst="rect">
            <a:avLst/>
          </a:prstGeom>
          <a:solidFill>
            <a:srgbClr val="0E0E32"/>
          </a:solidFill>
          <a:ln w="5080">
            <a:solidFill>
              <a:srgbClr val="1C1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211311" y="850392"/>
            <a:ext cx="54864" cy="5687568"/>
          </a:xfrm>
          <a:prstGeom prst="rect">
            <a:avLst/>
          </a:prstGeom>
          <a:solidFill>
            <a:srgbClr val="965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321039" y="94183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9650DC"/>
                </a:solidFill>
                <a:latin typeface="Trebuchet MS"/>
              </a:rPr>
              <a:t>MORPHING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321039" y="1225296"/>
            <a:ext cx="3657600" cy="10972"/>
          </a:xfrm>
          <a:prstGeom prst="rect">
            <a:avLst/>
          </a:prstGeom>
          <a:solidFill>
            <a:srgbClr val="28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857232" y="1170432"/>
            <a:ext cx="365760" cy="365760"/>
          </a:xfrm>
          <a:prstGeom prst="ellipse">
            <a:avLst/>
          </a:prstGeom>
          <a:solidFill>
            <a:srgbClr val="141440"/>
          </a:solidFill>
          <a:ln w="19050">
            <a:solidFill>
              <a:srgbClr val="965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811511" y="126187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9650DC"/>
                </a:solidFill>
                <a:latin typeface="Calibri"/>
              </a:rPr>
              <a:t>SHOULDER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012680" y="1536192"/>
            <a:ext cx="54864" cy="347472"/>
          </a:xfrm>
          <a:prstGeom prst="rect">
            <a:avLst/>
          </a:prstGeom>
          <a:solidFill>
            <a:srgbClr val="965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857232" y="1700784"/>
            <a:ext cx="365760" cy="365760"/>
          </a:xfrm>
          <a:prstGeom prst="ellipse">
            <a:avLst/>
          </a:prstGeom>
          <a:solidFill>
            <a:srgbClr val="141440"/>
          </a:solidFill>
          <a:ln w="19050">
            <a:solidFill>
              <a:srgbClr val="965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811511" y="179222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9650DC"/>
                </a:solidFill>
                <a:latin typeface="Calibri"/>
              </a:rPr>
              <a:t>ELBOW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012680" y="2066544"/>
            <a:ext cx="54864" cy="347472"/>
          </a:xfrm>
          <a:prstGeom prst="rect">
            <a:avLst/>
          </a:prstGeom>
          <a:solidFill>
            <a:srgbClr val="965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857232" y="2231135"/>
            <a:ext cx="365760" cy="365760"/>
          </a:xfrm>
          <a:prstGeom prst="ellipse">
            <a:avLst/>
          </a:prstGeom>
          <a:solidFill>
            <a:srgbClr val="141440"/>
          </a:solidFill>
          <a:ln w="19050">
            <a:solidFill>
              <a:srgbClr val="965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811511" y="2322575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9650DC"/>
                </a:solidFill>
                <a:latin typeface="Calibri"/>
              </a:rPr>
              <a:t>WRIST</a:t>
            </a:r>
          </a:p>
        </p:txBody>
      </p:sp>
      <p:sp>
        <p:nvSpPr>
          <p:cNvPr id="77" name="Oval 76"/>
          <p:cNvSpPr/>
          <p:nvPr/>
        </p:nvSpPr>
        <p:spPr>
          <a:xfrm>
            <a:off x="8668511" y="1353312"/>
            <a:ext cx="640080" cy="640080"/>
          </a:xfrm>
          <a:prstGeom prst="ellipse">
            <a:avLst/>
          </a:prstGeom>
          <a:solidFill>
            <a:srgbClr val="280A3C"/>
          </a:solidFill>
          <a:ln w="19050">
            <a:solidFill>
              <a:srgbClr val="965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381743" y="1463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650DC"/>
                </a:solidFill>
                <a:latin typeface="Calibri"/>
              </a:rPr>
              <a:t>--&gt;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902951" y="1353312"/>
            <a:ext cx="640080" cy="640080"/>
          </a:xfrm>
          <a:prstGeom prst="rect">
            <a:avLst/>
          </a:prstGeom>
          <a:solidFill>
            <a:srgbClr val="280A3C"/>
          </a:solidFill>
          <a:ln w="19050">
            <a:solidFill>
              <a:srgbClr val="965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577072" y="210312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6E7DAA"/>
                </a:solidFill>
                <a:latin typeface="Calibri"/>
              </a:rPr>
              <a:t>Circle --&gt; Star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321039" y="2944368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Smooth transformation from one shape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into a completely DIFFERENT one.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 b="1">
                <a:solidFill>
                  <a:srgbClr val="9650DC"/>
                </a:solidFill>
                <a:latin typeface="Calibri"/>
              </a:rPr>
              <a:t>HOW IT WORKS: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Map control points on source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Map matching points on target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Interpolate all points together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Creates seamless in-between frames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 b="1">
                <a:solidFill>
                  <a:srgbClr val="9650DC"/>
                </a:solidFill>
                <a:latin typeface="Calibri"/>
              </a:rPr>
              <a:t>TYPES: 2D image morph • 3D mesh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deformation • Vector path morphing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 b="1">
                <a:solidFill>
                  <a:srgbClr val="9650DC"/>
                </a:solidFill>
                <a:latin typeface="Calibri"/>
              </a:rPr>
              <a:t>FAMOUS EXAMPLES: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MJ 'Black or White' (face morph)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T-1000 — Terminator 2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fill="hold">
                <p:stCondLst>
                  <p:cond delay="200"/>
                </p:stCondLst>
                <p:childTnLst>
                  <p:par>
                    <p:cTn id="3" presetID="10" presetClass="entr" presetSubtype="0" fill="hold" grpId="0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4" dur="550"/>
                            <p:tgtEl>
                              <p:spTgt spid="35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5" dur="550"/>
                            <p:tgtEl>
                              <p:spTgt spid="35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delay="420"/>
                </p:stCondLst>
                <p:childTnLst>
                  <p:par>
                    <p:cTn id="7" presetID="10" presetClass="entr" presetSubtype="0" fill="hold" grpId="1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8" dur="550"/>
                            <p:tgtEl>
                              <p:spTgt spid="49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9" dur="550"/>
                            <p:tgtEl>
                              <p:spTgt spid="49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id="10" fill="hold">
                <p:stCondLst>
                  <p:cond delay="640"/>
                </p:stCondLst>
                <p:childTnLst>
                  <p:par>
                    <p:cTn id="11" presetID="10" presetClass="entr" presetSubtype="0" fill="hold" grpId="2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12" dur="550"/>
                            <p:tgtEl>
                              <p:spTgt spid="65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13" dur="550"/>
                            <p:tgtEl>
                              <p:spTgt spid="65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</p:childTnLst>
        </p:cTn>
      </p:par>
    </p:tnLst>
    <p:bldLst/>
  </p:timing>
  <p:transition spd="med" dur="500">
    <p:push dir="l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77675" y="4098837"/>
            <a:ext cx="87281" cy="87281"/>
          </a:xfrm>
          <a:prstGeom prst="ellipse">
            <a:avLst/>
          </a:prstGeom>
          <a:solidFill>
            <a:srgbClr val="32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32997" y="3794928"/>
            <a:ext cx="68802" cy="68802"/>
          </a:xfrm>
          <a:prstGeom prst="ellipse">
            <a:avLst/>
          </a:prstGeom>
          <a:solidFill>
            <a:srgbClr val="32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344203" y="3818731"/>
            <a:ext cx="71133" cy="71133"/>
          </a:xfrm>
          <a:prstGeom prst="ellipse">
            <a:avLst/>
          </a:prstGeom>
          <a:solidFill>
            <a:srgbClr val="32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135" y="1373785"/>
            <a:ext cx="53221" cy="53221"/>
          </a:xfrm>
          <a:prstGeom prst="ellipse">
            <a:avLst/>
          </a:prstGeom>
          <a:solidFill>
            <a:srgbClr val="32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44116" y="5561129"/>
            <a:ext cx="74620" cy="74620"/>
          </a:xfrm>
          <a:prstGeom prst="ellipse">
            <a:avLst/>
          </a:prstGeom>
          <a:solidFill>
            <a:srgbClr val="32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73060" y="6570913"/>
            <a:ext cx="89506" cy="89506"/>
          </a:xfrm>
          <a:prstGeom prst="ellipse">
            <a:avLst/>
          </a:prstGeom>
          <a:solidFill>
            <a:srgbClr val="32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36598" y="4425331"/>
            <a:ext cx="45216" cy="45216"/>
          </a:xfrm>
          <a:prstGeom prst="ellipse">
            <a:avLst/>
          </a:prstGeom>
          <a:solidFill>
            <a:srgbClr val="32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58453" y="3915131"/>
            <a:ext cx="39843" cy="39843"/>
          </a:xfrm>
          <a:prstGeom prst="ellipse">
            <a:avLst/>
          </a:prstGeom>
          <a:solidFill>
            <a:srgbClr val="32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409138" y="2238849"/>
            <a:ext cx="38226" cy="38226"/>
          </a:xfrm>
          <a:prstGeom prst="ellipse">
            <a:avLst/>
          </a:prstGeom>
          <a:solidFill>
            <a:srgbClr val="32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12917" y="3401018"/>
            <a:ext cx="82794" cy="82794"/>
          </a:xfrm>
          <a:prstGeom prst="ellipse">
            <a:avLst/>
          </a:prstGeom>
          <a:solidFill>
            <a:srgbClr val="32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58874" y="4570049"/>
            <a:ext cx="63995" cy="63995"/>
          </a:xfrm>
          <a:prstGeom prst="ellipse">
            <a:avLst/>
          </a:prstGeom>
          <a:solidFill>
            <a:srgbClr val="32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36401" y="3499327"/>
            <a:ext cx="51837" cy="51837"/>
          </a:xfrm>
          <a:prstGeom prst="ellipse">
            <a:avLst/>
          </a:prstGeom>
          <a:solidFill>
            <a:srgbClr val="32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859767" y="6649906"/>
            <a:ext cx="82673" cy="82673"/>
          </a:xfrm>
          <a:prstGeom prst="ellipse">
            <a:avLst/>
          </a:prstGeom>
          <a:solidFill>
            <a:srgbClr val="32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67310" y="2668012"/>
            <a:ext cx="49176" cy="49176"/>
          </a:xfrm>
          <a:prstGeom prst="ellipse">
            <a:avLst/>
          </a:prstGeom>
          <a:solidFill>
            <a:srgbClr val="32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65896" y="1233919"/>
            <a:ext cx="78617" cy="78617"/>
          </a:xfrm>
          <a:prstGeom prst="ellipse">
            <a:avLst/>
          </a:prstGeom>
          <a:solidFill>
            <a:srgbClr val="32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69287" y="5777302"/>
            <a:ext cx="57781" cy="57781"/>
          </a:xfrm>
          <a:prstGeom prst="ellipse">
            <a:avLst/>
          </a:prstGeom>
          <a:solidFill>
            <a:srgbClr val="32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396114" y="5781552"/>
            <a:ext cx="36605" cy="36605"/>
          </a:xfrm>
          <a:prstGeom prst="ellipse">
            <a:avLst/>
          </a:prstGeom>
          <a:solidFill>
            <a:srgbClr val="32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637479" y="6150016"/>
            <a:ext cx="62361" cy="62361"/>
          </a:xfrm>
          <a:prstGeom prst="ellipse">
            <a:avLst/>
          </a:prstGeom>
          <a:solidFill>
            <a:srgbClr val="32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657314" y="3148751"/>
            <a:ext cx="40583" cy="40583"/>
          </a:xfrm>
          <a:prstGeom prst="ellipse">
            <a:avLst/>
          </a:prstGeom>
          <a:solidFill>
            <a:srgbClr val="32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50221" y="5378930"/>
            <a:ext cx="51376" cy="51376"/>
          </a:xfrm>
          <a:prstGeom prst="ellipse">
            <a:avLst/>
          </a:prstGeom>
          <a:solidFill>
            <a:srgbClr val="32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202843" y="2769304"/>
            <a:ext cx="89469" cy="89469"/>
          </a:xfrm>
          <a:prstGeom prst="ellipse">
            <a:avLst/>
          </a:prstGeom>
          <a:solidFill>
            <a:srgbClr val="32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055228" y="1513466"/>
            <a:ext cx="50093" cy="50093"/>
          </a:xfrm>
          <a:prstGeom prst="ellipse">
            <a:avLst/>
          </a:prstGeom>
          <a:solidFill>
            <a:srgbClr val="32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A0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749808"/>
            <a:ext cx="12188952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0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173968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917936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661904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405872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149840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" y="73152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D700"/>
                </a:solidFill>
                <a:latin typeface="Trebuchet MS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" y="118872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Trebuchet MS"/>
              </a:rPr>
              <a:t>LEVELS OF COMPUTER ANIMATION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-2286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00" b="1" i="0">
                <a:solidFill>
                  <a:srgbClr val="FFD700"/>
                </a:solidFill>
                <a:latin typeface="Trebuchet MS"/>
              </a:rPr>
              <a:t>06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2608" y="886968"/>
            <a:ext cx="3849624" cy="5687568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56032" y="850392"/>
            <a:ext cx="3849624" cy="5687568"/>
          </a:xfrm>
          <a:prstGeom prst="rect">
            <a:avLst/>
          </a:prstGeom>
          <a:solidFill>
            <a:srgbClr val="0E0E32"/>
          </a:solidFill>
          <a:ln w="5080">
            <a:solidFill>
              <a:srgbClr val="1C1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56032" y="850392"/>
            <a:ext cx="54864" cy="568756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93268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D2FF"/>
                </a:solidFill>
                <a:latin typeface="Trebuchet MS"/>
              </a:rPr>
              <a:t>BASIC  LEVEL   [  *  ]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1243584"/>
            <a:ext cx="3657600" cy="146304"/>
          </a:xfrm>
          <a:prstGeom prst="rect">
            <a:avLst/>
          </a:prstGeom>
          <a:solidFill>
            <a:srgbClr val="191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65760" y="1243584"/>
            <a:ext cx="1216152" cy="14630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5760" y="1417320"/>
            <a:ext cx="3657600" cy="10972"/>
          </a:xfrm>
          <a:prstGeom prst="rect">
            <a:avLst/>
          </a:prstGeom>
          <a:solidFill>
            <a:srgbClr val="28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1463040"/>
            <a:ext cx="36576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900" b="1">
                <a:solidFill>
                  <a:srgbClr val="00D2FF"/>
                </a:solidFill>
                <a:latin typeface="Calibri"/>
              </a:rPr>
              <a:t>WHAT YOU CREATE: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Animated GIFs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CSS / JS transitions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PowerPoint animations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Simple 2D sprites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Basic logo animations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 b="1">
                <a:solidFill>
                  <a:srgbClr val="00D2FF"/>
                </a:solidFill>
                <a:latin typeface="Calibri"/>
              </a:rPr>
              <a:t>TOOLS: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MS PowerPoint, Canva, GIMP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Skill: Beginner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Time: Days to Weeks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 b="1">
                <a:solidFill>
                  <a:srgbClr val="00D2FF"/>
                </a:solidFill>
                <a:latin typeface="Calibri"/>
              </a:rPr>
              <a:t>CAREER: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Social media creator,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Marketing &amp; design assistant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0248" y="886968"/>
            <a:ext cx="3849624" cy="5687568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233672" y="850392"/>
            <a:ext cx="3849624" cy="5687568"/>
          </a:xfrm>
          <a:prstGeom prst="rect">
            <a:avLst/>
          </a:prstGeom>
          <a:solidFill>
            <a:srgbClr val="0E0E32"/>
          </a:solidFill>
          <a:ln w="5080">
            <a:solidFill>
              <a:srgbClr val="1C1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233672" y="850392"/>
            <a:ext cx="54864" cy="5687568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43400" y="93268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9100"/>
                </a:solidFill>
                <a:latin typeface="Trebuchet MS"/>
              </a:rPr>
              <a:t>INTERMEDIATE  LEVEL  [  * *  ]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43400" y="1243584"/>
            <a:ext cx="3657600" cy="146304"/>
          </a:xfrm>
          <a:prstGeom prst="rect">
            <a:avLst/>
          </a:prstGeom>
          <a:solidFill>
            <a:srgbClr val="191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43400" y="1243584"/>
            <a:ext cx="2441448" cy="146304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43400" y="1417320"/>
            <a:ext cx="3657600" cy="10972"/>
          </a:xfrm>
          <a:prstGeom prst="rect">
            <a:avLst/>
          </a:prstGeom>
          <a:solidFill>
            <a:srgbClr val="28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43400" y="1463040"/>
            <a:ext cx="36576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900" b="1">
                <a:solidFill>
                  <a:srgbClr val="FF9100"/>
                </a:solidFill>
                <a:latin typeface="Calibri"/>
              </a:rPr>
              <a:t>WHAT YOU CREATE: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2D character animation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Motion graphics &amp; infographics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Complex path animations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Basic 3D object animation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Game character movement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 b="1">
                <a:solidFill>
                  <a:srgbClr val="FF9100"/>
                </a:solidFill>
                <a:latin typeface="Calibri"/>
              </a:rPr>
              <a:t>TOOLS: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After Effects, Adobe Animate,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Blender, Spine, Toon Boom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Skill: Intermediate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Time: Months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 b="1">
                <a:solidFill>
                  <a:srgbClr val="FF9100"/>
                </a:solidFill>
                <a:latin typeface="Calibri"/>
              </a:rPr>
              <a:t>CAREER: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Motion designer, 2D animator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47887" y="886968"/>
            <a:ext cx="3849624" cy="5687568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11311" y="850392"/>
            <a:ext cx="3849624" cy="5687568"/>
          </a:xfrm>
          <a:prstGeom prst="rect">
            <a:avLst/>
          </a:prstGeom>
          <a:solidFill>
            <a:srgbClr val="0E0E32"/>
          </a:solidFill>
          <a:ln w="5080">
            <a:solidFill>
              <a:srgbClr val="1C1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211311" y="850392"/>
            <a:ext cx="54864" cy="5687568"/>
          </a:xfrm>
          <a:prstGeom prst="rect">
            <a:avLst/>
          </a:prstGeom>
          <a:solidFill>
            <a:srgbClr val="965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21039" y="93268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9650DC"/>
                </a:solidFill>
                <a:latin typeface="Trebuchet MS"/>
              </a:rPr>
              <a:t>ADVANCED  LEVEL  [  * * *  ]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21039" y="1243584"/>
            <a:ext cx="3657600" cy="146304"/>
          </a:xfrm>
          <a:prstGeom prst="rect">
            <a:avLst/>
          </a:prstGeom>
          <a:solidFill>
            <a:srgbClr val="191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321039" y="1243584"/>
            <a:ext cx="3657600" cy="146304"/>
          </a:xfrm>
          <a:prstGeom prst="rect">
            <a:avLst/>
          </a:prstGeom>
          <a:solidFill>
            <a:srgbClr val="965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321039" y="1417320"/>
            <a:ext cx="3657600" cy="10972"/>
          </a:xfrm>
          <a:prstGeom prst="rect">
            <a:avLst/>
          </a:prstGeom>
          <a:solidFill>
            <a:srgbClr val="28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21039" y="1463040"/>
            <a:ext cx="36576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900" b="1">
                <a:solidFill>
                  <a:srgbClr val="9650DC"/>
                </a:solidFill>
                <a:latin typeface="Calibri"/>
              </a:rPr>
              <a:t>WHAT YOU CREATE: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Full CG feature films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Realistic physics simulation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Procedural animation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Motion capture integration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Real-time VFX in games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AI-assisted animation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 b="1">
                <a:solidFill>
                  <a:srgbClr val="9650DC"/>
                </a:solidFill>
                <a:latin typeface="Calibri"/>
              </a:rPr>
              <a:t>TOOLS: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Autodesk Maya, Houdini,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Unreal Engine, Cinema 4D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Skill: Professional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Time: Years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 b="1">
                <a:solidFill>
                  <a:srgbClr val="9650DC"/>
                </a:solidFill>
                <a:latin typeface="Calibri"/>
              </a:rPr>
              <a:t>CAREER: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VFX artist, 3D animator, TD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fill="hold">
                <p:stCondLst>
                  <p:cond delay="200"/>
                </p:stCondLst>
                <p:childTnLst>
                  <p:par>
                    <p:cTn id="3" presetID="10" presetClass="entr" presetSubtype="0" fill="hold" grpId="0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4" dur="550"/>
                            <p:tgtEl>
                              <p:spTgt spid="37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5" dur="550"/>
                            <p:tgtEl>
                              <p:spTgt spid="37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delay="420"/>
                </p:stCondLst>
                <p:childTnLst>
                  <p:par>
                    <p:cTn id="7" presetID="10" presetClass="entr" presetSubtype="0" fill="hold" grpId="1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8" dur="550"/>
                            <p:tgtEl>
                              <p:spTgt spid="45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9" dur="550"/>
                            <p:tgtEl>
                              <p:spTgt spid="45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id="10" fill="hold">
                <p:stCondLst>
                  <p:cond delay="640"/>
                </p:stCondLst>
                <p:childTnLst>
                  <p:par>
                    <p:cTn id="11" presetID="10" presetClass="entr" presetSubtype="0" fill="hold" grpId="2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12" dur="550"/>
                            <p:tgtEl>
                              <p:spTgt spid="53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13" dur="550"/>
                            <p:tgtEl>
                              <p:spTgt spid="53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</p:childTnLst>
        </p:cTn>
      </p:par>
    </p:tnLst>
    <p:bldLst/>
  </p:timing>
  <p:transition spd="med" dur="500">
    <p:push dir="l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737407" y="4670594"/>
            <a:ext cx="73137" cy="73137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851920" y="886517"/>
            <a:ext cx="57136" cy="57136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390427" y="5565246"/>
            <a:ext cx="74464" cy="74464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222525" y="4089577"/>
            <a:ext cx="72858" cy="72858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83550" y="3398231"/>
            <a:ext cx="45478" cy="45478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86677" y="1167209"/>
            <a:ext cx="81499" cy="81499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6135" y="4843075"/>
            <a:ext cx="55065" cy="55065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18615" y="5752839"/>
            <a:ext cx="37596" cy="37596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4323" y="6177883"/>
            <a:ext cx="64497" cy="64497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47715" y="6599826"/>
            <a:ext cx="88516" cy="88516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99939" y="3299632"/>
            <a:ext cx="43986" cy="43986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840956" y="4459796"/>
            <a:ext cx="45547" cy="45547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38853" y="1123487"/>
            <a:ext cx="45969" cy="45969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730066" y="3166859"/>
            <a:ext cx="59555" cy="59555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58315" y="3613084"/>
            <a:ext cx="57675" cy="57675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39796" y="5073544"/>
            <a:ext cx="89654" cy="89654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609851" y="4706430"/>
            <a:ext cx="56126" cy="56126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33052" y="4861620"/>
            <a:ext cx="73541" cy="73541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A0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749808"/>
            <a:ext cx="12188952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430000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173968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917936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661904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405872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149840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" y="73152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D2FF"/>
                </a:solidFill>
                <a:latin typeface="Trebuchet MS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" y="118872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Trebuchet MS"/>
              </a:rPr>
              <a:t>12 PRINCIPLES OF ANIMATION  •  Part 1 /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-2286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00" b="1" i="0">
                <a:solidFill>
                  <a:srgbClr val="00D2FF"/>
                </a:solidFill>
                <a:latin typeface="Trebuchet MS"/>
              </a:rPr>
              <a:t>07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" y="822960"/>
            <a:ext cx="11676888" cy="365760"/>
          </a:xfrm>
          <a:prstGeom prst="rect">
            <a:avLst/>
          </a:prstGeom>
          <a:solidFill>
            <a:srgbClr val="0A0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56032" y="822960"/>
            <a:ext cx="50292" cy="3657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868680"/>
            <a:ext cx="11475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3CDE8"/>
                </a:solidFill>
                <a:latin typeface="Calibri"/>
              </a:rPr>
              <a:t>Developed by Disney masters Ollie Johnston &amp; Frank Thomas (The Illusion of Life, 1981). Universal gold standard for ALL animators.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2608" y="1453896"/>
            <a:ext cx="5687568" cy="2423160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56032" y="1417320"/>
            <a:ext cx="5687568" cy="2423160"/>
          </a:xfrm>
          <a:prstGeom prst="rect">
            <a:avLst/>
          </a:prstGeom>
          <a:solidFill>
            <a:srgbClr val="0E0E32"/>
          </a:solidFill>
          <a:ln w="5080"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56032" y="1417320"/>
            <a:ext cx="54864" cy="24231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10896" y="1417320"/>
            <a:ext cx="5632704" cy="2743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1508760"/>
            <a:ext cx="5522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D2FF"/>
                </a:solidFill>
                <a:latin typeface="Trebuchet MS"/>
              </a:rPr>
              <a:t>01 — SQUASH &amp; STRETCH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1755648"/>
            <a:ext cx="5468112" cy="10972"/>
          </a:xfrm>
          <a:prstGeom prst="rect">
            <a:avLst/>
          </a:prstGeom>
          <a:solidFill>
            <a:srgbClr val="28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1792224"/>
            <a:ext cx="5522976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Exaggerate deformation for weight.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Object SQUASHES on impact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Object STRETCHES when moving fast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Golden rule: VOLUME stays constant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Shows elasticity, mass, and energy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 b="1">
                <a:solidFill>
                  <a:srgbClr val="00D2FF"/>
                </a:solidFill>
                <a:latin typeface="Calibri"/>
              </a:rPr>
              <a:t>EXAMPLES: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Rubber ball bounce — squashes flat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on landing, stretches tall in mid-air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Most fundamental principle of animation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6208" y="1453896"/>
            <a:ext cx="5687568" cy="2423160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99632" y="1417320"/>
            <a:ext cx="5687568" cy="2423160"/>
          </a:xfrm>
          <a:prstGeom prst="rect">
            <a:avLst/>
          </a:prstGeom>
          <a:solidFill>
            <a:srgbClr val="0E0E32"/>
          </a:solidFill>
          <a:ln w="5080"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99632" y="1417320"/>
            <a:ext cx="54864" cy="242316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54496" y="1417320"/>
            <a:ext cx="5632704" cy="2743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60" y="1508760"/>
            <a:ext cx="5522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9100"/>
                </a:solidFill>
                <a:latin typeface="Trebuchet MS"/>
              </a:rPr>
              <a:t>02 — ANTICIPATION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60" y="1755648"/>
            <a:ext cx="5468112" cy="10972"/>
          </a:xfrm>
          <a:prstGeom prst="rect">
            <a:avLst/>
          </a:prstGeom>
          <a:solidFill>
            <a:srgbClr val="28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60" y="1792224"/>
            <a:ext cx="5522976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Small opposite action BEFORE main action.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Character crouches before jumping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Arm swings back before throwing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Boxer winds up before punching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Prepares the audience mentally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 b="1">
                <a:solidFill>
                  <a:srgbClr val="FF9100"/>
                </a:solidFill>
                <a:latin typeface="Calibri"/>
              </a:rPr>
              <a:t>EXAMPLES: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Bugs Bunny ducking low before leap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Without anticipation, actions feel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sudden, unexpected, unconvincing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2608" y="3950208"/>
            <a:ext cx="5687568" cy="2423160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56032" y="3913632"/>
            <a:ext cx="5687568" cy="2423160"/>
          </a:xfrm>
          <a:prstGeom prst="rect">
            <a:avLst/>
          </a:prstGeom>
          <a:solidFill>
            <a:srgbClr val="0E0E32"/>
          </a:solidFill>
          <a:ln w="5080"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56032" y="3913632"/>
            <a:ext cx="54864" cy="242316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10896" y="3913632"/>
            <a:ext cx="5632704" cy="2743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60" y="4005072"/>
            <a:ext cx="5522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D573"/>
                </a:solidFill>
                <a:latin typeface="Trebuchet MS"/>
              </a:rPr>
              <a:t>03 — STAGING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4251960"/>
            <a:ext cx="5468112" cy="10972"/>
          </a:xfrm>
          <a:prstGeom prst="rect">
            <a:avLst/>
          </a:prstGeom>
          <a:solidFill>
            <a:srgbClr val="28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4288536"/>
            <a:ext cx="5522976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Present ONE clear idea at a time.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Use clear, readable silhouettes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Camera angle serves the story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Avoid distracting backgrounds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Direct the audience's eye deliberately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 b="1">
                <a:solidFill>
                  <a:srgbClr val="2ED573"/>
                </a:solidFill>
                <a:latin typeface="Calibri"/>
              </a:rPr>
              <a:t>EXAMPLES: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Character in profile view making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a dramatic gesture — instantly readable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Think: theater staging, not photography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36208" y="3950208"/>
            <a:ext cx="5687568" cy="2423160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199632" y="3913632"/>
            <a:ext cx="5687568" cy="2423160"/>
          </a:xfrm>
          <a:prstGeom prst="rect">
            <a:avLst/>
          </a:prstGeom>
          <a:solidFill>
            <a:srgbClr val="0E0E32"/>
          </a:solidFill>
          <a:ln w="5080"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199632" y="3913632"/>
            <a:ext cx="54864" cy="2423160"/>
          </a:xfrm>
          <a:prstGeom prst="rect">
            <a:avLst/>
          </a:prstGeom>
          <a:solidFill>
            <a:srgbClr val="965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254496" y="3913632"/>
            <a:ext cx="5632704" cy="2743"/>
          </a:xfrm>
          <a:prstGeom prst="rect">
            <a:avLst/>
          </a:prstGeom>
          <a:solidFill>
            <a:srgbClr val="965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09360" y="4005072"/>
            <a:ext cx="5522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9650DC"/>
                </a:solidFill>
                <a:latin typeface="Trebuchet MS"/>
              </a:rPr>
              <a:t>04 — STRAIGHT AHEAD &amp; POSE-TO-POSE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09360" y="4251960"/>
            <a:ext cx="5468112" cy="10972"/>
          </a:xfrm>
          <a:prstGeom prst="rect">
            <a:avLst/>
          </a:prstGeom>
          <a:solidFill>
            <a:srgbClr val="28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09360" y="4288536"/>
            <a:ext cx="5522976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Two approaches to creating animation: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 b="1">
                <a:solidFill>
                  <a:srgbClr val="9650DC"/>
                </a:solidFill>
                <a:latin typeface="Calibri"/>
              </a:rPr>
              <a:t>STRAIGHT AHEAD: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Draw frame by frame from start to end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= spontaneous, fluid, surprising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 b="1">
                <a:solidFill>
                  <a:srgbClr val="9650DC"/>
                </a:solidFill>
                <a:latin typeface="Calibri"/>
              </a:rPr>
              <a:t>POSE-TO-POSE: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Draw key poses first, fill in betweens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= controlled, planned, consistent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Best professional work combines BOTH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fill="hold">
                <p:stCondLst>
                  <p:cond delay="250"/>
                </p:stCondLst>
                <p:childTnLst>
                  <p:par>
                    <p:cTn id="3" presetID="10" presetClass="entr" presetSubtype="0" fill="hold" grpId="0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4" dur="550"/>
                            <p:tgtEl>
                              <p:spTgt spid="40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5" dur="550"/>
                            <p:tgtEl>
                              <p:spTgt spid="40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delay="430"/>
                </p:stCondLst>
                <p:childTnLst>
                  <p:par>
                    <p:cTn id="7" presetID="10" presetClass="entr" presetSubtype="0" fill="hold" grpId="1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8" dur="550"/>
                            <p:tgtEl>
                              <p:spTgt spid="47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9" dur="550"/>
                            <p:tgtEl>
                              <p:spTgt spid="47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id="10" fill="hold">
                <p:stCondLst>
                  <p:cond delay="610"/>
                </p:stCondLst>
                <p:childTnLst>
                  <p:par>
                    <p:cTn id="11" presetID="10" presetClass="entr" presetSubtype="0" fill="hold" grpId="2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12" dur="550"/>
                            <p:tgtEl>
                              <p:spTgt spid="54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13" dur="550"/>
                            <p:tgtEl>
                              <p:spTgt spid="54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id="14" fill="hold">
                <p:stCondLst>
                  <p:cond delay="790"/>
                </p:stCondLst>
                <p:childTnLst>
                  <p:par>
                    <p:cTn id="15" presetID="10" presetClass="entr" presetSubtype="0" fill="hold" grpId="3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16" dur="550"/>
                            <p:tgtEl>
                              <p:spTgt spid="61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17" dur="550"/>
                            <p:tgtEl>
                              <p:spTgt spid="61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</p:childTnLst>
        </p:cTn>
      </p:par>
    </p:tnLst>
    <p:bldLst/>
  </p:timing>
  <p:transition spd="med" dur="500">
    <p:push dir="l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14398" y="4833199"/>
            <a:ext cx="74107" cy="74107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23782" y="1909847"/>
            <a:ext cx="49225" cy="49225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05286" y="2140649"/>
            <a:ext cx="76847" cy="76847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06934" y="3932298"/>
            <a:ext cx="48311" cy="48311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31636" y="3348637"/>
            <a:ext cx="82533" cy="82533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03813" y="907420"/>
            <a:ext cx="51709" cy="51709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900024" y="5921857"/>
            <a:ext cx="81001" cy="81001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17110" y="5658982"/>
            <a:ext cx="77435" cy="77435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94065" y="5468232"/>
            <a:ext cx="50660" cy="50660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30838" y="3671706"/>
            <a:ext cx="77998" cy="77998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785738" y="3336917"/>
            <a:ext cx="56557" cy="56557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213657" y="2659141"/>
            <a:ext cx="43014" cy="43014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76251" y="5494497"/>
            <a:ext cx="90654" cy="90654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69659" y="4066381"/>
            <a:ext cx="77636" cy="77636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761251" y="4783828"/>
            <a:ext cx="60902" cy="60902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250257" y="2008763"/>
            <a:ext cx="65253" cy="65253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147721" y="3511787"/>
            <a:ext cx="69796" cy="69796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14950" y="1588311"/>
            <a:ext cx="63506" cy="63506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A0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749808"/>
            <a:ext cx="12188952" cy="27432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430000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173968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917936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661904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405872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149840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" y="73152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9100"/>
                </a:solidFill>
                <a:latin typeface="Trebuchet MS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" y="118872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Trebuchet MS"/>
              </a:rPr>
              <a:t>12 PRINCIPLES OF ANIMATION  •  Part 2 /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-2286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00" b="1" i="0">
                <a:solidFill>
                  <a:srgbClr val="FF9100"/>
                </a:solidFill>
                <a:latin typeface="Trebuchet MS"/>
              </a:rPr>
              <a:t>07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" y="822960"/>
            <a:ext cx="11676888" cy="365760"/>
          </a:xfrm>
          <a:prstGeom prst="rect">
            <a:avLst/>
          </a:prstGeom>
          <a:solidFill>
            <a:srgbClr val="0A0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56032" y="822960"/>
            <a:ext cx="50292" cy="36576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868680"/>
            <a:ext cx="11475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3CDE8"/>
                </a:solidFill>
                <a:latin typeface="Calibri"/>
              </a:rPr>
              <a:t>These principles govern how objects move AFTER the main action — the subtle details that separate amateur from truly professional animation.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2608" y="1453896"/>
            <a:ext cx="5687568" cy="2423160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56032" y="1417320"/>
            <a:ext cx="5687568" cy="2423160"/>
          </a:xfrm>
          <a:prstGeom prst="rect">
            <a:avLst/>
          </a:prstGeom>
          <a:solidFill>
            <a:srgbClr val="0E0E32"/>
          </a:solidFill>
          <a:ln w="5080"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56032" y="1417320"/>
            <a:ext cx="54864" cy="24231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10896" y="1417320"/>
            <a:ext cx="5632704" cy="2743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1508760"/>
            <a:ext cx="5522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D2FF"/>
                </a:solidFill>
                <a:latin typeface="Trebuchet MS"/>
              </a:rPr>
              <a:t>05 — FOLLOW THROUGH &amp; OVERLAPPING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1755648"/>
            <a:ext cx="5468112" cy="10972"/>
          </a:xfrm>
          <a:prstGeom prst="rect">
            <a:avLst/>
          </a:prstGeom>
          <a:solidFill>
            <a:srgbClr val="28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1792224"/>
            <a:ext cx="5522976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900" b="1">
                <a:solidFill>
                  <a:srgbClr val="00D2FF"/>
                </a:solidFill>
                <a:latin typeface="Calibri"/>
              </a:rPr>
              <a:t>FOLLOW THROUGH: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Parts keep moving after main action stops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Hair swings after head stops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Coat settles after character stops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 b="1">
                <a:solidFill>
                  <a:srgbClr val="00D2FF"/>
                </a:solidFill>
                <a:latin typeface="Calibri"/>
              </a:rPr>
              <a:t>OVERLAPPING ACTION: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Different parts move at different rates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Arms lag slightly behind torso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Makes motion feel ORGANIC &amp; real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6208" y="1453896"/>
            <a:ext cx="5687568" cy="2423160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99632" y="1417320"/>
            <a:ext cx="5687568" cy="2423160"/>
          </a:xfrm>
          <a:prstGeom prst="rect">
            <a:avLst/>
          </a:prstGeom>
          <a:solidFill>
            <a:srgbClr val="0E0E32"/>
          </a:solidFill>
          <a:ln w="5080"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99632" y="1417320"/>
            <a:ext cx="54864" cy="242316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54496" y="1417320"/>
            <a:ext cx="5632704" cy="2743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60" y="1508760"/>
            <a:ext cx="5522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9100"/>
                </a:solidFill>
                <a:latin typeface="Trebuchet MS"/>
              </a:rPr>
              <a:t>06 — EASE IN &amp; EASE OUT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60" y="1755648"/>
            <a:ext cx="5468112" cy="10972"/>
          </a:xfrm>
          <a:prstGeom prst="rect">
            <a:avLst/>
          </a:prstGeom>
          <a:solidFill>
            <a:srgbClr val="28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60" y="1792224"/>
            <a:ext cx="5522976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Objects ACCELERATE at start and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DECELERATE at end of every movement.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Nothing in nature starts at full speed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Car: slow start = full speed = brake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 b="1">
                <a:solidFill>
                  <a:srgbClr val="FF9100"/>
                </a:solidFill>
                <a:latin typeface="Calibri"/>
              </a:rPr>
              <a:t>IN SOFTWARE: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Bezier easing curves control this.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Linear = robotic feel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Ease = natural, believable weight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Most impactful principle for realism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2608" y="3950208"/>
            <a:ext cx="5687568" cy="2423160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56032" y="3913632"/>
            <a:ext cx="5687568" cy="2423160"/>
          </a:xfrm>
          <a:prstGeom prst="rect">
            <a:avLst/>
          </a:prstGeom>
          <a:solidFill>
            <a:srgbClr val="0E0E32"/>
          </a:solidFill>
          <a:ln w="5080"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56032" y="3913632"/>
            <a:ext cx="54864" cy="242316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10896" y="3913632"/>
            <a:ext cx="5632704" cy="2743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60" y="4005072"/>
            <a:ext cx="5522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D573"/>
                </a:solidFill>
                <a:latin typeface="Trebuchet MS"/>
              </a:rPr>
              <a:t>07 — ARCS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4251960"/>
            <a:ext cx="5468112" cy="10972"/>
          </a:xfrm>
          <a:prstGeom prst="rect">
            <a:avLst/>
          </a:prstGeom>
          <a:solidFill>
            <a:srgbClr val="28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4288536"/>
            <a:ext cx="5522976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Natural motion follows ARC paths,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NOT straight lines.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Arms swing in arcs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Heads nod in arcs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Thrown objects travel in parabolas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 b="1">
                <a:solidFill>
                  <a:srgbClr val="2ED573"/>
                </a:solidFill>
                <a:latin typeface="Calibri"/>
              </a:rPr>
              <a:t>EXCEPTION: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Mechanical / robot movement IS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intentionally straight — use linear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paths deliberately for machines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Breaking arcs = looks robotic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36208" y="3950208"/>
            <a:ext cx="5687568" cy="2423160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199632" y="3913632"/>
            <a:ext cx="5687568" cy="2423160"/>
          </a:xfrm>
          <a:prstGeom prst="rect">
            <a:avLst/>
          </a:prstGeom>
          <a:solidFill>
            <a:srgbClr val="0E0E32"/>
          </a:solidFill>
          <a:ln w="5080"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199632" y="3913632"/>
            <a:ext cx="54864" cy="2423160"/>
          </a:xfrm>
          <a:prstGeom prst="rect">
            <a:avLst/>
          </a:prstGeom>
          <a:solidFill>
            <a:srgbClr val="965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254496" y="3913632"/>
            <a:ext cx="5632704" cy="2743"/>
          </a:xfrm>
          <a:prstGeom prst="rect">
            <a:avLst/>
          </a:prstGeom>
          <a:solidFill>
            <a:srgbClr val="965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09360" y="4005072"/>
            <a:ext cx="5522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9650DC"/>
                </a:solidFill>
                <a:latin typeface="Trebuchet MS"/>
              </a:rPr>
              <a:t>08 — SECONDARY ACTION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09360" y="4251960"/>
            <a:ext cx="5468112" cy="10972"/>
          </a:xfrm>
          <a:prstGeom prst="rect">
            <a:avLst/>
          </a:prstGeom>
          <a:solidFill>
            <a:srgbClr val="28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09360" y="4288536"/>
            <a:ext cx="5522976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Supporting actions that ENRICH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the primary movement.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 b="1">
                <a:solidFill>
                  <a:srgbClr val="9650DC"/>
                </a:solidFill>
                <a:latin typeface="Calibri"/>
              </a:rPr>
              <a:t>EXAMPLES: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Walking + arms swing (secondary)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Running + hair flows (secondary)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Talking + eyebrow (secondary)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 b="1">
                <a:solidFill>
                  <a:srgbClr val="9650DC"/>
                </a:solidFill>
                <a:latin typeface="Calibri"/>
              </a:rPr>
              <a:t>CRITICAL RULE: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Secondary must NEVER overpower main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action — supports, never steals focus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fill="hold">
                <p:stCondLst>
                  <p:cond delay="250"/>
                </p:stCondLst>
                <p:childTnLst>
                  <p:par>
                    <p:cTn id="3" presetID="10" presetClass="entr" presetSubtype="0" fill="hold" grpId="0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4" dur="550"/>
                            <p:tgtEl>
                              <p:spTgt spid="40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5" dur="550"/>
                            <p:tgtEl>
                              <p:spTgt spid="40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delay="430"/>
                </p:stCondLst>
                <p:childTnLst>
                  <p:par>
                    <p:cTn id="7" presetID="10" presetClass="entr" presetSubtype="0" fill="hold" grpId="1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8" dur="550"/>
                            <p:tgtEl>
                              <p:spTgt spid="47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9" dur="550"/>
                            <p:tgtEl>
                              <p:spTgt spid="47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id="10" fill="hold">
                <p:stCondLst>
                  <p:cond delay="610"/>
                </p:stCondLst>
                <p:childTnLst>
                  <p:par>
                    <p:cTn id="11" presetID="10" presetClass="entr" presetSubtype="0" fill="hold" grpId="2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12" dur="550"/>
                            <p:tgtEl>
                              <p:spTgt spid="54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13" dur="550"/>
                            <p:tgtEl>
                              <p:spTgt spid="54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id="14" fill="hold">
                <p:stCondLst>
                  <p:cond delay="790"/>
                </p:stCondLst>
                <p:childTnLst>
                  <p:par>
                    <p:cTn id="15" presetID="10" presetClass="entr" presetSubtype="0" fill="hold" grpId="3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16" dur="550"/>
                            <p:tgtEl>
                              <p:spTgt spid="61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17" dur="550"/>
                            <p:tgtEl>
                              <p:spTgt spid="61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</p:childTnLst>
        </p:cTn>
      </p:par>
    </p:tnLst>
    <p:bldLst/>
  </p:timing>
  <p:transition spd="med" dur="500">
    <p:push dir="l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33235" y="4934602"/>
            <a:ext cx="72349" cy="72349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89065" y="2409569"/>
            <a:ext cx="50608" cy="50608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4545" y="4676314"/>
            <a:ext cx="53199" cy="53199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191363" y="3144357"/>
            <a:ext cx="79233" cy="79233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68666" y="2129549"/>
            <a:ext cx="86033" cy="86033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373409" y="2346876"/>
            <a:ext cx="80702" cy="80702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576076" y="1699049"/>
            <a:ext cx="66824" cy="66824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954537" y="1788263"/>
            <a:ext cx="72330" cy="72330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22819" y="2795525"/>
            <a:ext cx="41141" cy="41141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575496" y="6546369"/>
            <a:ext cx="58723" cy="58723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775220" y="3389998"/>
            <a:ext cx="69907" cy="69907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96015" y="4842712"/>
            <a:ext cx="42695" cy="42695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077709" y="4531645"/>
            <a:ext cx="46517" cy="46517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90957" y="5942393"/>
            <a:ext cx="64764" cy="64764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451630" y="3471652"/>
            <a:ext cx="48546" cy="48546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525758" y="3751849"/>
            <a:ext cx="42195" cy="42195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758512" y="1346934"/>
            <a:ext cx="51974" cy="51974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0570" y="5155555"/>
            <a:ext cx="42823" cy="42823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A0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749808"/>
            <a:ext cx="12188952" cy="27432"/>
          </a:xfrm>
          <a:prstGeom prst="rect">
            <a:avLst/>
          </a:prstGeom>
          <a:solidFill>
            <a:srgbClr val="965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965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430000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173968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917936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661904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405872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149840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" y="73152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9650DC"/>
                </a:solidFill>
                <a:latin typeface="Trebuchet MS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" y="118872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Trebuchet MS"/>
              </a:rPr>
              <a:t>12 PRINCIPLES OF ANIMATION  •  Part 3 /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-2286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00" b="1" i="0">
                <a:solidFill>
                  <a:srgbClr val="9650DC"/>
                </a:solidFill>
                <a:latin typeface="Trebuchet MS"/>
              </a:rPr>
              <a:t>07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" y="822960"/>
            <a:ext cx="11676888" cy="365760"/>
          </a:xfrm>
          <a:prstGeom prst="rect">
            <a:avLst/>
          </a:prstGeom>
          <a:solidFill>
            <a:srgbClr val="0A0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56032" y="822960"/>
            <a:ext cx="50292" cy="365760"/>
          </a:xfrm>
          <a:prstGeom prst="rect">
            <a:avLst/>
          </a:prstGeom>
          <a:solidFill>
            <a:srgbClr val="965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868680"/>
            <a:ext cx="11475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3CDE8"/>
                </a:solidFill>
                <a:latin typeface="Calibri"/>
              </a:rPr>
              <a:t>Walt Disney: "The secret of animation is the exaggeration of the truth." These final 4 principles deliver exactly that truth.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2608" y="1453896"/>
            <a:ext cx="5687568" cy="2423160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56032" y="1417320"/>
            <a:ext cx="5687568" cy="2423160"/>
          </a:xfrm>
          <a:prstGeom prst="rect">
            <a:avLst/>
          </a:prstGeom>
          <a:solidFill>
            <a:srgbClr val="0E0E32"/>
          </a:solidFill>
          <a:ln w="5080"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56032" y="1417320"/>
            <a:ext cx="54864" cy="24231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10896" y="1417320"/>
            <a:ext cx="5632704" cy="2743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1508760"/>
            <a:ext cx="5522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D2FF"/>
                </a:solidFill>
                <a:latin typeface="Trebuchet MS"/>
              </a:rPr>
              <a:t>09 — TIMING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1755648"/>
            <a:ext cx="5468112" cy="10972"/>
          </a:xfrm>
          <a:prstGeom prst="rect">
            <a:avLst/>
          </a:prstGeom>
          <a:solidFill>
            <a:srgbClr val="28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1792224"/>
            <a:ext cx="5522976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Frames = perceived speed, weight &amp; personality.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MORE frames = slower / heavier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FEWER frames = faster / lighter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 b="1">
                <a:solidFill>
                  <a:srgbClr val="00D2FF"/>
                </a:solidFill>
                <a:latin typeface="Calibri"/>
              </a:rPr>
              <a:t>AT 24fps: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Eye blink: 6–8 frames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Head turn: 10–15 frames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Heavy punch: 3–4 frames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Gentle wave: 30+ frames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TIMING is the HEARTBEAT of animation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6208" y="1453896"/>
            <a:ext cx="5687568" cy="2423160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99632" y="1417320"/>
            <a:ext cx="5687568" cy="2423160"/>
          </a:xfrm>
          <a:prstGeom prst="rect">
            <a:avLst/>
          </a:prstGeom>
          <a:solidFill>
            <a:srgbClr val="0E0E32"/>
          </a:solidFill>
          <a:ln w="5080"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99632" y="1417320"/>
            <a:ext cx="54864" cy="242316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54496" y="1417320"/>
            <a:ext cx="5632704" cy="2743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60" y="1508760"/>
            <a:ext cx="5522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9100"/>
                </a:solidFill>
                <a:latin typeface="Trebuchet MS"/>
              </a:rPr>
              <a:t>10 — EXAGGERATION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60" y="1755648"/>
            <a:ext cx="5468112" cy="10972"/>
          </a:xfrm>
          <a:prstGeom prst="rect">
            <a:avLst/>
          </a:prstGeom>
          <a:solidFill>
            <a:srgbClr val="28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60" y="1792224"/>
            <a:ext cx="5522976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Push actions BEYOND realistic limits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for emotional impact.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Giant cartoon eyes &amp; reactions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Impossible stretching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Over-the-top expressions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 b="1">
                <a:solidFill>
                  <a:srgbClr val="FF9100"/>
                </a:solidFill>
                <a:latin typeface="Calibri"/>
              </a:rPr>
              <a:t>KEY INSIGHT: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NOT about being unrealistic —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it's making the TRUTH more VISIBLE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and ENTERTAINING to the audience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2608" y="3950208"/>
            <a:ext cx="5687568" cy="2423160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56032" y="3913632"/>
            <a:ext cx="5687568" cy="2423160"/>
          </a:xfrm>
          <a:prstGeom prst="rect">
            <a:avLst/>
          </a:prstGeom>
          <a:solidFill>
            <a:srgbClr val="0E0E32"/>
          </a:solidFill>
          <a:ln w="5080"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56032" y="3913632"/>
            <a:ext cx="54864" cy="242316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10896" y="3913632"/>
            <a:ext cx="5632704" cy="2743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60" y="4005072"/>
            <a:ext cx="5522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D573"/>
                </a:solidFill>
                <a:latin typeface="Trebuchet MS"/>
              </a:rPr>
              <a:t>11 — SOLID DRAWING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4251960"/>
            <a:ext cx="5468112" cy="10972"/>
          </a:xfrm>
          <a:prstGeom prst="rect">
            <a:avLst/>
          </a:prstGeom>
          <a:solidFill>
            <a:srgbClr val="28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4288536"/>
            <a:ext cx="5522976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Characters must feel like 3D objects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with real weight and form.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Understand 3D basic shapes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'Draw through' the form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Consistent proportions all angles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Avoid 'twinning' (mirror poses)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Strong line of action through body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Even in 2D — audience must FEEL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the three-dimensional volume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36208" y="3950208"/>
            <a:ext cx="5687568" cy="2423160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199632" y="3913632"/>
            <a:ext cx="5687568" cy="2423160"/>
          </a:xfrm>
          <a:prstGeom prst="rect">
            <a:avLst/>
          </a:prstGeom>
          <a:solidFill>
            <a:srgbClr val="0E0E32"/>
          </a:solidFill>
          <a:ln w="5080"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199632" y="3913632"/>
            <a:ext cx="54864" cy="2423160"/>
          </a:xfrm>
          <a:prstGeom prst="rect">
            <a:avLst/>
          </a:prstGeom>
          <a:solidFill>
            <a:srgbClr val="965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254496" y="3913632"/>
            <a:ext cx="5632704" cy="2743"/>
          </a:xfrm>
          <a:prstGeom prst="rect">
            <a:avLst/>
          </a:prstGeom>
          <a:solidFill>
            <a:srgbClr val="965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09360" y="4005072"/>
            <a:ext cx="5522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9650DC"/>
                </a:solidFill>
                <a:latin typeface="Trebuchet MS"/>
              </a:rPr>
              <a:t>12 — APPEAL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09360" y="4251960"/>
            <a:ext cx="5468112" cy="10972"/>
          </a:xfrm>
          <a:prstGeom prst="rect">
            <a:avLst/>
          </a:prstGeom>
          <a:solidFill>
            <a:srgbClr val="28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09360" y="4288536"/>
            <a:ext cx="5522976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Characters must be visually interesting.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 b="1">
                <a:solidFill>
                  <a:srgbClr val="9650DC"/>
                </a:solidFill>
                <a:latin typeface="Calibri"/>
              </a:rPr>
              <a:t>APPEAL is NOT CUTENESS: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A villain has appeal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An anti-hero has appeal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Even monsters can have appeal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 b="1">
                <a:solidFill>
                  <a:srgbClr val="9650DC"/>
                </a:solidFill>
                <a:latin typeface="Calibri"/>
              </a:rPr>
              <a:t>HOW TO ACHIEVE: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Clear, readable design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Dynamic, asymmetric poses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Charisma &amp; personality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Strong distinctive silhouette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fill="hold">
                <p:stCondLst>
                  <p:cond delay="250"/>
                </p:stCondLst>
                <p:childTnLst>
                  <p:par>
                    <p:cTn id="3" presetID="10" presetClass="entr" presetSubtype="0" fill="hold" grpId="0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4" dur="550"/>
                            <p:tgtEl>
                              <p:spTgt spid="40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5" dur="550"/>
                            <p:tgtEl>
                              <p:spTgt spid="40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delay="430"/>
                </p:stCondLst>
                <p:childTnLst>
                  <p:par>
                    <p:cTn id="7" presetID="10" presetClass="entr" presetSubtype="0" fill="hold" grpId="1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8" dur="550"/>
                            <p:tgtEl>
                              <p:spTgt spid="47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9" dur="550"/>
                            <p:tgtEl>
                              <p:spTgt spid="47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id="10" fill="hold">
                <p:stCondLst>
                  <p:cond delay="610"/>
                </p:stCondLst>
                <p:childTnLst>
                  <p:par>
                    <p:cTn id="11" presetID="10" presetClass="entr" presetSubtype="0" fill="hold" grpId="2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12" dur="550"/>
                            <p:tgtEl>
                              <p:spTgt spid="54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13" dur="550"/>
                            <p:tgtEl>
                              <p:spTgt spid="54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id="14" fill="hold">
                <p:stCondLst>
                  <p:cond delay="790"/>
                </p:stCondLst>
                <p:childTnLst>
                  <p:par>
                    <p:cTn id="15" presetID="10" presetClass="entr" presetSubtype="0" fill="hold" grpId="3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16" dur="550"/>
                            <p:tgtEl>
                              <p:spTgt spid="61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17" dur="550"/>
                            <p:tgtEl>
                              <p:spTgt spid="61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</p:childTnLst>
        </p:cTn>
      </p:par>
    </p:tnLst>
    <p:bldLst/>
  </p:timing>
  <p:transition spd="med" dur="500">
    <p:push dir="l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33235" y="4934602"/>
            <a:ext cx="72349" cy="72349"/>
          </a:xfrm>
          <a:prstGeom prst="ellipse">
            <a:avLst/>
          </a:prstGeom>
          <a:solidFill>
            <a:srgbClr val="32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89065" y="2409569"/>
            <a:ext cx="50608" cy="50608"/>
          </a:xfrm>
          <a:prstGeom prst="ellipse">
            <a:avLst/>
          </a:prstGeom>
          <a:solidFill>
            <a:srgbClr val="32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4545" y="4676314"/>
            <a:ext cx="53199" cy="53199"/>
          </a:xfrm>
          <a:prstGeom prst="ellipse">
            <a:avLst/>
          </a:prstGeom>
          <a:solidFill>
            <a:srgbClr val="32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191363" y="3144357"/>
            <a:ext cx="79233" cy="79233"/>
          </a:xfrm>
          <a:prstGeom prst="ellipse">
            <a:avLst/>
          </a:prstGeom>
          <a:solidFill>
            <a:srgbClr val="32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68666" y="2129549"/>
            <a:ext cx="86033" cy="86033"/>
          </a:xfrm>
          <a:prstGeom prst="ellipse">
            <a:avLst/>
          </a:prstGeom>
          <a:solidFill>
            <a:srgbClr val="32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373409" y="2346876"/>
            <a:ext cx="80702" cy="80702"/>
          </a:xfrm>
          <a:prstGeom prst="ellipse">
            <a:avLst/>
          </a:prstGeom>
          <a:solidFill>
            <a:srgbClr val="32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576076" y="1699049"/>
            <a:ext cx="66824" cy="66824"/>
          </a:xfrm>
          <a:prstGeom prst="ellipse">
            <a:avLst/>
          </a:prstGeom>
          <a:solidFill>
            <a:srgbClr val="32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954537" y="1788263"/>
            <a:ext cx="72330" cy="72330"/>
          </a:xfrm>
          <a:prstGeom prst="ellipse">
            <a:avLst/>
          </a:prstGeom>
          <a:solidFill>
            <a:srgbClr val="32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22819" y="2795525"/>
            <a:ext cx="41141" cy="41141"/>
          </a:xfrm>
          <a:prstGeom prst="ellipse">
            <a:avLst/>
          </a:prstGeom>
          <a:solidFill>
            <a:srgbClr val="32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575496" y="6546369"/>
            <a:ext cx="58723" cy="58723"/>
          </a:xfrm>
          <a:prstGeom prst="ellipse">
            <a:avLst/>
          </a:prstGeom>
          <a:solidFill>
            <a:srgbClr val="32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775220" y="3389998"/>
            <a:ext cx="69907" cy="69907"/>
          </a:xfrm>
          <a:prstGeom prst="ellipse">
            <a:avLst/>
          </a:prstGeom>
          <a:solidFill>
            <a:srgbClr val="32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96015" y="4842712"/>
            <a:ext cx="42695" cy="42695"/>
          </a:xfrm>
          <a:prstGeom prst="ellipse">
            <a:avLst/>
          </a:prstGeom>
          <a:solidFill>
            <a:srgbClr val="32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077709" y="4531645"/>
            <a:ext cx="46517" cy="46517"/>
          </a:xfrm>
          <a:prstGeom prst="ellipse">
            <a:avLst/>
          </a:prstGeom>
          <a:solidFill>
            <a:srgbClr val="32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90957" y="5942393"/>
            <a:ext cx="64764" cy="64764"/>
          </a:xfrm>
          <a:prstGeom prst="ellipse">
            <a:avLst/>
          </a:prstGeom>
          <a:solidFill>
            <a:srgbClr val="32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451630" y="3471652"/>
            <a:ext cx="48546" cy="48546"/>
          </a:xfrm>
          <a:prstGeom prst="ellipse">
            <a:avLst/>
          </a:prstGeom>
          <a:solidFill>
            <a:srgbClr val="32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525758" y="3751849"/>
            <a:ext cx="42195" cy="42195"/>
          </a:xfrm>
          <a:prstGeom prst="ellipse">
            <a:avLst/>
          </a:prstGeom>
          <a:solidFill>
            <a:srgbClr val="32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758512" y="1346934"/>
            <a:ext cx="51974" cy="51974"/>
          </a:xfrm>
          <a:prstGeom prst="ellipse">
            <a:avLst/>
          </a:prstGeom>
          <a:solidFill>
            <a:srgbClr val="32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0570" y="5155555"/>
            <a:ext cx="42823" cy="42823"/>
          </a:xfrm>
          <a:prstGeom prst="ellipse">
            <a:avLst/>
          </a:prstGeom>
          <a:solidFill>
            <a:srgbClr val="32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36596" y="1367115"/>
            <a:ext cx="62934" cy="62934"/>
          </a:xfrm>
          <a:prstGeom prst="ellipse">
            <a:avLst/>
          </a:prstGeom>
          <a:solidFill>
            <a:srgbClr val="32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04694" y="3952990"/>
            <a:ext cx="61548" cy="61548"/>
          </a:xfrm>
          <a:prstGeom prst="ellipse">
            <a:avLst/>
          </a:prstGeom>
          <a:solidFill>
            <a:srgbClr val="32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57964" y="3380603"/>
            <a:ext cx="69244" cy="69244"/>
          </a:xfrm>
          <a:prstGeom prst="ellipse">
            <a:avLst/>
          </a:prstGeom>
          <a:solidFill>
            <a:srgbClr val="32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93084" y="3599916"/>
            <a:ext cx="49538" cy="49538"/>
          </a:xfrm>
          <a:prstGeom prst="ellipse">
            <a:avLst/>
          </a:prstGeom>
          <a:solidFill>
            <a:srgbClr val="32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A0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749808"/>
            <a:ext cx="12188952" cy="27432"/>
          </a:xfrm>
          <a:prstGeom prst="rect">
            <a:avLst/>
          </a:prstGeom>
          <a:solidFill>
            <a:srgbClr val="FF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FF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0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173968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917936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661904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405872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149840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" y="73152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5AA0"/>
                </a:solidFill>
                <a:latin typeface="Trebuchet MS"/>
              </a:rP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" y="118872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Trebuchet MS"/>
              </a:rPr>
              <a:t>ANIMATION SPACE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-2286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00" b="1" i="0">
                <a:solidFill>
                  <a:srgbClr val="FF5AA0"/>
                </a:solidFill>
                <a:latin typeface="Trebuchet MS"/>
              </a:rPr>
              <a:t>08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6032" y="822960"/>
            <a:ext cx="11676888" cy="365760"/>
          </a:xfrm>
          <a:prstGeom prst="rect">
            <a:avLst/>
          </a:prstGeom>
          <a:solidFill>
            <a:srgbClr val="0A0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56032" y="822960"/>
            <a:ext cx="50292" cy="365760"/>
          </a:xfrm>
          <a:prstGeom prst="rect">
            <a:avLst/>
          </a:prstGeom>
          <a:solidFill>
            <a:srgbClr val="FF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868680"/>
            <a:ext cx="11475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3CDE8"/>
                </a:solidFill>
                <a:latin typeface="Calibri"/>
              </a:rPr>
              <a:t>Animation exists in three spatial dimensions — each with different tools, techniques, visual results, and hardware requirements.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2608" y="1453896"/>
            <a:ext cx="3849624" cy="5212080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56032" y="1417320"/>
            <a:ext cx="3849624" cy="5212080"/>
          </a:xfrm>
          <a:prstGeom prst="rect">
            <a:avLst/>
          </a:prstGeom>
          <a:solidFill>
            <a:srgbClr val="0E0E32"/>
          </a:solidFill>
          <a:ln w="5080">
            <a:solidFill>
              <a:srgbClr val="1C1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56032" y="1417320"/>
            <a:ext cx="54864" cy="521208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13232" y="1508760"/>
            <a:ext cx="2926080" cy="731520"/>
          </a:xfrm>
          <a:prstGeom prst="rect">
            <a:avLst/>
          </a:prstGeom>
          <a:solidFill>
            <a:srgbClr val="081832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52144" y="1664208"/>
            <a:ext cx="219456" cy="219456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432304" y="1664208"/>
            <a:ext cx="219456" cy="219456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" y="1572768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E7DAA"/>
                </a:solidFill>
                <a:latin typeface="Calibri"/>
              </a:rPr>
              <a:t>2D FLAT — X  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24231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D2FF"/>
                </a:solidFill>
                <a:latin typeface="Trebuchet MS"/>
              </a:rPr>
              <a:t>2D SPACE  (X + Y only)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2715768"/>
            <a:ext cx="3657600" cy="10972"/>
          </a:xfrm>
          <a:prstGeom prst="rect">
            <a:avLst/>
          </a:prstGeom>
          <a:solidFill>
            <a:srgbClr val="28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2761488"/>
            <a:ext cx="36576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Width + Height only. No depth.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 b="1">
                <a:solidFill>
                  <a:srgbClr val="00D2FF"/>
                </a:solidFill>
                <a:latin typeface="Calibri"/>
              </a:rPr>
              <a:t>CHARACTERISTICS: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Flat, like drawing on paper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No real depth perception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Simple to create &amp; render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Low hardware requirements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Classic cartoon aesthetic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Fast production pipeline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 b="1">
                <a:solidFill>
                  <a:srgbClr val="00D2FF"/>
                </a:solidFill>
                <a:latin typeface="Calibri"/>
              </a:rPr>
              <a:t>EXAMPLES: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Tom &amp; Jerry, Classic Disney,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Original Mario &amp; Pac-Man,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Mobile game animations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 b="1">
                <a:solidFill>
                  <a:srgbClr val="00D2FF"/>
                </a:solidFill>
                <a:latin typeface="Calibri"/>
              </a:rPr>
              <a:t>TOOLS: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Adobe Animate, Toon Boom,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Spine, TVPaint, Aseprite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0248" y="1453896"/>
            <a:ext cx="3849624" cy="5212080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233672" y="1417320"/>
            <a:ext cx="3849624" cy="5212080"/>
          </a:xfrm>
          <a:prstGeom prst="rect">
            <a:avLst/>
          </a:prstGeom>
          <a:solidFill>
            <a:srgbClr val="0E0E32"/>
          </a:solidFill>
          <a:ln w="5080">
            <a:solidFill>
              <a:srgbClr val="1C1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33672" y="1417320"/>
            <a:ext cx="54864" cy="521208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507992" y="1508760"/>
            <a:ext cx="2926080" cy="292608"/>
          </a:xfrm>
          <a:prstGeom prst="rect">
            <a:avLst/>
          </a:prstGeom>
          <a:solidFill>
            <a:srgbClr val="081832"/>
          </a:solidFill>
          <a:ln w="9525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99432" y="157276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9100"/>
                </a:solidFill>
                <a:latin typeface="Calibri"/>
              </a:rPr>
              <a:t>BG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1673352"/>
            <a:ext cx="2560320" cy="292608"/>
          </a:xfrm>
          <a:prstGeom prst="rect">
            <a:avLst/>
          </a:prstGeom>
          <a:solidFill>
            <a:srgbClr val="12203C"/>
          </a:solidFill>
          <a:ln w="9525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82312" y="173736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9100"/>
                </a:solidFill>
                <a:latin typeface="Calibri"/>
              </a:rPr>
              <a:t>MID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873752" y="1837943"/>
            <a:ext cx="2194560" cy="292608"/>
          </a:xfrm>
          <a:prstGeom prst="rect">
            <a:avLst/>
          </a:prstGeom>
          <a:solidFill>
            <a:srgbClr val="1C2846"/>
          </a:solidFill>
          <a:ln w="9525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965192" y="1901951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9100"/>
                </a:solidFill>
                <a:latin typeface="Calibri"/>
              </a:rPr>
              <a:t>FG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43400" y="24231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9100"/>
                </a:solidFill>
                <a:latin typeface="Trebuchet MS"/>
              </a:rPr>
              <a:t>2.5D SPACE  (pseudo-3D)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43400" y="2715768"/>
            <a:ext cx="3657600" cy="10972"/>
          </a:xfrm>
          <a:prstGeom prst="rect">
            <a:avLst/>
          </a:prstGeom>
          <a:solidFill>
            <a:srgbClr val="28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343400" y="2761488"/>
            <a:ext cx="36576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2D art + ILLUSION of depth via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layers, parallax &amp; shadows.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 b="1">
                <a:solidFill>
                  <a:srgbClr val="FF9100"/>
                </a:solidFill>
                <a:latin typeface="Calibri"/>
              </a:rPr>
              <a:t>CHARACTERISTICS: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Parallax scrolling creates depth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Objects appear on Z-axis visually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Still technically 2D sprites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'Pseudo-3D' / 'Layered 2D'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Great performance/visual tradeoff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 b="1">
                <a:solidFill>
                  <a:srgbClr val="FF9100"/>
                </a:solidFill>
                <a:latin typeface="Calibri"/>
              </a:rPr>
              <a:t>EXAMPLES: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Paper Mario, South Park,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Ori and the Blind Forest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Disney Multiplane Camera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 b="1">
                <a:solidFill>
                  <a:srgbClr val="FF9100"/>
                </a:solidFill>
                <a:latin typeface="Calibri"/>
              </a:rPr>
              <a:t>TOOLS: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After Effects Z-depth,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Unity 2D with parallax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47887" y="1453896"/>
            <a:ext cx="3849624" cy="5212080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211311" y="1417320"/>
            <a:ext cx="3849624" cy="5212080"/>
          </a:xfrm>
          <a:prstGeom prst="rect">
            <a:avLst/>
          </a:prstGeom>
          <a:solidFill>
            <a:srgbClr val="0E0E32"/>
          </a:solidFill>
          <a:ln w="5080">
            <a:solidFill>
              <a:srgbClr val="1C1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211311" y="1417320"/>
            <a:ext cx="54864" cy="521208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668511" y="1536192"/>
            <a:ext cx="1645920" cy="329184"/>
          </a:xfrm>
          <a:prstGeom prst="rect">
            <a:avLst/>
          </a:prstGeom>
          <a:solidFill>
            <a:srgbClr val="0F3219"/>
          </a:solidFill>
          <a:ln w="1270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668511" y="1865376"/>
            <a:ext cx="822960" cy="457200"/>
          </a:xfrm>
          <a:prstGeom prst="rect">
            <a:avLst/>
          </a:prstGeom>
          <a:solidFill>
            <a:srgbClr val="0A2312"/>
          </a:solidFill>
          <a:ln w="1270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491472" y="1865376"/>
            <a:ext cx="822960" cy="457200"/>
          </a:xfrm>
          <a:prstGeom prst="rect">
            <a:avLst/>
          </a:prstGeom>
          <a:solidFill>
            <a:srgbClr val="0C2A16"/>
          </a:solidFill>
          <a:ln w="1270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668511" y="234086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ED573"/>
                </a:solidFill>
                <a:latin typeface="Calibri"/>
              </a:rPr>
              <a:t>X    Y    Z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21039" y="24231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D573"/>
                </a:solidFill>
                <a:latin typeface="Trebuchet MS"/>
              </a:rPr>
              <a:t>3D SPACE  (X + Y + Z)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321039" y="2715768"/>
            <a:ext cx="3657600" cy="10972"/>
          </a:xfrm>
          <a:prstGeom prst="rect">
            <a:avLst/>
          </a:prstGeom>
          <a:solidFill>
            <a:srgbClr val="28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321039" y="2761488"/>
            <a:ext cx="36576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Full volumetric environment.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True depth, volume, perspective.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 b="1">
                <a:solidFill>
                  <a:srgbClr val="2ED573"/>
                </a:solidFill>
                <a:latin typeface="Calibri"/>
              </a:rPr>
              <a:t>CHARACTERISTICS: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Viewable from any camera angle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Realistic lighting &amp; shadows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Requires powerful hardware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Longer render times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Maximum visual versatility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 b="1">
                <a:solidFill>
                  <a:srgbClr val="2ED573"/>
                </a:solidFill>
                <a:latin typeface="Calibri"/>
              </a:rPr>
              <a:t>EXAMPLES: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Toy Story, Frozen, Moana,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Fortnite, Call of Duty,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Architectural visualizations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 b="1">
                <a:solidFill>
                  <a:srgbClr val="2ED573"/>
                </a:solidFill>
                <a:latin typeface="Calibri"/>
              </a:rPr>
              <a:t>TOOLS: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Blender, Autodesk Maya,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Cinema 4D, Unreal Engine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fill="hold">
                <p:stCondLst>
                  <p:cond delay="200"/>
                </p:stCondLst>
                <p:childTnLst>
                  <p:par>
                    <p:cTn id="3" presetID="10" presetClass="entr" presetSubtype="0" fill="hold" grpId="0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4" dur="550"/>
                            <p:tgtEl>
                              <p:spTgt spid="40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5" dur="550"/>
                            <p:tgtEl>
                              <p:spTgt spid="40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delay="420"/>
                </p:stCondLst>
                <p:childTnLst>
                  <p:par>
                    <p:cTn id="7" presetID="10" presetClass="entr" presetSubtype="0" fill="hold" grpId="1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8" dur="550"/>
                            <p:tgtEl>
                              <p:spTgt spid="50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9" dur="550"/>
                            <p:tgtEl>
                              <p:spTgt spid="50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id="10" fill="hold">
                <p:stCondLst>
                  <p:cond delay="640"/>
                </p:stCondLst>
                <p:childTnLst>
                  <p:par>
                    <p:cTn id="11" presetID="10" presetClass="entr" presetSubtype="0" fill="hold" grpId="2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12" dur="550"/>
                            <p:tgtEl>
                              <p:spTgt spid="62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13" dur="550"/>
                            <p:tgtEl>
                              <p:spTgt spid="62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</p:childTnLst>
        </p:cTn>
      </p:par>
    </p:tnLst>
    <p:bldLst/>
  </p:timing>
  <p:transition spd="med" dur="500">
    <p:push dir="l"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480382" y="891165"/>
            <a:ext cx="76955" cy="76955"/>
          </a:xfrm>
          <a:prstGeom prst="ellipse">
            <a:avLst/>
          </a:prstGeom>
          <a:solidFill>
            <a:srgbClr val="281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032311" y="6595176"/>
            <a:ext cx="37502" cy="37502"/>
          </a:xfrm>
          <a:prstGeom prst="ellipse">
            <a:avLst/>
          </a:prstGeom>
          <a:solidFill>
            <a:srgbClr val="281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76727" y="4810333"/>
            <a:ext cx="83613" cy="83613"/>
          </a:xfrm>
          <a:prstGeom prst="ellipse">
            <a:avLst/>
          </a:prstGeom>
          <a:solidFill>
            <a:srgbClr val="281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85049" y="2225811"/>
            <a:ext cx="55124" cy="55124"/>
          </a:xfrm>
          <a:prstGeom prst="ellipse">
            <a:avLst/>
          </a:prstGeom>
          <a:solidFill>
            <a:srgbClr val="281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71813" y="2464968"/>
            <a:ext cx="51022" cy="51022"/>
          </a:xfrm>
          <a:prstGeom prst="ellipse">
            <a:avLst/>
          </a:prstGeom>
          <a:solidFill>
            <a:srgbClr val="281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858601" y="5843159"/>
            <a:ext cx="84556" cy="84556"/>
          </a:xfrm>
          <a:prstGeom prst="ellipse">
            <a:avLst/>
          </a:prstGeom>
          <a:solidFill>
            <a:srgbClr val="281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18432" y="2130281"/>
            <a:ext cx="87316" cy="87316"/>
          </a:xfrm>
          <a:prstGeom prst="ellipse">
            <a:avLst/>
          </a:prstGeom>
          <a:solidFill>
            <a:srgbClr val="281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168117" y="2177067"/>
            <a:ext cx="61568" cy="61568"/>
          </a:xfrm>
          <a:prstGeom prst="ellipse">
            <a:avLst/>
          </a:prstGeom>
          <a:solidFill>
            <a:srgbClr val="281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97235" y="1285042"/>
            <a:ext cx="67557" cy="67557"/>
          </a:xfrm>
          <a:prstGeom prst="ellipse">
            <a:avLst/>
          </a:prstGeom>
          <a:solidFill>
            <a:srgbClr val="281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96019" y="4156442"/>
            <a:ext cx="87611" cy="87611"/>
          </a:xfrm>
          <a:prstGeom prst="ellipse">
            <a:avLst/>
          </a:prstGeom>
          <a:solidFill>
            <a:srgbClr val="281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38852" y="3193672"/>
            <a:ext cx="83955" cy="83955"/>
          </a:xfrm>
          <a:prstGeom prst="ellipse">
            <a:avLst/>
          </a:prstGeom>
          <a:solidFill>
            <a:srgbClr val="281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830702" y="3692019"/>
            <a:ext cx="88423" cy="88423"/>
          </a:xfrm>
          <a:prstGeom prst="ellipse">
            <a:avLst/>
          </a:prstGeom>
          <a:solidFill>
            <a:srgbClr val="281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02336" y="1644124"/>
            <a:ext cx="46023" cy="46023"/>
          </a:xfrm>
          <a:prstGeom prst="ellipse">
            <a:avLst/>
          </a:prstGeom>
          <a:solidFill>
            <a:srgbClr val="281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162290" y="4863788"/>
            <a:ext cx="76027" cy="76027"/>
          </a:xfrm>
          <a:prstGeom prst="ellipse">
            <a:avLst/>
          </a:prstGeom>
          <a:solidFill>
            <a:srgbClr val="281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37538" y="3719691"/>
            <a:ext cx="85243" cy="85243"/>
          </a:xfrm>
          <a:prstGeom prst="ellipse">
            <a:avLst/>
          </a:prstGeom>
          <a:solidFill>
            <a:srgbClr val="281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51856" y="1503108"/>
            <a:ext cx="39177" cy="39177"/>
          </a:xfrm>
          <a:prstGeom prst="ellipse">
            <a:avLst/>
          </a:prstGeom>
          <a:solidFill>
            <a:srgbClr val="281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668245" y="5741596"/>
            <a:ext cx="67024" cy="67024"/>
          </a:xfrm>
          <a:prstGeom prst="ellipse">
            <a:avLst/>
          </a:prstGeom>
          <a:solidFill>
            <a:srgbClr val="281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81688" y="3761075"/>
            <a:ext cx="46408" cy="46408"/>
          </a:xfrm>
          <a:prstGeom prst="ellipse">
            <a:avLst/>
          </a:prstGeom>
          <a:solidFill>
            <a:srgbClr val="281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A0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749808"/>
            <a:ext cx="12188952" cy="27432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430000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173968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917936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661904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405872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149840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" y="73152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9100"/>
                </a:solidFill>
                <a:latin typeface="Trebuchet MS"/>
              </a:rP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" y="118872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Trebuchet MS"/>
              </a:rPr>
              <a:t>ANIMATION PROCESS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-2286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00" b="1" i="0">
                <a:solidFill>
                  <a:srgbClr val="FF9100"/>
                </a:solidFill>
                <a:latin typeface="Trebuchet MS"/>
              </a:rPr>
              <a:t>09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" y="822960"/>
            <a:ext cx="11676888" cy="365760"/>
          </a:xfrm>
          <a:prstGeom prst="rect">
            <a:avLst/>
          </a:prstGeom>
          <a:solidFill>
            <a:srgbClr val="0A0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56032" y="822960"/>
            <a:ext cx="50292" cy="3657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868680"/>
            <a:ext cx="11475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3CDE8"/>
                </a:solidFill>
                <a:latin typeface="Calibri"/>
              </a:rPr>
              <a:t>Every animation project — from a 10-second ad to a 2-hour feature film — follows this same 4-stage pipeline.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2608" y="1453896"/>
            <a:ext cx="2633472" cy="5138928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56032" y="1417320"/>
            <a:ext cx="2633472" cy="5138928"/>
          </a:xfrm>
          <a:prstGeom prst="rect">
            <a:avLst/>
          </a:prstGeom>
          <a:solidFill>
            <a:srgbClr val="0E0E32"/>
          </a:solidFill>
          <a:ln w="5080">
            <a:solidFill>
              <a:srgbClr val="1C1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56032" y="1417320"/>
            <a:ext cx="54864" cy="513892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56032" y="1417320"/>
            <a:ext cx="2633472" cy="32918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6032" y="1435608"/>
            <a:ext cx="2633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0618"/>
                </a:solidFill>
                <a:latin typeface="Trebuchet MS"/>
              </a:rPr>
              <a:t>STEP 1</a:t>
            </a:r>
          </a:p>
        </p:txBody>
      </p:sp>
      <p:sp>
        <p:nvSpPr>
          <p:cNvPr id="40" name="Oval 39"/>
          <p:cNvSpPr/>
          <p:nvPr/>
        </p:nvSpPr>
        <p:spPr>
          <a:xfrm>
            <a:off x="1225295" y="1819656"/>
            <a:ext cx="694944" cy="694944"/>
          </a:xfrm>
          <a:prstGeom prst="ellipse">
            <a:avLst/>
          </a:prstGeom>
          <a:solidFill>
            <a:srgbClr val="141440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25295" y="1874519"/>
            <a:ext cx="69494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D2FF"/>
                </a:solidFill>
                <a:latin typeface="Trebuchet MS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26060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D2FF"/>
                </a:solidFill>
                <a:latin typeface="Trebuchet MS"/>
              </a:rPr>
              <a:t>PLAN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2907792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D2FF"/>
                </a:solidFill>
                <a:latin typeface="Trebuchet MS"/>
              </a:rPr>
              <a:t>ORGANIZE EXECUTION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3191256"/>
            <a:ext cx="2468879" cy="10972"/>
          </a:xfrm>
          <a:prstGeom prst="rect">
            <a:avLst/>
          </a:prstGeom>
          <a:solidFill>
            <a:srgbClr val="28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3236976"/>
            <a:ext cx="2468879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Define project goals &amp; scope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Assign team roles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Set milestones &amp; deadlines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Gather reference material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Create style guide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Budget &amp; risk planning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 b="1">
                <a:solidFill>
                  <a:srgbClr val="00D2FF"/>
                </a:solidFill>
                <a:latin typeface="Calibri"/>
              </a:rPr>
              <a:t>OUTPUT: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Project bible, schedule,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mood boards, storyboard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98648" y="3108960"/>
            <a:ext cx="3108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9100"/>
                </a:solidFill>
                <a:latin typeface="Trebuchet MS"/>
              </a:rPr>
              <a:t>&gt;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73552" y="1453896"/>
            <a:ext cx="2633472" cy="5138928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236976" y="1417320"/>
            <a:ext cx="2633472" cy="5138928"/>
          </a:xfrm>
          <a:prstGeom prst="rect">
            <a:avLst/>
          </a:prstGeom>
          <a:solidFill>
            <a:srgbClr val="0E0E32"/>
          </a:solidFill>
          <a:ln w="5080">
            <a:solidFill>
              <a:srgbClr val="1C1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236976" y="1417320"/>
            <a:ext cx="54864" cy="5138928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236976" y="1417320"/>
            <a:ext cx="2633472" cy="329184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36976" y="1435608"/>
            <a:ext cx="2633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0618"/>
                </a:solidFill>
                <a:latin typeface="Trebuchet MS"/>
              </a:rPr>
              <a:t>STEP 2</a:t>
            </a:r>
          </a:p>
        </p:txBody>
      </p:sp>
      <p:sp>
        <p:nvSpPr>
          <p:cNvPr id="52" name="Oval 51"/>
          <p:cNvSpPr/>
          <p:nvPr/>
        </p:nvSpPr>
        <p:spPr>
          <a:xfrm>
            <a:off x="4206240" y="1819656"/>
            <a:ext cx="694944" cy="694944"/>
          </a:xfrm>
          <a:prstGeom prst="ellipse">
            <a:avLst/>
          </a:prstGeom>
          <a:solidFill>
            <a:srgbClr val="141440"/>
          </a:solidFill>
          <a:ln w="2540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06240" y="1874519"/>
            <a:ext cx="69494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9100"/>
                </a:solidFill>
                <a:latin typeface="Trebuchet MS"/>
              </a:rP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39312" y="26060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9100"/>
                </a:solidFill>
                <a:latin typeface="Trebuchet MS"/>
              </a:rPr>
              <a:t>TOOL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46704" y="2907792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9100"/>
                </a:solidFill>
                <a:latin typeface="Trebuchet MS"/>
              </a:rPr>
              <a:t>CHOOSE TOOL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346704" y="3191256"/>
            <a:ext cx="2468879" cy="10972"/>
          </a:xfrm>
          <a:prstGeom prst="rect">
            <a:avLst/>
          </a:prstGeom>
          <a:solidFill>
            <a:srgbClr val="28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346704" y="3236976"/>
            <a:ext cx="2468879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Match tool to project type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Consider team skill level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Account for budget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 b="1">
                <a:solidFill>
                  <a:srgbClr val="FF9100"/>
                </a:solidFill>
                <a:latin typeface="Calibri"/>
              </a:rPr>
              <a:t>2D: Adobe Animate, Toon Boom</a:t>
            </a:r>
          </a:p>
          <a:p>
            <a:pPr>
              <a:spcBef>
                <a:spcPts val="100"/>
              </a:spcBef>
            </a:pPr>
            <a:r>
              <a:rPr sz="900" b="1">
                <a:solidFill>
                  <a:srgbClr val="FF9100"/>
                </a:solidFill>
                <a:latin typeface="Calibri"/>
              </a:rPr>
              <a:t>3D: Maya, Blender, Cinema 4D</a:t>
            </a:r>
          </a:p>
          <a:p>
            <a:pPr>
              <a:spcBef>
                <a:spcPts val="100"/>
              </a:spcBef>
            </a:pPr>
            <a:r>
              <a:rPr sz="900" b="1">
                <a:solidFill>
                  <a:srgbClr val="FF9100"/>
                </a:solidFill>
                <a:latin typeface="Calibri"/>
              </a:rPr>
              <a:t>Motion: After Effects</a:t>
            </a:r>
          </a:p>
          <a:p>
            <a:pPr>
              <a:spcBef>
                <a:spcPts val="100"/>
              </a:spcBef>
            </a:pPr>
            <a:r>
              <a:rPr sz="900" b="1">
                <a:solidFill>
                  <a:srgbClr val="FF9100"/>
                </a:solidFill>
                <a:latin typeface="Calibri"/>
              </a:rPr>
              <a:t>Games: Unity, Unreal Engine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79592" y="3108960"/>
            <a:ext cx="3108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9100"/>
                </a:solidFill>
                <a:latin typeface="Trebuchet MS"/>
              </a:rPr>
              <a:t>&gt;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54496" y="1453896"/>
            <a:ext cx="2633472" cy="5138928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217920" y="1417320"/>
            <a:ext cx="2633472" cy="5138928"/>
          </a:xfrm>
          <a:prstGeom prst="rect">
            <a:avLst/>
          </a:prstGeom>
          <a:solidFill>
            <a:srgbClr val="0E0E32"/>
          </a:solidFill>
          <a:ln w="5080">
            <a:solidFill>
              <a:srgbClr val="1C1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217920" y="1417320"/>
            <a:ext cx="54864" cy="5138928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217920" y="1417320"/>
            <a:ext cx="2633472" cy="329184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17920" y="1435608"/>
            <a:ext cx="2633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0618"/>
                </a:solidFill>
                <a:latin typeface="Trebuchet MS"/>
              </a:rPr>
              <a:t>STEP 3</a:t>
            </a:r>
          </a:p>
        </p:txBody>
      </p:sp>
      <p:sp>
        <p:nvSpPr>
          <p:cNvPr id="64" name="Oval 63"/>
          <p:cNvSpPr/>
          <p:nvPr/>
        </p:nvSpPr>
        <p:spPr>
          <a:xfrm>
            <a:off x="7187184" y="1819656"/>
            <a:ext cx="694944" cy="694944"/>
          </a:xfrm>
          <a:prstGeom prst="ellipse">
            <a:avLst/>
          </a:prstGeom>
          <a:solidFill>
            <a:srgbClr val="141440"/>
          </a:solidFill>
          <a:ln w="2540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187184" y="1874519"/>
            <a:ext cx="69494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ED573"/>
                </a:solidFill>
                <a:latin typeface="Trebuchet MS"/>
              </a:rPr>
              <a:t>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20256" y="26060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D573"/>
                </a:solidFill>
                <a:latin typeface="Trebuchet MS"/>
              </a:rPr>
              <a:t>BUILD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27648" y="2907792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D573"/>
                </a:solidFill>
                <a:latin typeface="Trebuchet MS"/>
              </a:rPr>
              <a:t>BUILD &amp; TWEAK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27648" y="3191256"/>
            <a:ext cx="2468879" cy="10972"/>
          </a:xfrm>
          <a:prstGeom prst="rect">
            <a:avLst/>
          </a:prstGeom>
          <a:solidFill>
            <a:srgbClr val="28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27648" y="3236976"/>
            <a:ext cx="2468879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Create rough blocking first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Refine with keyframes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Apply the 12 Principles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Sync with audio / music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Team review cycles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Iterate until approved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 b="1">
                <a:solidFill>
                  <a:srgbClr val="2ED573"/>
                </a:solidFill>
                <a:latin typeface="Calibri"/>
              </a:rPr>
              <a:t>NOTE: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This step is ITERATIVE —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cycle through many times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860536" y="3108960"/>
            <a:ext cx="3108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9100"/>
                </a:solidFill>
                <a:latin typeface="Trebuchet MS"/>
              </a:rPr>
              <a:t>&gt;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235439" y="1453896"/>
            <a:ext cx="2633472" cy="5138928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198863" y="1417320"/>
            <a:ext cx="2633472" cy="5138928"/>
          </a:xfrm>
          <a:prstGeom prst="rect">
            <a:avLst/>
          </a:prstGeom>
          <a:solidFill>
            <a:srgbClr val="0E0E32"/>
          </a:solidFill>
          <a:ln w="5080">
            <a:solidFill>
              <a:srgbClr val="1C1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198863" y="1417320"/>
            <a:ext cx="54864" cy="5138928"/>
          </a:xfrm>
          <a:prstGeom prst="rect">
            <a:avLst/>
          </a:prstGeom>
          <a:solidFill>
            <a:srgbClr val="965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198863" y="1417320"/>
            <a:ext cx="2633472" cy="329184"/>
          </a:xfrm>
          <a:prstGeom prst="rect">
            <a:avLst/>
          </a:prstGeom>
          <a:solidFill>
            <a:srgbClr val="965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198863" y="1435608"/>
            <a:ext cx="2633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0618"/>
                </a:solidFill>
                <a:latin typeface="Trebuchet MS"/>
              </a:rPr>
              <a:t>STEP 4</a:t>
            </a:r>
          </a:p>
        </p:txBody>
      </p:sp>
      <p:sp>
        <p:nvSpPr>
          <p:cNvPr id="76" name="Oval 75"/>
          <p:cNvSpPr/>
          <p:nvPr/>
        </p:nvSpPr>
        <p:spPr>
          <a:xfrm>
            <a:off x="10168127" y="1819656"/>
            <a:ext cx="694944" cy="694944"/>
          </a:xfrm>
          <a:prstGeom prst="ellipse">
            <a:avLst/>
          </a:prstGeom>
          <a:solidFill>
            <a:srgbClr val="141440"/>
          </a:solidFill>
          <a:ln w="25400">
            <a:solidFill>
              <a:srgbClr val="965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168127" y="1874519"/>
            <a:ext cx="69494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9650DC"/>
                </a:solidFill>
                <a:latin typeface="Trebuchet MS"/>
              </a:rPr>
              <a:t>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601199" y="26060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650DC"/>
                </a:solidFill>
                <a:latin typeface="Trebuchet MS"/>
              </a:rPr>
              <a:t>POST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308591" y="2907792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9650DC"/>
                </a:solidFill>
                <a:latin typeface="Trebuchet MS"/>
              </a:rPr>
              <a:t>POST-PROCESS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308591" y="3191256"/>
            <a:ext cx="2468879" cy="10972"/>
          </a:xfrm>
          <a:prstGeom prst="rect">
            <a:avLst/>
          </a:prstGeom>
          <a:solidFill>
            <a:srgbClr val="28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308591" y="3236976"/>
            <a:ext cx="2468879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Render final frames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Color grading &amp; correction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Add VFX &amp; overlays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Sound design &amp; music mix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Quality assurance testing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Format for delivery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• Archive project files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6E7DAA"/>
                </a:solidFill>
                <a:latin typeface="Calibri"/>
              </a:rPr>
              <a:t/>
            </a:r>
          </a:p>
          <a:p>
            <a:pPr>
              <a:spcBef>
                <a:spcPts val="100"/>
              </a:spcBef>
            </a:pPr>
            <a:r>
              <a:rPr sz="900" b="1">
                <a:solidFill>
                  <a:srgbClr val="9650DC"/>
                </a:solidFill>
                <a:latin typeface="Calibri"/>
              </a:rPr>
              <a:t>OUTPUT: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C3CDE8"/>
                </a:solidFill>
                <a:latin typeface="Calibri"/>
              </a:rPr>
              <a:t>Final MP4, MOV, WebM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fill="hold">
                <p:stCondLst>
                  <p:cond delay="200"/>
                </p:stCondLst>
                <p:childTnLst>
                  <p:par>
                    <p:cTn id="3" presetID="10" presetClass="entr" presetSubtype="0" fill="hold" grpId="0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4" dur="550"/>
                            <p:tgtEl>
                              <p:spTgt spid="36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5" dur="550"/>
                            <p:tgtEl>
                              <p:spTgt spid="36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delay="400"/>
                </p:stCondLst>
                <p:childTnLst>
                  <p:par>
                    <p:cTn id="7" presetID="10" presetClass="entr" presetSubtype="0" fill="hold" grpId="1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8" dur="550"/>
                            <p:tgtEl>
                              <p:spTgt spid="48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9" dur="550"/>
                            <p:tgtEl>
                              <p:spTgt spid="48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id="10" fill="hold">
                <p:stCondLst>
                  <p:cond delay="600"/>
                </p:stCondLst>
                <p:childTnLst>
                  <p:par>
                    <p:cTn id="11" presetID="10" presetClass="entr" presetSubtype="0" fill="hold" grpId="2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12" dur="550"/>
                            <p:tgtEl>
                              <p:spTgt spid="60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13" dur="550"/>
                            <p:tgtEl>
                              <p:spTgt spid="60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id="14" fill="hold">
                <p:stCondLst>
                  <p:cond delay="800"/>
                </p:stCondLst>
                <p:childTnLst>
                  <p:par>
                    <p:cTn id="15" presetID="10" presetClass="entr" presetSubtype="0" fill="hold" grpId="3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16" dur="550"/>
                            <p:tgtEl>
                              <p:spTgt spid="72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17" dur="550"/>
                            <p:tgtEl>
                              <p:spTgt spid="72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</p:childTnLst>
        </p:cTn>
      </p:par>
    </p:tnLst>
    <p:bldLst/>
  </p:timing>
  <p:transition spd="med" dur="500">
    <p:push dir="l"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414258" y="3634809"/>
            <a:ext cx="59451" cy="59451"/>
          </a:xfrm>
          <a:prstGeom prst="ellipse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11893" y="3219511"/>
            <a:ext cx="72660" cy="72660"/>
          </a:xfrm>
          <a:prstGeom prst="ellipse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12606" y="4539057"/>
            <a:ext cx="37131" cy="37131"/>
          </a:xfrm>
          <a:prstGeom prst="ellipse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718096" y="2783804"/>
            <a:ext cx="44363" cy="44363"/>
          </a:xfrm>
          <a:prstGeom prst="ellipse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84038" y="2637763"/>
            <a:ext cx="79876" cy="79876"/>
          </a:xfrm>
          <a:prstGeom prst="ellipse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74609" y="2306517"/>
            <a:ext cx="85599" cy="85599"/>
          </a:xfrm>
          <a:prstGeom prst="ellipse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35719" y="4728802"/>
            <a:ext cx="38077" cy="38077"/>
          </a:xfrm>
          <a:prstGeom prst="ellipse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29276" y="4490793"/>
            <a:ext cx="52828" cy="52828"/>
          </a:xfrm>
          <a:prstGeom prst="ellipse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08574" y="2635901"/>
            <a:ext cx="50743" cy="50743"/>
          </a:xfrm>
          <a:prstGeom prst="ellipse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03838" y="2858227"/>
            <a:ext cx="59790" cy="59790"/>
          </a:xfrm>
          <a:prstGeom prst="ellipse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09019" y="6373052"/>
            <a:ext cx="52652" cy="52652"/>
          </a:xfrm>
          <a:prstGeom prst="ellipse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7947" y="6522287"/>
            <a:ext cx="82254" cy="82254"/>
          </a:xfrm>
          <a:prstGeom prst="ellipse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33169" y="3885820"/>
            <a:ext cx="49458" cy="49458"/>
          </a:xfrm>
          <a:prstGeom prst="ellipse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991307" y="2603409"/>
            <a:ext cx="61861" cy="61861"/>
          </a:xfrm>
          <a:prstGeom prst="ellipse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2227" y="4915288"/>
            <a:ext cx="76510" cy="76510"/>
          </a:xfrm>
          <a:prstGeom prst="ellipse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35829" y="5752985"/>
            <a:ext cx="63543" cy="63543"/>
          </a:xfrm>
          <a:prstGeom prst="ellipse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936404" y="3603193"/>
            <a:ext cx="80233" cy="80233"/>
          </a:xfrm>
          <a:prstGeom prst="ellipse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99759" y="4410493"/>
            <a:ext cx="63965" cy="63965"/>
          </a:xfrm>
          <a:prstGeom prst="ellipse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9203" y="1665373"/>
            <a:ext cx="49318" cy="49318"/>
          </a:xfrm>
          <a:prstGeom prst="ellipse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937369" y="2983863"/>
            <a:ext cx="66159" cy="66159"/>
          </a:xfrm>
          <a:prstGeom prst="ellipse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00313" y="3163887"/>
            <a:ext cx="54098" cy="54098"/>
          </a:xfrm>
          <a:prstGeom prst="ellipse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165220" y="6398699"/>
            <a:ext cx="79524" cy="79524"/>
          </a:xfrm>
          <a:prstGeom prst="ellipse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853928" y="5604106"/>
            <a:ext cx="49074" cy="49074"/>
          </a:xfrm>
          <a:prstGeom prst="ellipse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63896" y="1367959"/>
            <a:ext cx="43242" cy="43242"/>
          </a:xfrm>
          <a:prstGeom prst="ellipse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89845" y="4483960"/>
            <a:ext cx="86982" cy="86982"/>
          </a:xfrm>
          <a:prstGeom prst="ellipse">
            <a:avLst/>
          </a:prstGeom>
          <a:solidFill>
            <a:srgbClr val="00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A0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749808"/>
            <a:ext cx="12188952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430000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173968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917936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661904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405872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49840" y="0"/>
            <a:ext cx="128016" cy="777240"/>
          </a:xfrm>
          <a:prstGeom prst="rect">
            <a:avLst/>
          </a:prstGeom>
          <a:solidFill>
            <a:srgbClr val="101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" y="118872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Trebuchet MS"/>
              </a:rPr>
              <a:t>SUMMARY — KEY TAKEAWAYS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3464" y="886968"/>
            <a:ext cx="5669280" cy="1051560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56032" y="859536"/>
            <a:ext cx="5669280" cy="1051560"/>
          </a:xfrm>
          <a:prstGeom prst="rect">
            <a:avLst/>
          </a:prstGeom>
          <a:solidFill>
            <a:srgbClr val="0E0E32"/>
          </a:solidFill>
          <a:ln w="5080">
            <a:solidFill>
              <a:srgbClr val="1C1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56032" y="859536"/>
            <a:ext cx="54864" cy="10515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10896" y="859536"/>
            <a:ext cx="5614416" cy="2743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65760" y="932688"/>
            <a:ext cx="566928" cy="566928"/>
          </a:xfrm>
          <a:prstGeom prst="rect">
            <a:avLst/>
          </a:prstGeom>
          <a:solidFill>
            <a:srgbClr val="141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969264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D2FF"/>
                </a:solidFill>
                <a:latin typeface="Trebuchet MS"/>
              </a:rP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" y="932688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D2FF"/>
                </a:solidFill>
                <a:latin typeface="Trebuchet MS"/>
              </a:rPr>
              <a:t>Introduction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" y="1225295"/>
            <a:ext cx="4800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3CDE8"/>
                </a:solidFill>
                <a:latin typeface="Calibri"/>
              </a:rPr>
              <a:t>Animation = sequential images + Persistence of Vision + Phi Phenomenon = seamless illusion of motion.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83464" y="2002536"/>
            <a:ext cx="5669280" cy="1051560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56032" y="1975104"/>
            <a:ext cx="5669280" cy="1051560"/>
          </a:xfrm>
          <a:prstGeom prst="rect">
            <a:avLst/>
          </a:prstGeom>
          <a:solidFill>
            <a:srgbClr val="0E0E32"/>
          </a:solidFill>
          <a:ln w="5080">
            <a:solidFill>
              <a:srgbClr val="1C1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56032" y="1975104"/>
            <a:ext cx="54864" cy="1051560"/>
          </a:xfrm>
          <a:prstGeom prst="rect">
            <a:avLst/>
          </a:prstGeom>
          <a:solidFill>
            <a:srgbClr val="965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10896" y="1975104"/>
            <a:ext cx="5614416" cy="2743"/>
          </a:xfrm>
          <a:prstGeom prst="rect">
            <a:avLst/>
          </a:prstGeom>
          <a:solidFill>
            <a:srgbClr val="965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65760" y="2048256"/>
            <a:ext cx="566928" cy="566928"/>
          </a:xfrm>
          <a:prstGeom prst="rect">
            <a:avLst/>
          </a:prstGeom>
          <a:solidFill>
            <a:srgbClr val="141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2084832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9650DC"/>
                </a:solidFill>
                <a:latin typeface="Trebuchet MS"/>
              </a:rPr>
              <a:t>02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4128" y="2048256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9650DC"/>
                </a:solidFill>
                <a:latin typeface="Trebuchet MS"/>
              </a:rPr>
              <a:t>Usage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4128" y="2340864"/>
            <a:ext cx="4800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3CDE8"/>
                </a:solidFill>
                <a:latin typeface="Calibri"/>
              </a:rPr>
              <a:t>Art, storytelling, scientific visualization, instructional training. Used across every major industry.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83464" y="3118103"/>
            <a:ext cx="5669280" cy="1051560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56032" y="3090672"/>
            <a:ext cx="5669280" cy="1051560"/>
          </a:xfrm>
          <a:prstGeom prst="rect">
            <a:avLst/>
          </a:prstGeom>
          <a:solidFill>
            <a:srgbClr val="0E0E32"/>
          </a:solidFill>
          <a:ln w="5080">
            <a:solidFill>
              <a:srgbClr val="1C1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56032" y="3090672"/>
            <a:ext cx="54864" cy="105156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10896" y="3090672"/>
            <a:ext cx="5614416" cy="2743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65760" y="3163824"/>
            <a:ext cx="566928" cy="566928"/>
          </a:xfrm>
          <a:prstGeom prst="rect">
            <a:avLst/>
          </a:prstGeom>
          <a:solidFill>
            <a:srgbClr val="141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5760" y="3200400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9100"/>
                </a:solidFill>
                <a:latin typeface="Trebuchet MS"/>
              </a:rPr>
              <a:t>03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4128" y="3163824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9100"/>
                </a:solidFill>
                <a:latin typeface="Trebuchet MS"/>
              </a:rPr>
              <a:t>Techniques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4128" y="3456432"/>
            <a:ext cx="4800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3CDE8"/>
                </a:solidFill>
                <a:latin typeface="Calibri"/>
              </a:rPr>
              <a:t>Three core: Cel (hand-drawn), Path (trajectory-based), Computer (digital — most versatile today).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83464" y="4233672"/>
            <a:ext cx="5669280" cy="1051560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56032" y="4206240"/>
            <a:ext cx="5669280" cy="1051560"/>
          </a:xfrm>
          <a:prstGeom prst="rect">
            <a:avLst/>
          </a:prstGeom>
          <a:solidFill>
            <a:srgbClr val="0E0E32"/>
          </a:solidFill>
          <a:ln w="5080">
            <a:solidFill>
              <a:srgbClr val="1C1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56032" y="4206240"/>
            <a:ext cx="54864" cy="105156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10896" y="4206240"/>
            <a:ext cx="5614416" cy="2743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65760" y="4279392"/>
            <a:ext cx="566928" cy="566928"/>
          </a:xfrm>
          <a:prstGeom prst="rect">
            <a:avLst/>
          </a:prstGeom>
          <a:solidFill>
            <a:srgbClr val="141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" y="4315968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D573"/>
                </a:solidFill>
                <a:latin typeface="Trebuchet MS"/>
              </a:rPr>
              <a:t>04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24128" y="4279392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D573"/>
                </a:solidFill>
                <a:latin typeface="Trebuchet MS"/>
              </a:rPr>
              <a:t>Cel Animation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24128" y="4572000"/>
            <a:ext cx="4800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3CDE8"/>
                </a:solidFill>
                <a:latin typeface="Calibri"/>
              </a:rPr>
              <a:t>Keyframes + tweening = smooth motion. Pencil test validates timing before expensive final production.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83464" y="5349240"/>
            <a:ext cx="5669280" cy="1051560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56032" y="5321808"/>
            <a:ext cx="5669280" cy="1051560"/>
          </a:xfrm>
          <a:prstGeom prst="rect">
            <a:avLst/>
          </a:prstGeom>
          <a:solidFill>
            <a:srgbClr val="0E0E32"/>
          </a:solidFill>
          <a:ln w="5080">
            <a:solidFill>
              <a:srgbClr val="1C1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56032" y="5321808"/>
            <a:ext cx="54864" cy="1051560"/>
          </a:xfrm>
          <a:prstGeom prst="rect">
            <a:avLst/>
          </a:prstGeom>
          <a:solidFill>
            <a:srgbClr val="FF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10896" y="5321808"/>
            <a:ext cx="5614416" cy="2743"/>
          </a:xfrm>
          <a:prstGeom prst="rect">
            <a:avLst/>
          </a:prstGeom>
          <a:solidFill>
            <a:srgbClr val="FF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65760" y="5394960"/>
            <a:ext cx="566928" cy="566928"/>
          </a:xfrm>
          <a:prstGeom prst="rect">
            <a:avLst/>
          </a:prstGeom>
          <a:solidFill>
            <a:srgbClr val="141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65760" y="5431536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5AA0"/>
                </a:solidFill>
                <a:latin typeface="Trebuchet MS"/>
              </a:rPr>
              <a:t>05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24128" y="5394960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5AA0"/>
                </a:solidFill>
                <a:latin typeface="Trebuchet MS"/>
              </a:rPr>
              <a:t>Path Animation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24128" y="5687568"/>
            <a:ext cx="4800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3CDE8"/>
                </a:solidFill>
                <a:latin typeface="Calibri"/>
              </a:rPr>
              <a:t>Object follows predefined path (straight or Bezier) with easing for natural, weighted motion feel.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382512" y="886968"/>
            <a:ext cx="5669280" cy="1051560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355080" y="859536"/>
            <a:ext cx="5669280" cy="1051560"/>
          </a:xfrm>
          <a:prstGeom prst="rect">
            <a:avLst/>
          </a:prstGeom>
          <a:solidFill>
            <a:srgbClr val="0E0E32"/>
          </a:solidFill>
          <a:ln w="5080">
            <a:solidFill>
              <a:srgbClr val="1C1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355080" y="859536"/>
            <a:ext cx="54864" cy="10515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409944" y="859536"/>
            <a:ext cx="5614416" cy="2743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464808" y="932688"/>
            <a:ext cx="566928" cy="566928"/>
          </a:xfrm>
          <a:prstGeom prst="rect">
            <a:avLst/>
          </a:prstGeom>
          <a:solidFill>
            <a:srgbClr val="141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464808" y="969264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D2FF"/>
                </a:solidFill>
                <a:latin typeface="Trebuchet MS"/>
              </a:rPr>
              <a:t>06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123176" y="932688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D2FF"/>
                </a:solidFill>
                <a:latin typeface="Trebuchet MS"/>
              </a:rPr>
              <a:t>Computer Anim.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123176" y="1225295"/>
            <a:ext cx="4800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3CDE8"/>
                </a:solidFill>
                <a:latin typeface="Calibri"/>
              </a:rPr>
              <a:t>FK/IK chains for rigs. Morphing for shape transforms. Far faster &amp; more flexible than traditional cel.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382512" y="2002536"/>
            <a:ext cx="5669280" cy="1051560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5080" y="1975104"/>
            <a:ext cx="5669280" cy="1051560"/>
          </a:xfrm>
          <a:prstGeom prst="rect">
            <a:avLst/>
          </a:prstGeom>
          <a:solidFill>
            <a:srgbClr val="0E0E32"/>
          </a:solidFill>
          <a:ln w="5080">
            <a:solidFill>
              <a:srgbClr val="1C1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355080" y="1975104"/>
            <a:ext cx="54864" cy="1051560"/>
          </a:xfrm>
          <a:prstGeom prst="rect">
            <a:avLst/>
          </a:prstGeom>
          <a:solidFill>
            <a:srgbClr val="965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409944" y="1975104"/>
            <a:ext cx="5614416" cy="2743"/>
          </a:xfrm>
          <a:prstGeom prst="rect">
            <a:avLst/>
          </a:prstGeom>
          <a:solidFill>
            <a:srgbClr val="965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464808" y="2048256"/>
            <a:ext cx="566928" cy="566928"/>
          </a:xfrm>
          <a:prstGeom prst="rect">
            <a:avLst/>
          </a:prstGeom>
          <a:solidFill>
            <a:srgbClr val="141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464808" y="2084832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9650DC"/>
                </a:solidFill>
                <a:latin typeface="Trebuchet MS"/>
              </a:rPr>
              <a:t>07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123176" y="2048256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9650DC"/>
                </a:solidFill>
                <a:latin typeface="Trebuchet MS"/>
              </a:rPr>
              <a:t>Levels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123176" y="2340864"/>
            <a:ext cx="4800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3CDE8"/>
                </a:solidFill>
                <a:latin typeface="Calibri"/>
              </a:rPr>
              <a:t>Basic (GIFs/CSS) — Intermediate (motion graphics) — Advanced (feature films, VFX, AI animation).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382512" y="3118103"/>
            <a:ext cx="5669280" cy="1051560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355080" y="3090672"/>
            <a:ext cx="5669280" cy="1051560"/>
          </a:xfrm>
          <a:prstGeom prst="rect">
            <a:avLst/>
          </a:prstGeom>
          <a:solidFill>
            <a:srgbClr val="0E0E32"/>
          </a:solidFill>
          <a:ln w="5080">
            <a:solidFill>
              <a:srgbClr val="1C1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355080" y="3090672"/>
            <a:ext cx="54864" cy="105156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409944" y="3090672"/>
            <a:ext cx="5614416" cy="2743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464808" y="3163824"/>
            <a:ext cx="566928" cy="566928"/>
          </a:xfrm>
          <a:prstGeom prst="rect">
            <a:avLst/>
          </a:prstGeom>
          <a:solidFill>
            <a:srgbClr val="141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464808" y="3200400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9100"/>
                </a:solidFill>
                <a:latin typeface="Trebuchet MS"/>
              </a:rPr>
              <a:t>08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123176" y="3163824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9100"/>
                </a:solidFill>
                <a:latin typeface="Trebuchet MS"/>
              </a:rPr>
              <a:t>12 Principles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123176" y="3456432"/>
            <a:ext cx="4800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3CDE8"/>
                </a:solidFill>
                <a:latin typeface="Calibri"/>
              </a:rPr>
              <a:t>Disney's Squash &amp; Stretch, Anticipation, Timing, Ease, Arcs, and 8 more — universal standard.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382512" y="4233672"/>
            <a:ext cx="5669280" cy="1051560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355080" y="4206240"/>
            <a:ext cx="5669280" cy="1051560"/>
          </a:xfrm>
          <a:prstGeom prst="rect">
            <a:avLst/>
          </a:prstGeom>
          <a:solidFill>
            <a:srgbClr val="0E0E32"/>
          </a:solidFill>
          <a:ln w="5080">
            <a:solidFill>
              <a:srgbClr val="1C1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355080" y="4206240"/>
            <a:ext cx="54864" cy="105156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409944" y="4206240"/>
            <a:ext cx="5614416" cy="2743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464808" y="4279392"/>
            <a:ext cx="566928" cy="566928"/>
          </a:xfrm>
          <a:prstGeom prst="rect">
            <a:avLst/>
          </a:prstGeom>
          <a:solidFill>
            <a:srgbClr val="141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464808" y="4315968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D573"/>
                </a:solidFill>
                <a:latin typeface="Trebuchet MS"/>
              </a:rPr>
              <a:t>09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123176" y="4279392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D573"/>
                </a:solidFill>
                <a:latin typeface="Trebuchet MS"/>
              </a:rPr>
              <a:t>Animation Space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123176" y="4572000"/>
            <a:ext cx="4800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3CDE8"/>
                </a:solidFill>
                <a:latin typeface="Calibri"/>
              </a:rPr>
              <a:t>2D (flat) — 2.5D (pseudo-depth via parallax) — 3D (full volumetric, any camera angle).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382512" y="5349240"/>
            <a:ext cx="5669280" cy="1051560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355080" y="5321808"/>
            <a:ext cx="5669280" cy="1051560"/>
          </a:xfrm>
          <a:prstGeom prst="rect">
            <a:avLst/>
          </a:prstGeom>
          <a:solidFill>
            <a:srgbClr val="0E0E32"/>
          </a:solidFill>
          <a:ln w="5080">
            <a:solidFill>
              <a:srgbClr val="1C1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355080" y="5321808"/>
            <a:ext cx="54864" cy="10515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409944" y="5321808"/>
            <a:ext cx="5614416" cy="2743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464808" y="5394960"/>
            <a:ext cx="566928" cy="566928"/>
          </a:xfrm>
          <a:prstGeom prst="rect">
            <a:avLst/>
          </a:prstGeom>
          <a:solidFill>
            <a:srgbClr val="141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464808" y="5431536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D700"/>
                </a:solidFill>
                <a:latin typeface="Trebuchet MS"/>
              </a:rPr>
              <a:t>10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123176" y="5394960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D700"/>
                </a:solidFill>
                <a:latin typeface="Trebuchet MS"/>
              </a:rPr>
              <a:t>Process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123176" y="5687568"/>
            <a:ext cx="4800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3CDE8"/>
                </a:solidFill>
                <a:latin typeface="Calibri"/>
              </a:rPr>
              <a:t>Organize -- Choose Tool -- Build &amp; Tweak (iterative) -- Post-Process. Every project, every studio.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144768" y="859536"/>
            <a:ext cx="50292" cy="5577840"/>
          </a:xfrm>
          <a:prstGeom prst="rect">
            <a:avLst/>
          </a:prstGeom>
          <a:solidFill>
            <a:srgbClr val="232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fill="hold">
                <p:stCondLst>
                  <p:cond delay="200"/>
                </p:stCondLst>
                <p:childTnLst>
                  <p:par>
                    <p:cTn id="3" presetID="10" presetClass="entr" presetSubtype="0" fill="hold" grpId="0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4" dur="550"/>
                            <p:tgtEl>
                              <p:spTgt spid="38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5" dur="550"/>
                            <p:tgtEl>
                              <p:spTgt spid="38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delay="320"/>
                </p:stCondLst>
                <p:childTnLst>
                  <p:par>
                    <p:cTn id="7" presetID="10" presetClass="entr" presetSubtype="0" fill="hold" grpId="1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8" dur="550"/>
                            <p:tgtEl>
                              <p:spTgt spid="46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9" dur="550"/>
                            <p:tgtEl>
                              <p:spTgt spid="46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id="10" fill="hold">
                <p:stCondLst>
                  <p:cond delay="440"/>
                </p:stCondLst>
                <p:childTnLst>
                  <p:par>
                    <p:cTn id="11" presetID="10" presetClass="entr" presetSubtype="0" fill="hold" grpId="2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12" dur="550"/>
                            <p:tgtEl>
                              <p:spTgt spid="54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13" dur="550"/>
                            <p:tgtEl>
                              <p:spTgt spid="54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id="14" fill="hold">
                <p:stCondLst>
                  <p:cond delay="560"/>
                </p:stCondLst>
                <p:childTnLst>
                  <p:par>
                    <p:cTn id="15" presetID="10" presetClass="entr" presetSubtype="0" fill="hold" grpId="3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16" dur="550"/>
                            <p:tgtEl>
                              <p:spTgt spid="62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17" dur="550"/>
                            <p:tgtEl>
                              <p:spTgt spid="62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id="18" fill="hold">
                <p:stCondLst>
                  <p:cond delay="680"/>
                </p:stCondLst>
                <p:childTnLst>
                  <p:par>
                    <p:cTn id="19" presetID="10" presetClass="entr" presetSubtype="0" fill="hold" grpId="4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20" dur="550"/>
                            <p:tgtEl>
                              <p:spTgt spid="70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21" dur="550"/>
                            <p:tgtEl>
                              <p:spTgt spid="70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id="22" fill="hold">
                <p:stCondLst>
                  <p:cond delay="800"/>
                </p:stCondLst>
                <p:childTnLst>
                  <p:par>
                    <p:cTn id="23" presetID="10" presetClass="entr" presetSubtype="0" fill="hold" grpId="5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24" dur="550"/>
                            <p:tgtEl>
                              <p:spTgt spid="78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25" dur="550"/>
                            <p:tgtEl>
                              <p:spTgt spid="78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id="26" fill="hold">
                <p:stCondLst>
                  <p:cond delay="920"/>
                </p:stCondLst>
                <p:childTnLst>
                  <p:par>
                    <p:cTn id="27" presetID="10" presetClass="entr" presetSubtype="0" fill="hold" grpId="6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28" dur="550"/>
                            <p:tgtEl>
                              <p:spTgt spid="86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29" dur="550"/>
                            <p:tgtEl>
                              <p:spTgt spid="86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id="30" fill="hold">
                <p:stCondLst>
                  <p:cond delay="1040"/>
                </p:stCondLst>
                <p:childTnLst>
                  <p:par>
                    <p:cTn id="31" presetID="10" presetClass="entr" presetSubtype="0" fill="hold" grpId="7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32" dur="550"/>
                            <p:tgtEl>
                              <p:spTgt spid="94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33" dur="550"/>
                            <p:tgtEl>
                              <p:spTgt spid="94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id="34" fill="hold">
                <p:stCondLst>
                  <p:cond delay="1160"/>
                </p:stCondLst>
                <p:childTnLst>
                  <p:par>
                    <p:cTn id="35" presetID="10" presetClass="entr" presetSubtype="0" fill="hold" grpId="8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36" dur="550"/>
                            <p:tgtEl>
                              <p:spTgt spid="102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37" dur="550"/>
                            <p:tgtEl>
                              <p:spTgt spid="102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id="38" fill="hold">
                <p:stCondLst>
                  <p:cond delay="1280"/>
                </p:stCondLst>
                <p:childTnLst>
                  <p:par>
                    <p:cTn id="39" presetID="10" presetClass="entr" presetSubtype="0" fill="hold" grpId="9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40" dur="550"/>
                            <p:tgtEl>
                              <p:spTgt spid="110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41" dur="550"/>
                            <p:tgtEl>
                              <p:spTgt spid="110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</p:childTnLst>
        </p:cTn>
      </p:par>
    </p:tnLst>
    <p:bldLst/>
  </p:timing>
  <p:transition spd="med" dur="500">
    <p:push dir="l"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292346" y="5543843"/>
            <a:ext cx="89272" cy="89272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572748" y="5306343"/>
            <a:ext cx="75212" cy="75212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923918" y="1467645"/>
            <a:ext cx="38053" cy="38053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679341" y="5190984"/>
            <a:ext cx="50422" cy="50422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053798" y="2680640"/>
            <a:ext cx="83008" cy="83008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45732" y="3173134"/>
            <a:ext cx="91354" cy="91354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0804" y="5578477"/>
            <a:ext cx="84599" cy="84599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949243" y="4952060"/>
            <a:ext cx="67239" cy="67239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362704" y="2051972"/>
            <a:ext cx="66200" cy="66200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1428" y="4561162"/>
            <a:ext cx="53539" cy="53539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1040" y="6322679"/>
            <a:ext cx="62586" cy="62586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844200" y="1651667"/>
            <a:ext cx="81136" cy="81136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02917" y="6206801"/>
            <a:ext cx="37554" cy="37554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39144" y="1125335"/>
            <a:ext cx="77835" cy="77835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333720" y="6438138"/>
            <a:ext cx="57140" cy="57140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46411" y="5901398"/>
            <a:ext cx="49685" cy="49685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00039" y="6425772"/>
            <a:ext cx="65484" cy="65484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393015" y="2386659"/>
            <a:ext cx="79724" cy="79724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438858" y="4357058"/>
            <a:ext cx="67055" cy="67055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60996" y="1580732"/>
            <a:ext cx="72707" cy="72707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910231" y="2689090"/>
            <a:ext cx="54794" cy="54794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822583" y="4207528"/>
            <a:ext cx="51530" cy="51530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7153" y="5231213"/>
            <a:ext cx="55668" cy="55668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50657" y="2417691"/>
            <a:ext cx="71310" cy="71310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15147" y="2635889"/>
            <a:ext cx="40692" cy="40692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732592" y="6148666"/>
            <a:ext cx="37709" cy="37709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86279" y="4837531"/>
            <a:ext cx="58686" cy="58686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746234" y="6439952"/>
            <a:ext cx="68953" cy="68953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765985" y="1967924"/>
            <a:ext cx="50369" cy="50369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947908" y="1469084"/>
            <a:ext cx="48228" cy="48228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38201" y="3965440"/>
            <a:ext cx="80737" cy="80737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953028" y="5567801"/>
            <a:ext cx="39288" cy="39288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020601" y="1365994"/>
            <a:ext cx="78874" cy="78874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002143" y="4670470"/>
            <a:ext cx="58723" cy="58723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60903" y="1321291"/>
            <a:ext cx="71497" cy="71497"/>
          </a:xfrm>
          <a:prstGeom prst="ellipse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304461" y="4693757"/>
            <a:ext cx="54931" cy="54931"/>
          </a:xfrm>
          <a:prstGeom prst="ellipse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499628" y="3687682"/>
            <a:ext cx="63680" cy="63680"/>
          </a:xfrm>
          <a:prstGeom prst="ellipse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98291" y="3505187"/>
            <a:ext cx="51089" cy="51089"/>
          </a:xfrm>
          <a:prstGeom prst="ellipse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153447" y="4871953"/>
            <a:ext cx="54375" cy="54375"/>
          </a:xfrm>
          <a:prstGeom prst="ellipse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081195" y="5429629"/>
            <a:ext cx="84085" cy="84085"/>
          </a:xfrm>
          <a:prstGeom prst="ellipse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232090" y="2195630"/>
            <a:ext cx="49600" cy="49600"/>
          </a:xfrm>
          <a:prstGeom prst="ellipse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783515" y="4191130"/>
            <a:ext cx="47651" cy="47651"/>
          </a:xfrm>
          <a:prstGeom prst="ellipse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113785" y="5933360"/>
            <a:ext cx="82430" cy="82430"/>
          </a:xfrm>
          <a:prstGeom prst="ellipse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712138" y="2572459"/>
            <a:ext cx="36941" cy="36941"/>
          </a:xfrm>
          <a:prstGeom prst="ellipse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602546" y="2113013"/>
            <a:ext cx="76467" cy="76467"/>
          </a:xfrm>
          <a:prstGeom prst="ellipse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478602" y="4295997"/>
            <a:ext cx="65474" cy="65474"/>
          </a:xfrm>
          <a:prstGeom prst="ellipse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845134" y="4333847"/>
            <a:ext cx="53210" cy="53210"/>
          </a:xfrm>
          <a:prstGeom prst="ellipse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526889" y="3616809"/>
            <a:ext cx="87212" cy="87212"/>
          </a:xfrm>
          <a:prstGeom prst="ellipse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882374" y="4825450"/>
            <a:ext cx="71201" cy="71201"/>
          </a:xfrm>
          <a:prstGeom prst="ellipse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058630" y="2033407"/>
            <a:ext cx="74226" cy="74226"/>
          </a:xfrm>
          <a:prstGeom prst="ellipse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297520" y="3204843"/>
            <a:ext cx="62929" cy="62929"/>
          </a:xfrm>
          <a:prstGeom prst="ellipse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367613" y="4946391"/>
            <a:ext cx="68856" cy="68856"/>
          </a:xfrm>
          <a:prstGeom prst="ellipse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435470" y="2810558"/>
            <a:ext cx="81102" cy="81102"/>
          </a:xfrm>
          <a:prstGeom prst="ellipse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826836" y="4011584"/>
            <a:ext cx="41441" cy="41441"/>
          </a:xfrm>
          <a:prstGeom prst="ellipse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914087" y="1713592"/>
            <a:ext cx="40901" cy="40901"/>
          </a:xfrm>
          <a:prstGeom prst="ellipse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770893" y="4003509"/>
            <a:ext cx="47760" cy="47760"/>
          </a:xfrm>
          <a:prstGeom prst="ellipse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837989" y="4508570"/>
            <a:ext cx="80037" cy="80037"/>
          </a:xfrm>
          <a:prstGeom prst="ellipse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757518" y="4811373"/>
            <a:ext cx="65477" cy="65477"/>
          </a:xfrm>
          <a:prstGeom prst="ellipse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1708518" y="1600703"/>
            <a:ext cx="74392" cy="74392"/>
          </a:xfrm>
          <a:prstGeom prst="ellipse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532304" y="3622572"/>
            <a:ext cx="81410" cy="81410"/>
          </a:xfrm>
          <a:prstGeom prst="ellipse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257032" y="-3017520"/>
            <a:ext cx="6949440" cy="6949440"/>
          </a:xfrm>
          <a:prstGeom prst="ellipse">
            <a:avLst/>
          </a:prstGeom>
          <a:solidFill>
            <a:srgbClr val="060C24"/>
          </a:solidFill>
          <a:ln w="6350">
            <a:solidFill>
              <a:srgbClr val="00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9354312" y="-1920240"/>
            <a:ext cx="4754880" cy="4754880"/>
          </a:xfrm>
          <a:prstGeom prst="ellipse">
            <a:avLst/>
          </a:prstGeom>
          <a:solidFill>
            <a:srgbClr val="08102C"/>
          </a:solidFill>
          <a:ln w="6350">
            <a:solidFill>
              <a:srgbClr val="00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268712" y="-1005840"/>
            <a:ext cx="2926080" cy="2926080"/>
          </a:xfrm>
          <a:prstGeom prst="ellipse">
            <a:avLst/>
          </a:prstGeom>
          <a:solidFill>
            <a:srgbClr val="0C1636"/>
          </a:solidFill>
          <a:ln w="6350">
            <a:solidFill>
              <a:srgbClr val="00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183112" y="-91439"/>
            <a:ext cx="1097280" cy="1097280"/>
          </a:xfrm>
          <a:prstGeom prst="ellipse">
            <a:avLst/>
          </a:prstGeom>
          <a:solidFill>
            <a:srgbClr val="142450"/>
          </a:solidFill>
          <a:ln w="6350">
            <a:solidFill>
              <a:srgbClr val="003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104120" y="-502920"/>
            <a:ext cx="1371600" cy="1371600"/>
          </a:xfrm>
          <a:prstGeom prst="ellipse">
            <a:avLst/>
          </a:prstGeom>
          <a:solidFill>
            <a:srgbClr val="081432"/>
          </a:solidFill>
          <a:ln w="12700">
            <a:solidFill>
              <a:srgbClr val="006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378440" y="-228600"/>
            <a:ext cx="822960" cy="822960"/>
          </a:xfrm>
          <a:prstGeom prst="ellipse">
            <a:avLst/>
          </a:prstGeom>
          <a:solidFill>
            <a:srgbClr val="081432"/>
          </a:solidFill>
          <a:ln w="12700">
            <a:solidFill>
              <a:srgbClr val="006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0652760" y="45720"/>
            <a:ext cx="274320" cy="274320"/>
          </a:xfrm>
          <a:prstGeom prst="ellipse">
            <a:avLst/>
          </a:prstGeom>
          <a:solidFill>
            <a:srgbClr val="081432"/>
          </a:solidFill>
          <a:ln w="12700">
            <a:solidFill>
              <a:srgbClr val="006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0" y="91440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9100"/>
                </a:solidFill>
                <a:latin typeface="Trebuchet MS"/>
              </a:rPr>
              <a:t>GRAPHICS &amp; MULTIMEDIA  •  SMIT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1325880"/>
            <a:ext cx="1218895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1" i="0">
                <a:solidFill>
                  <a:srgbClr val="00D2FF"/>
                </a:solidFill>
                <a:latin typeface="Trebuchet MS"/>
              </a:rPr>
              <a:t>THANK YOU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0" y="324612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C3CDE8"/>
                </a:solidFill>
                <a:latin typeface="Calibri"/>
              </a:rPr>
              <a:t>Animation: Where Imagination Meets Technology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023360" y="3840480"/>
            <a:ext cx="4142232" cy="228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0" y="3986784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9100"/>
                </a:solidFill>
                <a:latin typeface="Trebuchet MS"/>
              </a:rPr>
              <a:t>GROUP 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371600" y="4480560"/>
            <a:ext cx="3063240" cy="749808"/>
          </a:xfrm>
          <a:prstGeom prst="rect">
            <a:avLst/>
          </a:prstGeom>
          <a:solidFill>
            <a:srgbClr val="10103A"/>
          </a:solidFill>
          <a:ln w="63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508760" y="4526280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Trebuchet MS"/>
              </a:rPr>
              <a:t>Hashir Junaid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508760" y="4846320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7DAA"/>
                </a:solidFill>
                <a:latin typeface="Calibri"/>
              </a:rPr>
              <a:t>2023F-BCS-358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663440" y="4480560"/>
            <a:ext cx="3063240" cy="749808"/>
          </a:xfrm>
          <a:prstGeom prst="rect">
            <a:avLst/>
          </a:prstGeom>
          <a:solidFill>
            <a:srgbClr val="10103A"/>
          </a:solidFill>
          <a:ln w="63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800600" y="4526280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Trebuchet MS"/>
              </a:rPr>
              <a:t>Taha Haider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800600" y="4846320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7DAA"/>
                </a:solidFill>
                <a:latin typeface="Calibri"/>
              </a:rPr>
              <a:t>2023F-BCS-079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955279" y="4480560"/>
            <a:ext cx="3063240" cy="749808"/>
          </a:xfrm>
          <a:prstGeom prst="rect">
            <a:avLst/>
          </a:prstGeom>
          <a:solidFill>
            <a:srgbClr val="10103A"/>
          </a:solidFill>
          <a:ln w="63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092440" y="4526280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Trebuchet MS"/>
              </a:rPr>
              <a:t>Abdul Rahman Baig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092440" y="4846320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7DAA"/>
                </a:solidFill>
                <a:latin typeface="Calibri"/>
              </a:rPr>
              <a:t>2023F-BCS-100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0" y="5376672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6E7DAA"/>
                </a:solidFill>
                <a:latin typeface="Calibri"/>
              </a:rPr>
              <a:t>Introduction  •  Usage  •  Techniques  •  Types  •  Computer Animation  •  Levels  •  12 Principles  •  Space  •  Process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fill="hold">
                <p:stCondLst>
                  <p:cond delay="100"/>
                </p:stCondLst>
                <p:childTnLst>
                  <p:par>
                    <p:cTn id="3" presetID="10" presetClass="entr" presetSubtype="0" fill="hold" grpId="0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4" dur="700"/>
                            <p:tgtEl>
                              <p:spTgt spid="69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5" dur="700"/>
                            <p:tgtEl>
                              <p:spTgt spid="69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delay="350"/>
                </p:stCondLst>
                <p:childTnLst>
                  <p:par>
                    <p:cTn id="7" presetID="10" presetClass="entr" presetSubtype="0" fill="hold" grpId="1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8" dur="700"/>
                            <p:tgtEl>
                              <p:spTgt spid="70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9" dur="700"/>
                            <p:tgtEl>
                              <p:spTgt spid="70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id="10" fill="hold">
                <p:stCondLst>
                  <p:cond delay="600"/>
                </p:stCondLst>
                <p:childTnLst>
                  <p:par>
                    <p:cTn id="11" presetID="10" presetClass="entr" presetSubtype="0" fill="hold" grpId="2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12" dur="700"/>
                            <p:tgtEl>
                              <p:spTgt spid="71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13" dur="700"/>
                            <p:tgtEl>
                              <p:spTgt spid="71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id="14" fill="hold">
                <p:stCondLst>
                  <p:cond delay="850"/>
                </p:stCondLst>
                <p:childTnLst>
                  <p:par>
                    <p:cTn id="15" presetID="10" presetClass="entr" presetSubtype="0" fill="hold" grpId="3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16" dur="700"/>
                            <p:tgtEl>
                              <p:spTgt spid="72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17" dur="700"/>
                            <p:tgtEl>
                              <p:spTgt spid="72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id="18" fill="hold">
                <p:stCondLst>
                  <p:cond delay="1100"/>
                </p:stCondLst>
                <p:childTnLst>
                  <p:par>
                    <p:cTn id="19" presetID="10" presetClass="entr" presetSubtype="0" fill="hold" grpId="4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20" dur="700"/>
                            <p:tgtEl>
                              <p:spTgt spid="73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21" dur="700"/>
                            <p:tgtEl>
                              <p:spTgt spid="73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id="22" fill="hold">
                <p:stCondLst>
                  <p:cond delay="1350"/>
                </p:stCondLst>
                <p:childTnLst>
                  <p:par>
                    <p:cTn id="23" presetID="10" presetClass="entr" presetSubtype="0" fill="hold" grpId="5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24" dur="700"/>
                            <p:tgtEl>
                              <p:spTgt spid="75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25" dur="700"/>
                            <p:tgtEl>
                              <p:spTgt spid="75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id="26" fill="hold">
                <p:stCondLst>
                  <p:cond delay="1600"/>
                </p:stCondLst>
                <p:childTnLst>
                  <p:par>
                    <p:cTn id="27" presetID="10" presetClass="entr" presetSubtype="0" fill="hold" grpId="6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28" dur="700"/>
                            <p:tgtEl>
                              <p:spTgt spid="78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29" dur="700"/>
                            <p:tgtEl>
                              <p:spTgt spid="78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  <p:par>
              <p:cTn id="30" fill="hold">
                <p:stCondLst>
                  <p:cond delay="1850"/>
                </p:stCondLst>
                <p:childTnLst>
                  <p:par>
                    <p:cTn id="31" presetID="10" presetClass="entr" presetSubtype="0" fill="hold" grpId="7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32" dur="700"/>
                            <p:tgtEl>
                              <p:spTgt spid="81"/>
                            </p:tgtEl>
                          </p:cBhvr>
                        </p:animEffect>
                        <p:animMotion origin="parent" path="M 0 0.03 L 0 0 E" pathEditMode="relative">
                          <p:cBhvr>
                            <p:cTn id="33" dur="700"/>
                            <p:tgtEl>
                              <p:spTgt spid="81"/>
                            </p:tgtEl>
                          </p:cBhvr>
                        </p:animMotion>
                      </p:childTnLst>
                    </p:cTn>
                  </p:par>
                </p:childTnLst>
              </p:cTn>
            </p:par>
          </p:childTnLst>
        </p:cTn>
      </p:par>
    </p:tnLst>
    <p:bldLst/>
  </p:timing>
  <p:transition spd="med" dur="8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