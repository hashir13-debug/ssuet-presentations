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rgbClr val="030310"/>
            </a:solidFill>
          </a:ln>
          <a:gradFill>
            <a:gsLst>
              <a:gs pos="0">
                <a:srgbClr val="030310"/>
              </a:gs>
              <a:gs pos="50000">
                <a:srgbClr val="080520"/>
              </a:gs>
              <a:gs pos="100000">
                <a:srgbClr val="040412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7071C"/>
          </a:solidFill>
          <a:ln>
            <a:solidFill>
              <a:srgbClr val="070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4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8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07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81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55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29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04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578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52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27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01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75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50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24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98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73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47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218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961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704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447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190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6934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67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42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516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90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65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39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13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887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62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36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10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985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259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533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808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082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356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631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905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7071C"/>
          </a:solidFill>
          <a:ln>
            <a:solidFill>
              <a:srgbClr val="070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972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8404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5836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3268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0700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48132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75564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02996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0428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57860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5292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12724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40156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67588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95020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22452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49884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77316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04748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32180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9612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87044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14476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41908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69340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96772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24204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51636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79068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06500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33932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61364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88796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6228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43660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71092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98524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25956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53388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80820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08252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35684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63116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90548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326880" y="-914400"/>
            <a:ext cx="4114800" cy="4114800"/>
          </a:xfrm>
          <a:prstGeom prst="ellipse">
            <a:avLst/>
          </a:prstGeom>
          <a:solidFill>
            <a:srgbClr val="001E23"/>
          </a:solidFill>
          <a:ln>
            <a:solidFill>
              <a:srgbClr val="001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789920" y="4572000"/>
            <a:ext cx="2743200" cy="2743200"/>
          </a:xfrm>
          <a:prstGeom prst="ellipse">
            <a:avLst/>
          </a:prstGeom>
          <a:solidFill>
            <a:srgbClr val="150B1F"/>
          </a:solidFill>
          <a:ln>
            <a:solidFill>
              <a:srgbClr val="150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-731520" y="4114800"/>
            <a:ext cx="2926080" cy="2926080"/>
          </a:xfrm>
          <a:prstGeom prst="ellipse">
            <a:avLst/>
          </a:prstGeom>
          <a:solidFill>
            <a:srgbClr val="1C1000"/>
          </a:solidFill>
          <a:ln>
            <a:solidFill>
              <a:srgbClr val="1C1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82880" y="-548640"/>
            <a:ext cx="2011680" cy="2011680"/>
          </a:xfrm>
          <a:prstGeom prst="ellipse">
            <a:avLst/>
          </a:prstGeom>
          <a:solidFill>
            <a:srgbClr val="001316"/>
          </a:solidFill>
          <a:ln>
            <a:solidFill>
              <a:srgbClr val="001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0" y="274320"/>
            <a:ext cx="12188952" cy="164592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9B50E1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0" y="6419088"/>
            <a:ext cx="12188952" cy="164592"/>
          </a:xfrm>
          <a:prstGeom prst="rect">
            <a:avLst/>
          </a:prstGeom>
          <a:ln>
            <a:solidFill>
              <a:srgbClr val="9B50E1"/>
            </a:solidFill>
          </a:ln>
          <a:gradFill>
            <a:gsLst>
              <a:gs pos="0">
                <a:srgbClr val="9B50E1"/>
              </a:gs>
              <a:gs pos="100000">
                <a:srgbClr val="FF94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772400" y="548640"/>
            <a:ext cx="841248" cy="1097280"/>
          </a:xfrm>
          <a:prstGeom prst="rect">
            <a:avLst/>
          </a:prstGeom>
          <a:solidFill>
            <a:srgbClr val="00191E"/>
          </a:solidFill>
          <a:ln>
            <a:solidFill>
              <a:srgbClr val="00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818120" y="594360"/>
            <a:ext cx="749808" cy="841248"/>
          </a:xfrm>
          <a:prstGeom prst="rect">
            <a:avLst/>
          </a:prstGeom>
          <a:solidFill>
            <a:srgbClr val="000F11"/>
          </a:solidFill>
          <a:ln>
            <a:solidFill>
              <a:srgbClr val="000F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772400" y="685800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353F"/>
                </a:solidFill>
              </a:rPr>
              <a:t>●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772400" y="1417320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353F"/>
                </a:solidFill>
              </a:rPr>
              <a:t>f1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613648" y="978408"/>
            <a:ext cx="9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D7FF"/>
                </a:solidFill>
              </a:rPr>
              <a:t>▶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686800" y="548640"/>
            <a:ext cx="841248" cy="1097280"/>
          </a:xfrm>
          <a:prstGeom prst="rect">
            <a:avLst/>
          </a:prstGeom>
          <a:solidFill>
            <a:srgbClr val="00191E"/>
          </a:solidFill>
          <a:ln>
            <a:solidFill>
              <a:srgbClr val="006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732520" y="594360"/>
            <a:ext cx="749808" cy="841248"/>
          </a:xfrm>
          <a:prstGeom prst="rect">
            <a:avLst/>
          </a:prstGeom>
          <a:solidFill>
            <a:srgbClr val="000F11"/>
          </a:solidFill>
          <a:ln>
            <a:solidFill>
              <a:srgbClr val="000F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686800" y="685800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B7F"/>
                </a:solidFill>
              </a:rPr>
              <a:t>●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686800" y="1417320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6B7F"/>
                </a:solidFill>
              </a:rPr>
              <a:t>f2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528048" y="978408"/>
            <a:ext cx="9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D7FF"/>
                </a:solidFill>
              </a:rPr>
              <a:t>▶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601200" y="548640"/>
            <a:ext cx="841248" cy="1097280"/>
          </a:xfrm>
          <a:prstGeom prst="rect">
            <a:avLst/>
          </a:prstGeom>
          <a:solidFill>
            <a:srgbClr val="00191E"/>
          </a:solidFill>
          <a:ln>
            <a:solidFill>
              <a:srgbClr val="00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46920" y="594360"/>
            <a:ext cx="749808" cy="841248"/>
          </a:xfrm>
          <a:prstGeom prst="rect">
            <a:avLst/>
          </a:prstGeom>
          <a:solidFill>
            <a:srgbClr val="000F11"/>
          </a:solidFill>
          <a:ln>
            <a:solidFill>
              <a:srgbClr val="000F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601200" y="685800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1BF"/>
                </a:solidFill>
              </a:rPr>
              <a:t>●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601200" y="1417320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A1BF"/>
                </a:solidFill>
              </a:rPr>
              <a:t>f3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442448" y="978408"/>
            <a:ext cx="9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D7FF"/>
                </a:solidFill>
              </a:rPr>
              <a:t>▶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515600" y="548640"/>
            <a:ext cx="841248" cy="1097280"/>
          </a:xfrm>
          <a:prstGeom prst="rect">
            <a:avLst/>
          </a:prstGeom>
          <a:solidFill>
            <a:srgbClr val="00191E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561320" y="594360"/>
            <a:ext cx="749808" cy="841248"/>
          </a:xfrm>
          <a:prstGeom prst="rect">
            <a:avLst/>
          </a:prstGeom>
          <a:solidFill>
            <a:srgbClr val="000F11"/>
          </a:solidFill>
          <a:ln>
            <a:solidFill>
              <a:srgbClr val="000F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515600" y="685800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7FF"/>
                </a:solidFill>
              </a:rPr>
              <a:t>●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515600" y="1417320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D7FF"/>
                </a:solidFill>
              </a:rPr>
              <a:t>f4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772400" y="170078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9789E"/>
                </a:solidFill>
              </a:rPr>
              <a:t>Still frames  →  Illusion of Motion  →  ANIMATION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-365760" y="1828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500" b="1" i="0">
                <a:solidFill>
                  <a:srgbClr val="090926"/>
                </a:solidFill>
              </a:rPr>
              <a:t>ANIM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57200" y="868680"/>
            <a:ext cx="112745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00D7FF"/>
                </a:solidFill>
              </a:rPr>
              <a:t>ANIMATION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645920" y="2852928"/>
            <a:ext cx="8897112" cy="731520"/>
          </a:xfrm>
          <a:prstGeom prst="rect">
            <a:avLst/>
          </a:prstGeom>
          <a:ln>
            <a:solidFill>
              <a:srgbClr val="003742"/>
            </a:solidFill>
          </a:ln>
          <a:gradFill>
            <a:gsLst>
              <a:gs pos="0">
                <a:srgbClr val="003742"/>
              </a:gs>
              <a:gs pos="100000">
                <a:srgbClr val="28143A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645920" y="2871216"/>
            <a:ext cx="889711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1">
                <a:solidFill>
                  <a:srgbClr val="C0CEEE"/>
                </a:solidFill>
              </a:rPr>
              <a:t>The Art &amp; Science of Bringing Images to Life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926080" y="3703320"/>
            <a:ext cx="6336792" cy="64008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9B50E1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14400" y="3822191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9400"/>
                </a:solidFill>
              </a:rPr>
              <a:t>Graphics &amp; Multimedia  •  SMIT  •  Group 3</a:t>
            </a:r>
          </a:p>
        </p:txBody>
      </p:sp>
      <p:sp>
        <p:nvSpPr>
          <p:cNvPr id="125" name="Oval 124"/>
          <p:cNvSpPr/>
          <p:nvPr/>
        </p:nvSpPr>
        <p:spPr>
          <a:xfrm>
            <a:off x="4745736" y="4178808"/>
            <a:ext cx="566928" cy="566928"/>
          </a:xfrm>
          <a:prstGeom prst="ellipse">
            <a:avLst/>
          </a:prstGeom>
          <a:solidFill>
            <a:srgbClr val="002B33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4961168" y="4331878"/>
            <a:ext cx="181416" cy="260786"/>
          </a:xfrm>
          <a:prstGeom prst="roundRect">
            <a:avLst/>
          </a:prstGeom>
          <a:solidFill>
            <a:srgbClr val="00D7FF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321808" y="4187952"/>
            <a:ext cx="3520440" cy="658368"/>
          </a:xfrm>
          <a:prstGeom prst="rect">
            <a:avLst/>
          </a:prstGeom>
          <a:ln>
            <a:solidFill>
              <a:srgbClr val="005160"/>
            </a:solidFill>
          </a:ln>
          <a:gradFill>
            <a:gsLst>
              <a:gs pos="0">
                <a:srgbClr val="005160"/>
              </a:gs>
              <a:gs pos="100000">
                <a:srgbClr val="3A1E55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321808" y="4187952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Topics 1 — 9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77240" y="5138928"/>
            <a:ext cx="3337560" cy="914400"/>
          </a:xfrm>
          <a:prstGeom prst="rect">
            <a:avLst/>
          </a:prstGeom>
          <a:ln>
            <a:solidFill>
              <a:srgbClr val="0D0D30"/>
            </a:solidFill>
          </a:ln>
          <a:gradFill>
            <a:gsLst>
              <a:gs pos="0">
                <a:srgbClr val="0D0D30"/>
              </a:gs>
              <a:gs pos="100000">
                <a:srgbClr val="13134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14400" y="5285232"/>
            <a:ext cx="256032" cy="256032"/>
          </a:xfrm>
          <a:prstGeom prst="ellipse">
            <a:avLst/>
          </a:prstGeom>
          <a:solidFill>
            <a:srgbClr val="00D7FF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280160" y="5193792"/>
            <a:ext cx="2788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Hashir Junaid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280160" y="557784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89E"/>
                </a:solidFill>
              </a:rPr>
              <a:t>2023F-BCS-358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343400" y="5138928"/>
            <a:ext cx="3337560" cy="914400"/>
          </a:xfrm>
          <a:prstGeom prst="rect">
            <a:avLst/>
          </a:prstGeom>
          <a:ln>
            <a:solidFill>
              <a:srgbClr val="0D0D30"/>
            </a:solidFill>
          </a:ln>
          <a:gradFill>
            <a:gsLst>
              <a:gs pos="0">
                <a:srgbClr val="0D0D30"/>
              </a:gs>
              <a:gs pos="100000">
                <a:srgbClr val="13134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4480560" y="5285232"/>
            <a:ext cx="256032" cy="256032"/>
          </a:xfrm>
          <a:prstGeom prst="ellipse">
            <a:avLst/>
          </a:prstGeom>
          <a:solidFill>
            <a:srgbClr val="00D7FF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846320" y="5193792"/>
            <a:ext cx="2788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Taha Haider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846320" y="557784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89E"/>
                </a:solidFill>
              </a:rPr>
              <a:t>2023F-BCS-079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909560" y="5138928"/>
            <a:ext cx="3337560" cy="914400"/>
          </a:xfrm>
          <a:prstGeom prst="rect">
            <a:avLst/>
          </a:prstGeom>
          <a:ln>
            <a:solidFill>
              <a:srgbClr val="0D0D30"/>
            </a:solidFill>
          </a:ln>
          <a:gradFill>
            <a:gsLst>
              <a:gs pos="0">
                <a:srgbClr val="0D0D30"/>
              </a:gs>
              <a:gs pos="100000">
                <a:srgbClr val="13134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8046720" y="5285232"/>
            <a:ext cx="256032" cy="256032"/>
          </a:xfrm>
          <a:prstGeom prst="ellipse">
            <a:avLst/>
          </a:prstGeom>
          <a:solidFill>
            <a:srgbClr val="00D7FF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412480" y="5193792"/>
            <a:ext cx="2788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Abdul Rahman Baig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412480" y="557784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89E"/>
                </a:solidFill>
              </a:rPr>
              <a:t>2023F-BCS-100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7071C"/>
          </a:solidFill>
          <a:ln>
            <a:solidFill>
              <a:srgbClr val="070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07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1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55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29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04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78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52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27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01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75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50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24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98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73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47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218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961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704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447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190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934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67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242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16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90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65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39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13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887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62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36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10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85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59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33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808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082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56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31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905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274320"/>
            <a:ext cx="12188952" cy="1005840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9B50E1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329184"/>
            <a:ext cx="10972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</a:rPr>
              <a:t>WHAT WE'LL COVER TODAY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10058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FFFF"/>
                </a:solidFill>
              </a:rPr>
              <a:t>9 Topics  •  Animation: Complete Foundation  •  Group 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2608" y="1389888"/>
            <a:ext cx="3566160" cy="105156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92608" y="1389888"/>
            <a:ext cx="658368" cy="1051560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6B7F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93776" y="1755648"/>
            <a:ext cx="256032" cy="256032"/>
          </a:xfrm>
          <a:prstGeom prst="ellipse">
            <a:avLst/>
          </a:prstGeom>
          <a:solidFill>
            <a:srgbClr val="005666"/>
          </a:solidFill>
          <a:ln>
            <a:solidFill>
              <a:srgbClr val="005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2608" y="1389888"/>
            <a:ext cx="65836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040412"/>
                </a:solidFill>
              </a:rPr>
              <a:t>01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6" y="1636776"/>
            <a:ext cx="27249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Introduction to Animation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24528" y="1389888"/>
            <a:ext cx="3566160" cy="105156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24528" y="1389888"/>
            <a:ext cx="658368" cy="1051560"/>
          </a:xfrm>
          <a:prstGeom prst="rect">
            <a:avLst/>
          </a:prstGeom>
          <a:ln>
            <a:solidFill>
              <a:srgbClr val="9B50E1"/>
            </a:solidFill>
          </a:ln>
          <a:gradFill>
            <a:gsLst>
              <a:gs pos="0">
                <a:srgbClr val="9B50E1"/>
              </a:gs>
              <a:gs pos="100000">
                <a:srgbClr val="4D2870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425696" y="1755648"/>
            <a:ext cx="256032" cy="256032"/>
          </a:xfrm>
          <a:prstGeom prst="ellipse">
            <a:avLst/>
          </a:prstGeom>
          <a:solidFill>
            <a:srgbClr val="3E205A"/>
          </a:solidFill>
          <a:ln>
            <a:solidFill>
              <a:srgbClr val="3E2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24528" y="1389888"/>
            <a:ext cx="65836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040412"/>
                </a:solidFill>
              </a:rPr>
              <a:t>02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74336" y="1636776"/>
            <a:ext cx="27249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Usage of Animation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83879" y="1389888"/>
            <a:ext cx="3566160" cy="105156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183879" y="1389888"/>
            <a:ext cx="658368" cy="1051560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7F4A00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85047" y="1755648"/>
            <a:ext cx="256032" cy="256032"/>
          </a:xfrm>
          <a:prstGeom prst="ellipse">
            <a:avLst/>
          </a:prstGeom>
          <a:solidFill>
            <a:srgbClr val="663B00"/>
          </a:solidFill>
          <a:ln>
            <a:solidFill>
              <a:srgbClr val="663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83879" y="1389888"/>
            <a:ext cx="65836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040412"/>
                </a:solidFill>
              </a:rPr>
              <a:t>03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33687" y="1636776"/>
            <a:ext cx="27249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Animation Techniques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2608" y="2606040"/>
            <a:ext cx="3566160" cy="105156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92608" y="2606040"/>
            <a:ext cx="658368" cy="1051560"/>
          </a:xfrm>
          <a:prstGeom prst="rect">
            <a:avLst/>
          </a:prstGeom>
          <a:ln>
            <a:solidFill>
              <a:srgbClr val="2EDC73"/>
            </a:solidFill>
          </a:ln>
          <a:gradFill>
            <a:gsLst>
              <a:gs pos="0">
                <a:srgbClr val="2EDC73"/>
              </a:gs>
              <a:gs pos="100000">
                <a:srgbClr val="176E39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93776" y="2971800"/>
            <a:ext cx="256032" cy="256032"/>
          </a:xfrm>
          <a:prstGeom prst="ellipse">
            <a:avLst/>
          </a:prstGeom>
          <a:solidFill>
            <a:srgbClr val="12582E"/>
          </a:solidFill>
          <a:ln>
            <a:solidFill>
              <a:srgbClr val="1258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2608" y="2606040"/>
            <a:ext cx="65836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040412"/>
                </a:solidFill>
              </a:rPr>
              <a:t>04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2416" y="2852928"/>
            <a:ext cx="27249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Types of Animation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24528" y="2606040"/>
            <a:ext cx="3566160" cy="105156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224528" y="2606040"/>
            <a:ext cx="658368" cy="1051560"/>
          </a:xfrm>
          <a:prstGeom prst="rect">
            <a:avLst/>
          </a:prstGeom>
          <a:ln>
            <a:solidFill>
              <a:srgbClr val="FF5AA2"/>
            </a:solidFill>
          </a:ln>
          <a:gradFill>
            <a:gsLst>
              <a:gs pos="0">
                <a:srgbClr val="FF5AA2"/>
              </a:gs>
              <a:gs pos="100000">
                <a:srgbClr val="7F2D51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425696" y="2971800"/>
            <a:ext cx="256032" cy="256032"/>
          </a:xfrm>
          <a:prstGeom prst="ellipse">
            <a:avLst/>
          </a:prstGeom>
          <a:solidFill>
            <a:srgbClr val="662440"/>
          </a:solidFill>
          <a:ln>
            <a:solidFill>
              <a:srgbClr val="66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224528" y="2606040"/>
            <a:ext cx="65836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040412"/>
                </a:solidFill>
              </a:rPr>
              <a:t>05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74336" y="2852928"/>
            <a:ext cx="27249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Computer Animation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83879" y="2606040"/>
            <a:ext cx="3566160" cy="105156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183879" y="2606040"/>
            <a:ext cx="658368" cy="1051560"/>
          </a:xfrm>
          <a:prstGeom prst="rect">
            <a:avLst/>
          </a:prstGeom>
          <a:ln>
            <a:solidFill>
              <a:srgbClr val="FFD700"/>
            </a:solidFill>
          </a:ln>
          <a:gradFill>
            <a:gsLst>
              <a:gs pos="0">
                <a:srgbClr val="FFD700"/>
              </a:gs>
              <a:gs pos="100000">
                <a:srgbClr val="7F6B00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385047" y="2971800"/>
            <a:ext cx="256032" cy="256032"/>
          </a:xfrm>
          <a:prstGeom prst="ellipse">
            <a:avLst/>
          </a:prstGeom>
          <a:solidFill>
            <a:srgbClr val="665600"/>
          </a:solidFill>
          <a:ln>
            <a:solidFill>
              <a:srgbClr val="665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83879" y="2606040"/>
            <a:ext cx="65836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040412"/>
                </a:solidFill>
              </a:rPr>
              <a:t>06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33687" y="2852928"/>
            <a:ext cx="27249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Levels of Computer Animation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92608" y="3822191"/>
            <a:ext cx="3566160" cy="105156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92608" y="3822191"/>
            <a:ext cx="658368" cy="1051560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6B7F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93776" y="4187951"/>
            <a:ext cx="256032" cy="256032"/>
          </a:xfrm>
          <a:prstGeom prst="ellipse">
            <a:avLst/>
          </a:prstGeom>
          <a:solidFill>
            <a:srgbClr val="005666"/>
          </a:solidFill>
          <a:ln>
            <a:solidFill>
              <a:srgbClr val="005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92608" y="3822191"/>
            <a:ext cx="65836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040412"/>
                </a:solidFill>
              </a:rPr>
              <a:t>07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42416" y="4069079"/>
            <a:ext cx="27249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12 Basic Principles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224528" y="3822191"/>
            <a:ext cx="3566160" cy="105156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224528" y="3822191"/>
            <a:ext cx="658368" cy="1051560"/>
          </a:xfrm>
          <a:prstGeom prst="rect">
            <a:avLst/>
          </a:prstGeom>
          <a:ln>
            <a:solidFill>
              <a:srgbClr val="9B50E1"/>
            </a:solidFill>
          </a:ln>
          <a:gradFill>
            <a:gsLst>
              <a:gs pos="0">
                <a:srgbClr val="9B50E1"/>
              </a:gs>
              <a:gs pos="100000">
                <a:srgbClr val="4D2870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425696" y="4187951"/>
            <a:ext cx="256032" cy="256032"/>
          </a:xfrm>
          <a:prstGeom prst="ellipse">
            <a:avLst/>
          </a:prstGeom>
          <a:solidFill>
            <a:srgbClr val="3E205A"/>
          </a:solidFill>
          <a:ln>
            <a:solidFill>
              <a:srgbClr val="3E2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24528" y="3822191"/>
            <a:ext cx="65836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040412"/>
                </a:solidFill>
              </a:rPr>
              <a:t>08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974336" y="4069079"/>
            <a:ext cx="27249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Animation Space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183879" y="3822191"/>
            <a:ext cx="3566160" cy="105156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83879" y="3822191"/>
            <a:ext cx="658368" cy="1051560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7F4A00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8385047" y="4187951"/>
            <a:ext cx="256032" cy="256032"/>
          </a:xfrm>
          <a:prstGeom prst="ellipse">
            <a:avLst/>
          </a:prstGeom>
          <a:solidFill>
            <a:srgbClr val="663B00"/>
          </a:solidFill>
          <a:ln>
            <a:solidFill>
              <a:srgbClr val="663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183879" y="3822191"/>
            <a:ext cx="65836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040412"/>
                </a:solidFill>
              </a:rPr>
              <a:t>09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33687" y="4069079"/>
            <a:ext cx="27249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</a:rPr>
              <a:t>Animation Process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4919472"/>
            <a:ext cx="12188952" cy="1938528"/>
          </a:xfrm>
          <a:prstGeom prst="rect">
            <a:avLst/>
          </a:prstGeom>
          <a:ln>
            <a:solidFill>
              <a:srgbClr val="040412"/>
            </a:solidFill>
          </a:ln>
          <a:gradFill>
            <a:gsLst>
              <a:gs pos="0">
                <a:srgbClr val="040412"/>
              </a:gs>
              <a:gs pos="100000">
                <a:srgbClr val="080826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14400" y="521208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69789E"/>
                </a:solidFill>
              </a:rPr>
              <a:t>From hand-drawn cels to AI-powered 3D — 9 complete topics await.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7071C"/>
          </a:solidFill>
          <a:ln>
            <a:solidFill>
              <a:srgbClr val="070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07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1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55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29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04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78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52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27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01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75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50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24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98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73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47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218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961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704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447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190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934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67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242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16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90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65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39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13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887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62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36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10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85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59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33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808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082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56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31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905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274320"/>
            <a:ext cx="12188952" cy="960120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5A6B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0" y="-73152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200" b="1" i="0">
                <a:solidFill>
                  <a:srgbClr val="00404C"/>
                </a:solidFill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329184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INTRODUCTION TO ANIMATION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03720" y="1298448"/>
            <a:ext cx="896112" cy="1097280"/>
          </a:xfrm>
          <a:prstGeom prst="rect">
            <a:avLst/>
          </a:prstGeom>
          <a:solidFill>
            <a:srgbClr val="00191E"/>
          </a:solidFill>
          <a:ln>
            <a:solidFill>
              <a:srgbClr val="003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49440" y="1344168"/>
            <a:ext cx="804672" cy="841248"/>
          </a:xfrm>
          <a:prstGeom prst="rect">
            <a:avLst/>
          </a:prstGeom>
          <a:solidFill>
            <a:srgbClr val="000F11"/>
          </a:solidFill>
          <a:ln>
            <a:solidFill>
              <a:srgbClr val="000F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03720" y="1435608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353F"/>
                </a:solidFill>
              </a:rPr>
              <a:t>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3720" y="2167128"/>
            <a:ext cx="896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353F"/>
                </a:solidFill>
              </a:rPr>
              <a:t>f1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99832" y="1728216"/>
            <a:ext cx="9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D7FF"/>
                </a:solidFill>
              </a:rPr>
              <a:t>▶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72984" y="1298448"/>
            <a:ext cx="896112" cy="1097280"/>
          </a:xfrm>
          <a:prstGeom prst="rect">
            <a:avLst/>
          </a:prstGeom>
          <a:solidFill>
            <a:srgbClr val="00191E"/>
          </a:solidFill>
          <a:ln>
            <a:solidFill>
              <a:srgbClr val="005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918704" y="1344168"/>
            <a:ext cx="804672" cy="841248"/>
          </a:xfrm>
          <a:prstGeom prst="rect">
            <a:avLst/>
          </a:prstGeom>
          <a:solidFill>
            <a:srgbClr val="000F11"/>
          </a:solidFill>
          <a:ln>
            <a:solidFill>
              <a:srgbClr val="000F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72984" y="1435608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5E6F"/>
                </a:solidFill>
              </a:rPr>
              <a:t>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72984" y="2167128"/>
            <a:ext cx="896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5E6F"/>
                </a:solidFill>
              </a:rPr>
              <a:t>f2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69096" y="1728216"/>
            <a:ext cx="9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D7FF"/>
                </a:solidFill>
              </a:rPr>
              <a:t>▶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42248" y="1298448"/>
            <a:ext cx="896112" cy="1097280"/>
          </a:xfrm>
          <a:prstGeom prst="rect">
            <a:avLst/>
          </a:prstGeom>
          <a:solidFill>
            <a:srgbClr val="00191E"/>
          </a:solidFill>
          <a:ln>
            <a:solidFill>
              <a:srgbClr val="0086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887968" y="1344168"/>
            <a:ext cx="804672" cy="841248"/>
          </a:xfrm>
          <a:prstGeom prst="rect">
            <a:avLst/>
          </a:prstGeom>
          <a:solidFill>
            <a:srgbClr val="000F11"/>
          </a:solidFill>
          <a:ln>
            <a:solidFill>
              <a:srgbClr val="000F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42248" y="1435608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69F"/>
                </a:solidFill>
              </a:rPr>
              <a:t>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42248" y="2167128"/>
            <a:ext cx="896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869F"/>
                </a:solidFill>
              </a:rPr>
              <a:t>f3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38360" y="1728216"/>
            <a:ext cx="9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D7FF"/>
                </a:solidFill>
              </a:rPr>
              <a:t>▶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11512" y="1298448"/>
            <a:ext cx="896112" cy="1097280"/>
          </a:xfrm>
          <a:prstGeom prst="rect">
            <a:avLst/>
          </a:prstGeom>
          <a:solidFill>
            <a:srgbClr val="00191E"/>
          </a:solidFill>
          <a:ln>
            <a:solidFill>
              <a:srgbClr val="00A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857232" y="1344168"/>
            <a:ext cx="804672" cy="841248"/>
          </a:xfrm>
          <a:prstGeom prst="rect">
            <a:avLst/>
          </a:prstGeom>
          <a:solidFill>
            <a:srgbClr val="000F11"/>
          </a:solidFill>
          <a:ln>
            <a:solidFill>
              <a:srgbClr val="000F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11512" y="1435608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ECF"/>
                </a:solidFill>
              </a:rPr>
              <a:t>●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11512" y="2167128"/>
            <a:ext cx="896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AECF"/>
                </a:solidFill>
              </a:rPr>
              <a:t>f4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707624" y="1728216"/>
            <a:ext cx="9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D7FF"/>
                </a:solidFill>
              </a:rPr>
              <a:t>▶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780776" y="1298448"/>
            <a:ext cx="896112" cy="1097280"/>
          </a:xfrm>
          <a:prstGeom prst="rect">
            <a:avLst/>
          </a:prstGeom>
          <a:solidFill>
            <a:srgbClr val="00191E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826496" y="1344168"/>
            <a:ext cx="804672" cy="841248"/>
          </a:xfrm>
          <a:prstGeom prst="rect">
            <a:avLst/>
          </a:prstGeom>
          <a:solidFill>
            <a:srgbClr val="000F11"/>
          </a:solidFill>
          <a:ln>
            <a:solidFill>
              <a:srgbClr val="000F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780776" y="1435608"/>
            <a:ext cx="896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7FF"/>
                </a:solidFill>
              </a:rPr>
              <a:t>●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780776" y="2167128"/>
            <a:ext cx="896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D7FF"/>
                </a:solidFill>
              </a:rPr>
              <a:t>f5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03720" y="245059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9789E"/>
                </a:solidFill>
              </a:rPr>
              <a:t>Still frames  →  Illusion of Motion  →  ANIMATION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0040" y="1298448"/>
            <a:ext cx="6263640" cy="960120"/>
          </a:xfrm>
          <a:prstGeom prst="rect">
            <a:avLst/>
          </a:prstGeom>
          <a:ln>
            <a:solidFill>
              <a:srgbClr val="003742"/>
            </a:solidFill>
          </a:ln>
          <a:gradFill>
            <a:gsLst>
              <a:gs pos="0">
                <a:srgbClr val="003742"/>
              </a:gs>
              <a:gs pos="100000">
                <a:srgbClr val="001E23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20040" y="1298448"/>
            <a:ext cx="182880" cy="960120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4B59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94360" y="1353312"/>
            <a:ext cx="596188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FFFFFF"/>
                </a:solidFill>
              </a:rPr>
              <a:t>"Animation: Rapidly displaying STATIC images to create the ILLUSION of
 MOVEMENT — exploiting the brain's own perception against itself."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2304288"/>
            <a:ext cx="5687568" cy="2633472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20040" y="2304288"/>
            <a:ext cx="5687568" cy="530352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677A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20040" y="2304288"/>
            <a:ext cx="182880" cy="2633472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4B59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57784" y="2432304"/>
            <a:ext cx="256032" cy="256032"/>
          </a:xfrm>
          <a:prstGeom prst="ellipse">
            <a:avLst/>
          </a:prstGeom>
          <a:solidFill>
            <a:srgbClr val="00D7FF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4400" y="2368296"/>
            <a:ext cx="5001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7FF"/>
                </a:solidFill>
              </a:rPr>
              <a:t>DEFINITION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6072" y="2871216"/>
            <a:ext cx="53400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From Latin 'anima' — to give soul
• Series of still frames shown rapidly
• 24 fps = cinema gold standard
• 30 fps = TV broadcast
• 60 fps = modern gaming
• Below 12 fps = visible flicker
HISTORY:
First animation: Eadweard Muybridge
horse gallop sequence (1878)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08192" y="2304288"/>
            <a:ext cx="5687568" cy="2633472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108192" y="2304288"/>
            <a:ext cx="5687568" cy="530352"/>
          </a:xfrm>
          <a:prstGeom prst="rect">
            <a:avLst/>
          </a:prstGeom>
          <a:ln>
            <a:solidFill>
              <a:srgbClr val="9B50E1"/>
            </a:solidFill>
          </a:ln>
          <a:gradFill>
            <a:gsLst>
              <a:gs pos="0">
                <a:srgbClr val="9B50E1"/>
              </a:gs>
              <a:gs pos="100000">
                <a:srgbClr val="4A266C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108192" y="2304288"/>
            <a:ext cx="182880" cy="2633472"/>
          </a:xfrm>
          <a:prstGeom prst="rect">
            <a:avLst/>
          </a:prstGeom>
          <a:ln>
            <a:solidFill>
              <a:srgbClr val="9B50E1"/>
            </a:solidFill>
          </a:ln>
          <a:gradFill>
            <a:gsLst>
              <a:gs pos="0">
                <a:srgbClr val="9B50E1"/>
              </a:gs>
              <a:gs pos="100000">
                <a:srgbClr val="361C4E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345936" y="2432304"/>
            <a:ext cx="256032" cy="256032"/>
          </a:xfrm>
          <a:prstGeom prst="ellipse">
            <a:avLst/>
          </a:prstGeom>
          <a:solidFill>
            <a:srgbClr val="9B50E1"/>
          </a:solidFill>
          <a:ln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702552" y="2368296"/>
            <a:ext cx="5001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0E1"/>
                </a:solidFill>
              </a:rPr>
              <a:t>PERSISTENCE OF VISION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64224" y="2871216"/>
            <a:ext cx="53400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Physical effect in the human eye
• Retina keeps image ~50ms after
  stimulus disappears
• Afterimage overlaps next frame
• Creates a seamless visual flow
• Discovered: Peter Roget (1824)
WHY: Brain cannot distinguish
individual frames at 24+ fps
— sees continuous motion instead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5065776"/>
            <a:ext cx="5687568" cy="2633472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0040" y="5065776"/>
            <a:ext cx="5687568" cy="530352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7A47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20040" y="5065776"/>
            <a:ext cx="182880" cy="2633472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593300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57784" y="5193792"/>
            <a:ext cx="256032" cy="256032"/>
          </a:xfrm>
          <a:prstGeom prst="ellipse">
            <a:avLst/>
          </a:prstGeom>
          <a:solidFill>
            <a:srgbClr val="FF9400"/>
          </a:solidFill>
          <a:ln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14400" y="5129784"/>
            <a:ext cx="5001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400"/>
                </a:solidFill>
              </a:rPr>
              <a:t>PHI PHENOMENON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6072" y="5632704"/>
            <a:ext cx="53400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Purely PSYCHOLOGICAL motion effect
• Brain infers motion between two
  stationary objects in sequence
• Does NOT need retinal retention
• Discovered: Wertheimer (1912)
CLASSIC EXAMPLES:
• Flip-book animation
• Neon sign arrows 'flowing'
• Traffic light direction arrows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5065776"/>
            <a:ext cx="5687568" cy="2633472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108192" y="5065776"/>
            <a:ext cx="5687568" cy="530352"/>
          </a:xfrm>
          <a:prstGeom prst="rect">
            <a:avLst/>
          </a:prstGeom>
          <a:ln>
            <a:solidFill>
              <a:srgbClr val="2EDC73"/>
            </a:solidFill>
          </a:ln>
          <a:gradFill>
            <a:gsLst>
              <a:gs pos="0">
                <a:srgbClr val="2EDC73"/>
              </a:gs>
              <a:gs pos="100000">
                <a:srgbClr val="166937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108192" y="5065776"/>
            <a:ext cx="182880" cy="2633472"/>
          </a:xfrm>
          <a:prstGeom prst="rect">
            <a:avLst/>
          </a:prstGeom>
          <a:ln>
            <a:solidFill>
              <a:srgbClr val="2EDC73"/>
            </a:solidFill>
          </a:ln>
          <a:gradFill>
            <a:gsLst>
              <a:gs pos="0">
                <a:srgbClr val="2EDC73"/>
              </a:gs>
              <a:gs pos="100000">
                <a:srgbClr val="104D28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6345936" y="5193792"/>
            <a:ext cx="256032" cy="256032"/>
          </a:xfrm>
          <a:prstGeom prst="ellipse">
            <a:avLst/>
          </a:prstGeom>
          <a:solidFill>
            <a:srgbClr val="2EDC73"/>
          </a:solidFill>
          <a:ln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702552" y="5129784"/>
            <a:ext cx="5001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DC73"/>
                </a:solidFill>
              </a:rPr>
              <a:t>ILLUSION OF MOVEMENT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64224" y="5632704"/>
            <a:ext cx="53400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Combined result of BOTH effects
• Persistence of Vision alone = NOT enough
• Phi Phenomenon alone = NOT enough
• BOTH together = seamless motion!
The brain WANTS to see motion.
Animators exploit this biological
'glitch' in human perception.
This is WHY animation feels REAL
even though it is 100% artificial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7071C"/>
          </a:solidFill>
          <a:ln>
            <a:solidFill>
              <a:srgbClr val="070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07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1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55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29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04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78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52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27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01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75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50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24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98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73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47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218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961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704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447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190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934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67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242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16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90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65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39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13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887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62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36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10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85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59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33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808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082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56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31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905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274320"/>
            <a:ext cx="12188952" cy="960120"/>
          </a:xfrm>
          <a:prstGeom prst="rect">
            <a:avLst/>
          </a:prstGeom>
          <a:ln>
            <a:solidFill>
              <a:srgbClr val="9B50E1"/>
            </a:solidFill>
          </a:ln>
          <a:gradFill>
            <a:gsLst>
              <a:gs pos="0">
                <a:srgbClr val="9B50E1"/>
              </a:gs>
              <a:gs pos="100000">
                <a:srgbClr val="41215E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0" y="-73152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200" b="1" i="0">
                <a:solidFill>
                  <a:srgbClr val="2E1843"/>
                </a:solidFill>
              </a:rPr>
              <a:t>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329184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USAGE OF ANIMATION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1234440"/>
            <a:ext cx="2880360" cy="658368"/>
          </a:xfrm>
          <a:prstGeom prst="rect">
            <a:avLst/>
          </a:prstGeom>
          <a:ln>
            <a:solidFill>
              <a:srgbClr val="00353F"/>
            </a:solidFill>
          </a:ln>
          <a:gradFill>
            <a:gsLst>
              <a:gs pos="0">
                <a:srgbClr val="00353F"/>
              </a:gs>
              <a:gs pos="100000">
                <a:srgbClr val="005A6B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" y="1234440"/>
            <a:ext cx="182880" cy="658368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4B59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072" y="1280160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7FF"/>
                </a:solidFill>
              </a:rPr>
              <a:t>ARTISTIC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6072" y="1591056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Fine Art / Music Videos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91840" y="1234440"/>
            <a:ext cx="2880360" cy="658368"/>
          </a:xfrm>
          <a:prstGeom prst="rect">
            <a:avLst/>
          </a:prstGeom>
          <a:ln>
            <a:solidFill>
              <a:srgbClr val="3F2500"/>
            </a:solidFill>
          </a:ln>
          <a:gradFill>
            <a:gsLst>
              <a:gs pos="0">
                <a:srgbClr val="3F2500"/>
              </a:gs>
              <a:gs pos="100000">
                <a:srgbClr val="6B3E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91840" y="1234440"/>
            <a:ext cx="182880" cy="658368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593300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47872" y="1280160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400"/>
                </a:solidFill>
              </a:rPr>
              <a:t>STORYTELLING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47872" y="1591056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Films / Games / Series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63640" y="1234440"/>
            <a:ext cx="2880360" cy="658368"/>
          </a:xfrm>
          <a:prstGeom prst="rect">
            <a:avLst/>
          </a:prstGeom>
          <a:ln>
            <a:solidFill>
              <a:srgbClr val="0B371C"/>
            </a:solidFill>
          </a:ln>
          <a:gradFill>
            <a:gsLst>
              <a:gs pos="0">
                <a:srgbClr val="0B371C"/>
              </a:gs>
              <a:gs pos="100000">
                <a:srgbClr val="135C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63640" y="1234440"/>
            <a:ext cx="182880" cy="658368"/>
          </a:xfrm>
          <a:prstGeom prst="rect">
            <a:avLst/>
          </a:prstGeom>
          <a:ln>
            <a:solidFill>
              <a:srgbClr val="2EDC73"/>
            </a:solidFill>
          </a:ln>
          <a:gradFill>
            <a:gsLst>
              <a:gs pos="0">
                <a:srgbClr val="2EDC73"/>
              </a:gs>
              <a:gs pos="100000">
                <a:srgbClr val="104D28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19672" y="1280160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DC73"/>
                </a:solidFill>
              </a:rPr>
              <a:t>SCIENTIFIC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19672" y="1591056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Research / Medicine / NASA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35440" y="1234440"/>
            <a:ext cx="2880360" cy="658368"/>
          </a:xfrm>
          <a:prstGeom prst="rect">
            <a:avLst/>
          </a:prstGeom>
          <a:ln>
            <a:solidFill>
              <a:srgbClr val="3F1628"/>
            </a:solidFill>
          </a:ln>
          <a:gradFill>
            <a:gsLst>
              <a:gs pos="0">
                <a:srgbClr val="3F1628"/>
              </a:gs>
              <a:gs pos="100000">
                <a:srgbClr val="6B2544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235440" y="1234440"/>
            <a:ext cx="182880" cy="658368"/>
          </a:xfrm>
          <a:prstGeom prst="rect">
            <a:avLst/>
          </a:prstGeom>
          <a:ln>
            <a:solidFill>
              <a:srgbClr val="FF5AA2"/>
            </a:solidFill>
          </a:ln>
          <a:gradFill>
            <a:gsLst>
              <a:gs pos="0">
                <a:srgbClr val="FF5AA2"/>
              </a:gs>
              <a:gs pos="100000">
                <a:srgbClr val="591F38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91472" y="1280160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AA2"/>
                </a:solidFill>
              </a:rPr>
              <a:t>INSTRUCTIONAL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91472" y="1591056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9789E"/>
                </a:solidFill>
              </a:rPr>
              <a:t>Education / Training / Sims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1938528"/>
            <a:ext cx="5687568" cy="2633472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20040" y="1938528"/>
            <a:ext cx="5687568" cy="530352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677A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20040" y="1938528"/>
            <a:ext cx="182880" cy="2633472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4B59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7784" y="2066544"/>
            <a:ext cx="256032" cy="256032"/>
          </a:xfrm>
          <a:prstGeom prst="ellipse">
            <a:avLst/>
          </a:prstGeom>
          <a:solidFill>
            <a:srgbClr val="00D7FF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4400" y="2002536"/>
            <a:ext cx="5001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7FF"/>
                </a:solidFill>
              </a:rPr>
              <a:t>ARTISTIC PURPOSES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6072" y="2505456"/>
            <a:ext cx="53400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• Fine art &amp; experimental films
• Music video production
• Abstract visual compositions
• Title sequence design
• Gallery art installations
ICONIC EXAMPLES:
  Disney Fantasia (1940)
  Yellow Submarine (1968)
  Spider-Man: Into the Spider-Verse
  (2018) — Oscar winner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1938528"/>
            <a:ext cx="5687568" cy="2633472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08192" y="1938528"/>
            <a:ext cx="5687568" cy="530352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7A47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08192" y="1938528"/>
            <a:ext cx="182880" cy="2633472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593300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345936" y="2066544"/>
            <a:ext cx="256032" cy="256032"/>
          </a:xfrm>
          <a:prstGeom prst="ellipse">
            <a:avLst/>
          </a:prstGeom>
          <a:solidFill>
            <a:srgbClr val="FF9400"/>
          </a:solidFill>
          <a:ln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702552" y="2002536"/>
            <a:ext cx="5001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400"/>
                </a:solidFill>
              </a:rPr>
              <a:t>STORYTELLING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64224" y="2505456"/>
            <a:ext cx="53400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• Narrative feature films
• TV series &amp; streaming shows
• Video game cutscenes
• Interactive web comics
• Character-driven dramas
ICONIC EXAMPLES:
  Pixar Toy Story series
  Studio Ghibli classics
  Arcane — Netflix (2021)
  Attack on Titan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4700016"/>
            <a:ext cx="5687568" cy="2633472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20040" y="4700016"/>
            <a:ext cx="5687568" cy="530352"/>
          </a:xfrm>
          <a:prstGeom prst="rect">
            <a:avLst/>
          </a:prstGeom>
          <a:ln>
            <a:solidFill>
              <a:srgbClr val="2EDC73"/>
            </a:solidFill>
          </a:ln>
          <a:gradFill>
            <a:gsLst>
              <a:gs pos="0">
                <a:srgbClr val="2EDC73"/>
              </a:gs>
              <a:gs pos="100000">
                <a:srgbClr val="166937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20040" y="4700016"/>
            <a:ext cx="182880" cy="2633472"/>
          </a:xfrm>
          <a:prstGeom prst="rect">
            <a:avLst/>
          </a:prstGeom>
          <a:ln>
            <a:solidFill>
              <a:srgbClr val="2EDC73"/>
            </a:solidFill>
          </a:ln>
          <a:gradFill>
            <a:gsLst>
              <a:gs pos="0">
                <a:srgbClr val="2EDC73"/>
              </a:gs>
              <a:gs pos="100000">
                <a:srgbClr val="104D28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57784" y="4828032"/>
            <a:ext cx="256032" cy="256032"/>
          </a:xfrm>
          <a:prstGeom prst="ellipse">
            <a:avLst/>
          </a:prstGeom>
          <a:solidFill>
            <a:srgbClr val="2EDC73"/>
          </a:solidFill>
          <a:ln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4400" y="4764024"/>
            <a:ext cx="5001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DC73"/>
                </a:solidFill>
              </a:rPr>
              <a:t>SCIENTIFIC VISUALIZATION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6072" y="5266944"/>
            <a:ext cx="53400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• Human anatomy explainers
• Weather &amp; climate models
• DNA &amp; molecular modeling
• Physics fluid simulations
• Engineering CAD previews
ICONIC EXAMPLES:
  NASA mission visualizations
  Medical surgical training
  Climate change simulations
  Molecular biology videos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08192" y="4700016"/>
            <a:ext cx="5687568" cy="2633472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108192" y="4700016"/>
            <a:ext cx="5687568" cy="530352"/>
          </a:xfrm>
          <a:prstGeom prst="rect">
            <a:avLst/>
          </a:prstGeom>
          <a:ln>
            <a:solidFill>
              <a:srgbClr val="FF5AA2"/>
            </a:solidFill>
          </a:ln>
          <a:gradFill>
            <a:gsLst>
              <a:gs pos="0">
                <a:srgbClr val="FF5AA2"/>
              </a:gs>
              <a:gs pos="100000">
                <a:srgbClr val="7A2B4D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108192" y="4700016"/>
            <a:ext cx="182880" cy="2633472"/>
          </a:xfrm>
          <a:prstGeom prst="rect">
            <a:avLst/>
          </a:prstGeom>
          <a:ln>
            <a:solidFill>
              <a:srgbClr val="FF5AA2"/>
            </a:solidFill>
          </a:ln>
          <a:gradFill>
            <a:gsLst>
              <a:gs pos="0">
                <a:srgbClr val="FF5AA2"/>
              </a:gs>
              <a:gs pos="100000">
                <a:srgbClr val="591F38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345936" y="4828032"/>
            <a:ext cx="256032" cy="256032"/>
          </a:xfrm>
          <a:prstGeom prst="ellipse">
            <a:avLst/>
          </a:prstGeom>
          <a:solidFill>
            <a:srgbClr val="FF5AA2"/>
          </a:solidFill>
          <a:ln>
            <a:solidFill>
              <a:srgbClr val="FF5A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702552" y="4764024"/>
            <a:ext cx="5001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AA2"/>
                </a:solidFill>
              </a:rPr>
              <a:t>INSTRUCTIONAL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64224" y="5266944"/>
            <a:ext cx="53400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• Educational explainer videos
• Military &amp; flight simulators
• Safety procedure demos
• Product assembly guides
• Corporate onboarding modules
ICONIC EXAMPLES:
  Khan Academy lessons
  Boeing pilot simulators
  IKEA assembly guides
  YouTube tutorial channels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7071C"/>
          </a:solidFill>
          <a:ln>
            <a:solidFill>
              <a:srgbClr val="070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07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1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55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29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04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78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52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27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01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75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50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24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98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73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47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218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961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704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447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190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934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67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242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16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90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65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39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13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887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62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36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10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85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59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33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808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082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56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31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905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274320"/>
            <a:ext cx="12188952" cy="960120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6B3E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0" y="-73152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200" b="1" i="0">
                <a:solidFill>
                  <a:srgbClr val="4C2C00"/>
                </a:solidFill>
              </a:rP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329184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ANIMATION TECHNIQUES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1261872"/>
            <a:ext cx="11548872" cy="438912"/>
          </a:xfrm>
          <a:prstGeom prst="rect">
            <a:avLst/>
          </a:prstGeom>
          <a:ln>
            <a:solidFill>
              <a:srgbClr val="331D00"/>
            </a:solidFill>
          </a:ln>
          <a:gradFill>
            <a:gsLst>
              <a:gs pos="0">
                <a:srgbClr val="331D00"/>
              </a:gs>
              <a:gs pos="100000">
                <a:srgbClr val="1E11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" y="1261872"/>
            <a:ext cx="3749039" cy="438912"/>
          </a:xfrm>
          <a:prstGeom prst="rect">
            <a:avLst/>
          </a:prstGeom>
          <a:ln>
            <a:solidFill>
              <a:srgbClr val="004451"/>
            </a:solidFill>
          </a:ln>
          <a:gradFill>
            <a:gsLst>
              <a:gs pos="0">
                <a:srgbClr val="004451"/>
              </a:gs>
              <a:gs pos="100000">
                <a:srgbClr val="002F38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129844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7FF"/>
                </a:solidFill>
              </a:rPr>
              <a:t>CEL ANIMATION  •  1910s – 1990s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80559" y="1261872"/>
            <a:ext cx="3749039" cy="438912"/>
          </a:xfrm>
          <a:prstGeom prst="rect">
            <a:avLst/>
          </a:prstGeom>
          <a:ln>
            <a:solidFill>
              <a:srgbClr val="512F00"/>
            </a:solidFill>
          </a:ln>
          <a:gradFill>
            <a:gsLst>
              <a:gs pos="0">
                <a:srgbClr val="512F00"/>
              </a:gs>
              <a:gs pos="100000">
                <a:srgbClr val="3820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1999" y="129844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400"/>
                </a:solidFill>
              </a:rPr>
              <a:t>PATH ANIMATION  •  1970s – Now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58198" y="1261872"/>
            <a:ext cx="3749039" cy="438912"/>
          </a:xfrm>
          <a:prstGeom prst="rect">
            <a:avLst/>
          </a:prstGeom>
          <a:ln>
            <a:solidFill>
              <a:srgbClr val="0E4624"/>
            </a:solidFill>
          </a:ln>
          <a:gradFill>
            <a:gsLst>
              <a:gs pos="0">
                <a:srgbClr val="0E4624"/>
              </a:gs>
              <a:gs pos="100000">
                <a:srgbClr val="0A3019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49638" y="129844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DC73"/>
                </a:solidFill>
              </a:rPr>
              <a:t>COMPUTER ANIM  •  1980s – Now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2608" y="1755648"/>
            <a:ext cx="3913632" cy="548640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92608" y="1755648"/>
            <a:ext cx="3913632" cy="621792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677A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92608" y="1755648"/>
            <a:ext cx="182880" cy="5486400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4B59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6928" y="1828800"/>
            <a:ext cx="3547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0412"/>
                </a:solidFill>
              </a:rPr>
              <a:t>CEL ANIMATION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2468880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EEE"/>
                </a:solidFill>
              </a:rPr>
              <a:t>Traditional hand-drawn technique
• Drawings on transparent celluloid sheets
• Each sheet = one frame of animation
• Cels layered over static backgrounds
• Allows background reuse (cost saving)
• Photographed frame-by-frame on film
WORKFLOW:
  Story → Storyboard → Key Animation
  → In-Betweening → Ink → Paint → Photo
STUDIOS: Disney, Hanna-Barbera,
          Warner Bros, Toei Animation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61688" y="1755648"/>
            <a:ext cx="3913632" cy="548640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361688" y="1755648"/>
            <a:ext cx="3913632" cy="621792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7A47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361688" y="1755648"/>
            <a:ext cx="182880" cy="5486400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593300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36008" y="1828800"/>
            <a:ext cx="3547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0412"/>
                </a:solidFill>
              </a:rPr>
              <a:t>PATH ANIMATION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17720" y="2468880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EEE"/>
                </a:solidFill>
              </a:rPr>
              <a:t>Object follows a predefined trajectory
• Animator defines the path shape first
• Object moves along it automatically
• Supports straight lines &amp; Bezier curves
• Object can resize/reshape along path
• Easing controls speed variation
COMMON USES:
  Logo reveals, camera fly-throughs,
  UI transitions, game projectiles
TOOLS: After Effects, CSS, SVG paths,
        Unity, Unreal Engine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430768" y="1755648"/>
            <a:ext cx="3913632" cy="548640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430768" y="1755648"/>
            <a:ext cx="3913632" cy="621792"/>
          </a:xfrm>
          <a:prstGeom prst="rect">
            <a:avLst/>
          </a:prstGeom>
          <a:ln>
            <a:solidFill>
              <a:srgbClr val="2EDC73"/>
            </a:solidFill>
          </a:ln>
          <a:gradFill>
            <a:gsLst>
              <a:gs pos="0">
                <a:srgbClr val="2EDC73"/>
              </a:gs>
              <a:gs pos="100000">
                <a:srgbClr val="166937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430768" y="1755648"/>
            <a:ext cx="182880" cy="5486400"/>
          </a:xfrm>
          <a:prstGeom prst="rect">
            <a:avLst/>
          </a:prstGeom>
          <a:ln>
            <a:solidFill>
              <a:srgbClr val="2EDC73"/>
            </a:solidFill>
          </a:ln>
          <a:gradFill>
            <a:gsLst>
              <a:gs pos="0">
                <a:srgbClr val="2EDC73"/>
              </a:gs>
              <a:gs pos="100000">
                <a:srgbClr val="104D28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05088" y="1828800"/>
            <a:ext cx="3547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0412"/>
                </a:solidFill>
              </a:rPr>
              <a:t>COMPUTER ANIMATION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0" y="2468880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EEE"/>
                </a:solidFill>
              </a:rPr>
              <a:t>Digital creation of moving images
• Can simulate both Cel &amp; Path techniques
• PLUS: physics, particles, simulation
• 2D digital, 3D CG, or hybrid mix
• Real-time OR pre-rendered output
• Procedural &amp; AI-assisted animation
ADVANTAGES:
  Unlimited camera angles
  Easy to iterate &amp; fix errors
  Physics simulation built-in
  Automatic in-betweening
STUDIOS: Pixar, DreamWorks, ILM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078224" y="3657600"/>
            <a:ext cx="201168" cy="640080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5933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023360" y="3566160"/>
            <a:ext cx="3474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9400"/>
                </a:solidFill>
              </a:rPr>
              <a:t>▶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147304" y="3657600"/>
            <a:ext cx="201168" cy="640080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5933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92440" y="3566160"/>
            <a:ext cx="3474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9400"/>
                </a:solidFill>
              </a:rPr>
              <a:t>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7071C"/>
          </a:solidFill>
          <a:ln>
            <a:solidFill>
              <a:srgbClr val="070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07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1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55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29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04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78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52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27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01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75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50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24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98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73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47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218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961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704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447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190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934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67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242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16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90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65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39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13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887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62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36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10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85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59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33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808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082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56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31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905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274320"/>
            <a:ext cx="12188952" cy="960120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5A6B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0" y="-73152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200" b="1" i="0">
                <a:solidFill>
                  <a:srgbClr val="00404C"/>
                </a:solidFill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329184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TYPES OF ANIMATION — CEL ANIMATION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1261872"/>
            <a:ext cx="11548872" cy="658368"/>
          </a:xfrm>
          <a:prstGeom prst="rect">
            <a:avLst/>
          </a:prstGeom>
          <a:ln>
            <a:solidFill>
              <a:srgbClr val="00333D"/>
            </a:solidFill>
          </a:ln>
          <a:gradFill>
            <a:gsLst>
              <a:gs pos="0">
                <a:srgbClr val="00333D"/>
              </a:gs>
              <a:gs pos="100000">
                <a:srgbClr val="00516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" y="1261872"/>
            <a:ext cx="182880" cy="658368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4B59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3504" y="13258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C0CEEE"/>
                </a:solidFill>
              </a:rPr>
              <a:t>Named after CELLULOID — transparent plastic sheets invented in 1869. Raoul Barré &amp; John Bray developed the cel technique ~1914. Dominated animation for 80 years.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607040" y="2011680"/>
            <a:ext cx="1325880" cy="1645920"/>
          </a:xfrm>
          <a:prstGeom prst="rect">
            <a:avLst/>
          </a:prstGeom>
          <a:solidFill>
            <a:srgbClr val="0D0D30"/>
          </a:solidFill>
          <a:ln>
            <a:solidFill>
              <a:srgbClr val="00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497312" y="2121408"/>
            <a:ext cx="1325880" cy="1645920"/>
          </a:xfrm>
          <a:prstGeom prst="rect">
            <a:avLst/>
          </a:prstGeom>
          <a:solidFill>
            <a:srgbClr val="0D0D30"/>
          </a:solidFill>
          <a:ln>
            <a:solidFill>
              <a:srgbClr val="004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387584" y="2231136"/>
            <a:ext cx="1325880" cy="1645920"/>
          </a:xfrm>
          <a:prstGeom prst="rect">
            <a:avLst/>
          </a:prstGeom>
          <a:solidFill>
            <a:srgbClr val="0D0D30"/>
          </a:solidFill>
          <a:ln>
            <a:solidFill>
              <a:srgbClr val="007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277856" y="2340864"/>
            <a:ext cx="1325880" cy="1645920"/>
          </a:xfrm>
          <a:prstGeom prst="rect">
            <a:avLst/>
          </a:prstGeom>
          <a:solidFill>
            <a:srgbClr val="0D0D30"/>
          </a:solidFill>
          <a:ln>
            <a:solidFill>
              <a:srgbClr val="00A1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0" y="19202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789E"/>
                </a:solidFill>
              </a:rPr>
              <a:t>CEL
STACK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1965960"/>
            <a:ext cx="5687568" cy="2633472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20040" y="1965960"/>
            <a:ext cx="5687568" cy="530352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677A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20040" y="1965960"/>
            <a:ext cx="182880" cy="2633472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4B59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57784" y="2093976"/>
            <a:ext cx="256032" cy="256032"/>
          </a:xfrm>
          <a:prstGeom prst="ellipse">
            <a:avLst/>
          </a:prstGeom>
          <a:solidFill>
            <a:srgbClr val="00D7FF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" y="2029968"/>
            <a:ext cx="5001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7FF"/>
                </a:solidFill>
              </a:rPr>
              <a:t>CEL ANIMATION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6072" y="2532888"/>
            <a:ext cx="53400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• Transparent sheet per frame of film
• Character on cel; background separate
• Cels stacked = final composite frame
• Background reuse saves huge cost
• Colors applied to BACK of cel sheet
• 12–24 unique cels per second of film
USED IN:
Tom &amp; Jerry, Looney Tunes,
Snow White, Bambi, Akira, Pinocchio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08192" y="1965960"/>
            <a:ext cx="5687568" cy="2633472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08192" y="1965960"/>
            <a:ext cx="5687568" cy="530352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7A47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08192" y="1965960"/>
            <a:ext cx="182880" cy="2633472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593300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345936" y="2093976"/>
            <a:ext cx="256032" cy="256032"/>
          </a:xfrm>
          <a:prstGeom prst="ellipse">
            <a:avLst/>
          </a:prstGeom>
          <a:solidFill>
            <a:srgbClr val="FF9400"/>
          </a:solidFill>
          <a:ln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02552" y="2029968"/>
            <a:ext cx="5001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400"/>
                </a:solidFill>
              </a:rPr>
              <a:t>KEYFRAMES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64224" y="2532888"/>
            <a:ext cx="53400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• The 'anchor' frames of an action
• Show most extreme or critical poses
• Drawn by SENIOR animators
• Define the timing &amp; structure
• Think of them as checkpoints
EXAMPLE:
Frame 1 = character standing still
Frame 12 = peak of jump (keyframe)
Frame 24 = character landed
Modern software uses identical
keyframe concept in timelines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4727448"/>
            <a:ext cx="5687568" cy="2633472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20040" y="4727448"/>
            <a:ext cx="5687568" cy="530352"/>
          </a:xfrm>
          <a:prstGeom prst="rect">
            <a:avLst/>
          </a:prstGeom>
          <a:ln>
            <a:solidFill>
              <a:srgbClr val="2EDC73"/>
            </a:solidFill>
          </a:ln>
          <a:gradFill>
            <a:gsLst>
              <a:gs pos="0">
                <a:srgbClr val="2EDC73"/>
              </a:gs>
              <a:gs pos="100000">
                <a:srgbClr val="166937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20040" y="4727448"/>
            <a:ext cx="182880" cy="2633472"/>
          </a:xfrm>
          <a:prstGeom prst="rect">
            <a:avLst/>
          </a:prstGeom>
          <a:ln>
            <a:solidFill>
              <a:srgbClr val="2EDC73"/>
            </a:solidFill>
          </a:ln>
          <a:gradFill>
            <a:gsLst>
              <a:gs pos="0">
                <a:srgbClr val="2EDC73"/>
              </a:gs>
              <a:gs pos="100000">
                <a:srgbClr val="104D28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57784" y="4855464"/>
            <a:ext cx="256032" cy="256032"/>
          </a:xfrm>
          <a:prstGeom prst="ellipse">
            <a:avLst/>
          </a:prstGeom>
          <a:solidFill>
            <a:srgbClr val="2EDC73"/>
          </a:solidFill>
          <a:ln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4400" y="4791456"/>
            <a:ext cx="5001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DC73"/>
                </a:solidFill>
              </a:rPr>
              <a:t>TWEENING (In-Betweening)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6072" y="5294376"/>
            <a:ext cx="53400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• Frames drawn BETWEEN keyframes
• Creates smooth motion transition
• Done by JUNIOR animators
• More tweens = smoother motion
• At 24fps: ~22 tweens per action
MODERN EQUIVALENT:
Software AUTO-tweens between
keyframes — no manual drawing!
Tools: Adobe Animate, Flash,
Toon Boom Harmony, After Effects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08192" y="4727448"/>
            <a:ext cx="5687568" cy="2633472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108192" y="4727448"/>
            <a:ext cx="5687568" cy="530352"/>
          </a:xfrm>
          <a:prstGeom prst="rect">
            <a:avLst/>
          </a:prstGeom>
          <a:ln>
            <a:solidFill>
              <a:srgbClr val="9B50E1"/>
            </a:solidFill>
          </a:ln>
          <a:gradFill>
            <a:gsLst>
              <a:gs pos="0">
                <a:srgbClr val="9B50E1"/>
              </a:gs>
              <a:gs pos="100000">
                <a:srgbClr val="4A266C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108192" y="4727448"/>
            <a:ext cx="182880" cy="2633472"/>
          </a:xfrm>
          <a:prstGeom prst="rect">
            <a:avLst/>
          </a:prstGeom>
          <a:ln>
            <a:solidFill>
              <a:srgbClr val="9B50E1"/>
            </a:solidFill>
          </a:ln>
          <a:gradFill>
            <a:gsLst>
              <a:gs pos="0">
                <a:srgbClr val="9B50E1"/>
              </a:gs>
              <a:gs pos="100000">
                <a:srgbClr val="361C4E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345936" y="4855464"/>
            <a:ext cx="256032" cy="256032"/>
          </a:xfrm>
          <a:prstGeom prst="ellipse">
            <a:avLst/>
          </a:prstGeom>
          <a:solidFill>
            <a:srgbClr val="9B50E1"/>
          </a:solidFill>
          <a:ln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702552" y="4791456"/>
            <a:ext cx="5001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0E1"/>
                </a:solidFill>
              </a:rPr>
              <a:t>PENCIL TEST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64224" y="5294376"/>
            <a:ext cx="53400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• Quick pre-production validation test
• Rough pencil sketches filmed first
• Played back to check timing &amp; flow
• Catches errors BEFORE expensive
  inking &amp; painting stages
• Saves significant time and money
MODERN EQUIVALENT:
Animatic / rough cut preview
played in editing software
Standard practice at EVERY
major animation studio worldwide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7071C"/>
          </a:solidFill>
          <a:ln>
            <a:solidFill>
              <a:srgbClr val="070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07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1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55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29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04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78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52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27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01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75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50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24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98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73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47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218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961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704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447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190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934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67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242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16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90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65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39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13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887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62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36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10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85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59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33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808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082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56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31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905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274320"/>
            <a:ext cx="12188952" cy="960120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6B3E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0" y="-73152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200" b="1" i="0">
                <a:solidFill>
                  <a:srgbClr val="4C2C00"/>
                </a:solidFill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329184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TYPES OF ANIMATION — PATH ANIMATION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1261872"/>
            <a:ext cx="11548872" cy="658368"/>
          </a:xfrm>
          <a:prstGeom prst="rect">
            <a:avLst/>
          </a:prstGeom>
          <a:ln>
            <a:solidFill>
              <a:srgbClr val="3D2300"/>
            </a:solidFill>
          </a:ln>
          <a:gradFill>
            <a:gsLst>
              <a:gs pos="0">
                <a:srgbClr val="3D2300"/>
              </a:gs>
              <a:gs pos="100000">
                <a:srgbClr val="6038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" y="1261872"/>
            <a:ext cx="182880" cy="658368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593300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3504" y="13258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C0CEEE"/>
                </a:solidFill>
              </a:rPr>
              <a:t>PATH ANIMATION: Object follows a predefined trajectory. Animator draws the path; software handles movement along it automatically.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1938528"/>
            <a:ext cx="5577840" cy="466344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1938528"/>
            <a:ext cx="5577840" cy="566928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7F4A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0040" y="1938528"/>
            <a:ext cx="182880" cy="4663440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593300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1984248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40412"/>
                </a:solidFill>
              </a:rPr>
              <a:t>KEY CONCEPTS</a:t>
            </a:r>
          </a:p>
        </p:txBody>
      </p:sp>
      <p:sp>
        <p:nvSpPr>
          <p:cNvPr id="57" name="Oval 56"/>
          <p:cNvSpPr/>
          <p:nvPr/>
        </p:nvSpPr>
        <p:spPr>
          <a:xfrm>
            <a:off x="960120" y="2606040"/>
            <a:ext cx="274320" cy="274320"/>
          </a:xfrm>
          <a:prstGeom prst="ellipse">
            <a:avLst/>
          </a:prstGeom>
          <a:solidFill>
            <a:srgbClr val="FF9400"/>
          </a:solidFill>
          <a:ln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810512" y="2505456"/>
            <a:ext cx="36576" cy="36576"/>
          </a:xfrm>
          <a:prstGeom prst="rect">
            <a:avLst/>
          </a:prstGeom>
          <a:solidFill>
            <a:srgbClr val="69789E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459736" y="2185416"/>
            <a:ext cx="201168" cy="201168"/>
          </a:xfrm>
          <a:prstGeom prst="ellipse">
            <a:avLst/>
          </a:prstGeom>
          <a:solidFill>
            <a:srgbClr val="00D7FF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090672" y="2688336"/>
            <a:ext cx="36576" cy="36576"/>
          </a:xfrm>
          <a:prstGeom prst="rect">
            <a:avLst/>
          </a:prstGeom>
          <a:solidFill>
            <a:srgbClr val="69789E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557016" y="3008376"/>
            <a:ext cx="201168" cy="201168"/>
          </a:xfrm>
          <a:prstGeom prst="ellipse">
            <a:avLst/>
          </a:prstGeom>
          <a:solidFill>
            <a:srgbClr val="00D7FF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25112" y="2825496"/>
            <a:ext cx="36576" cy="36576"/>
          </a:xfrm>
          <a:prstGeom prst="rect">
            <a:avLst/>
          </a:prstGeom>
          <a:solidFill>
            <a:srgbClr val="69789E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892040" y="2423160"/>
            <a:ext cx="274320" cy="274320"/>
          </a:xfrm>
          <a:prstGeom prst="ellipse">
            <a:avLst/>
          </a:prstGeom>
          <a:solidFill>
            <a:srgbClr val="FF9400"/>
          </a:solidFill>
          <a:ln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28346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9400"/>
                </a:solidFill>
              </a:rPr>
              <a:t>START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37760" y="26517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9400"/>
                </a:solidFill>
              </a:rPr>
              <a:t>END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00" y="33375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9789E"/>
                </a:solidFill>
              </a:rPr>
              <a:t>Bezier curve path
(object follows this route)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0352" y="3858768"/>
            <a:ext cx="109728" cy="731520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593300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9808" y="38587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9400"/>
                </a:solidFill>
              </a:rPr>
              <a:t>PREDETERMINED PATH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808" y="416966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Route defined BEFORE animation. Like a roller-coaster — object follows exactly what's laid out.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30352" y="4700016"/>
            <a:ext cx="109728" cy="731520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4B59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49808" y="47000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D7FF"/>
                </a:solidFill>
              </a:rPr>
              <a:t>STRAIGHT LINES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9808" y="50109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Linear movement for mechanical objects, text reveals, UI animations.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0352" y="5541264"/>
            <a:ext cx="109728" cy="731520"/>
          </a:xfrm>
          <a:prstGeom prst="rect">
            <a:avLst/>
          </a:prstGeom>
          <a:ln>
            <a:solidFill>
              <a:srgbClr val="2EDC73"/>
            </a:solidFill>
          </a:ln>
          <a:gradFill>
            <a:gsLst>
              <a:gs pos="0">
                <a:srgbClr val="2EDC73"/>
              </a:gs>
              <a:gs pos="100000">
                <a:srgbClr val="104D28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9808" y="55412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DC73"/>
                </a:solidFill>
              </a:rPr>
              <a:t>BEZIER CURVES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808" y="5852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Smooth organic paths via control points. Natural feel for balls, flying objects, camera.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0352" y="6382512"/>
            <a:ext cx="109728" cy="731520"/>
          </a:xfrm>
          <a:prstGeom prst="rect">
            <a:avLst/>
          </a:prstGeom>
          <a:ln>
            <a:solidFill>
              <a:srgbClr val="FF5AA2"/>
            </a:solidFill>
          </a:ln>
          <a:gradFill>
            <a:gsLst>
              <a:gs pos="0">
                <a:srgbClr val="FF5AA2"/>
              </a:gs>
              <a:gs pos="100000">
                <a:srgbClr val="591F38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9808" y="63825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5AA2"/>
                </a:solidFill>
              </a:rPr>
              <a:t>RESIZING &amp; RESHAPING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9808" y="66934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Object scales or deforms as it travels the path — adds dynamism (e.g. ball squash on bounce).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99632" y="1938528"/>
            <a:ext cx="5641848" cy="466344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199632" y="1938528"/>
            <a:ext cx="5641848" cy="566928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7F4A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199632" y="1938528"/>
            <a:ext cx="182880" cy="4663440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593300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73952" y="1984248"/>
            <a:ext cx="52760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40412"/>
                </a:solidFill>
              </a:rPr>
              <a:t>HOW PATH ANIMATION WORKS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27648" y="2615184"/>
            <a:ext cx="502920" cy="566928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4B59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27648" y="2615184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40412"/>
                </a:solidFill>
              </a:rPr>
              <a:t>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22008" y="2706624"/>
            <a:ext cx="4828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0CEEE"/>
                </a:solidFill>
              </a:rPr>
              <a:t>Draw the PATH — straight line, Bezier curve, or freehand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27648" y="3310128"/>
            <a:ext cx="502920" cy="566928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593300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27648" y="3310128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40412"/>
                </a:solidFill>
              </a:rP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22008" y="3401568"/>
            <a:ext cx="4828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0CEEE"/>
                </a:solidFill>
              </a:rPr>
              <a:t>Set START and END points along the path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327648" y="4005072"/>
            <a:ext cx="502920" cy="566928"/>
          </a:xfrm>
          <a:prstGeom prst="rect">
            <a:avLst/>
          </a:prstGeom>
          <a:ln>
            <a:solidFill>
              <a:srgbClr val="2EDC73"/>
            </a:solidFill>
          </a:ln>
          <a:gradFill>
            <a:gsLst>
              <a:gs pos="0">
                <a:srgbClr val="2EDC73"/>
              </a:gs>
              <a:gs pos="100000">
                <a:srgbClr val="104D28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27648" y="4005072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40412"/>
                </a:solidFill>
              </a:rPr>
              <a:t>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922008" y="4096512"/>
            <a:ext cx="4828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0CEEE"/>
                </a:solidFill>
              </a:rPr>
              <a:t>Define DURATION — how long the journey takes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327648" y="4700016"/>
            <a:ext cx="502920" cy="566928"/>
          </a:xfrm>
          <a:prstGeom prst="rect">
            <a:avLst/>
          </a:prstGeom>
          <a:ln>
            <a:solidFill>
              <a:srgbClr val="9B50E1"/>
            </a:solidFill>
          </a:ln>
          <a:gradFill>
            <a:gsLst>
              <a:gs pos="0">
                <a:srgbClr val="9B50E1"/>
              </a:gs>
              <a:gs pos="100000">
                <a:srgbClr val="361C4E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327648" y="4700016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40412"/>
                </a:solidFill>
              </a:rP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922008" y="4791456"/>
            <a:ext cx="4828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0CEEE"/>
                </a:solidFill>
              </a:rPr>
              <a:t>Apply EASING — slow in / slow out for natural feel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27648" y="5394960"/>
            <a:ext cx="502920" cy="566928"/>
          </a:xfrm>
          <a:prstGeom prst="rect">
            <a:avLst/>
          </a:prstGeom>
          <a:ln>
            <a:solidFill>
              <a:srgbClr val="FF5AA2"/>
            </a:solidFill>
          </a:ln>
          <a:gradFill>
            <a:gsLst>
              <a:gs pos="0">
                <a:srgbClr val="FF5AA2"/>
              </a:gs>
              <a:gs pos="100000">
                <a:srgbClr val="591F38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27648" y="5394960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40412"/>
                </a:solidFill>
              </a:rPr>
              <a:t>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922008" y="5486400"/>
            <a:ext cx="4828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0CEEE"/>
                </a:solidFill>
              </a:rPr>
              <a:t>Set ORIENTATION — does object face direction of travel?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327648" y="6089904"/>
            <a:ext cx="502920" cy="566928"/>
          </a:xfrm>
          <a:prstGeom prst="rect">
            <a:avLst/>
          </a:prstGeom>
          <a:ln>
            <a:solidFill>
              <a:srgbClr val="FFD700"/>
            </a:solidFill>
          </a:ln>
          <a:gradFill>
            <a:gsLst>
              <a:gs pos="0">
                <a:srgbClr val="FFD700"/>
              </a:gs>
              <a:gs pos="100000">
                <a:srgbClr val="594B00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327648" y="6089904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40412"/>
                </a:solidFill>
              </a:rP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22008" y="6181344"/>
            <a:ext cx="4828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0CEEE"/>
                </a:solidFill>
              </a:rPr>
              <a:t>Preview, adjust, repeat — render when satisfied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" y="6492240"/>
            <a:ext cx="11548872" cy="329184"/>
          </a:xfrm>
          <a:prstGeom prst="rect">
            <a:avLst/>
          </a:prstGeom>
          <a:ln>
            <a:solidFill>
              <a:srgbClr val="0B371C"/>
            </a:solidFill>
          </a:ln>
          <a:gradFill>
            <a:gsLst>
              <a:gs pos="0">
                <a:srgbClr val="0B371C"/>
              </a:gs>
              <a:gs pos="100000">
                <a:srgbClr val="11532B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2920" y="651052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DC73"/>
                </a:solidFill>
              </a:rPr>
              <a:t>Used in: CSS animations  •  After Effects motion paths  •  Unity NavMesh  •  SVG paths  •  Game projectiles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7071C"/>
          </a:solidFill>
          <a:ln>
            <a:solidFill>
              <a:srgbClr val="070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07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1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55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29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04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78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52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27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01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75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50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24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98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73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47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218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961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704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447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190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934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67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242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16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90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65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39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13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887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62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36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10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85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59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33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808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082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56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31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905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274320"/>
            <a:ext cx="12188952" cy="960120"/>
          </a:xfrm>
          <a:prstGeom prst="rect">
            <a:avLst/>
          </a:prstGeom>
          <a:ln>
            <a:solidFill>
              <a:srgbClr val="2EDC73"/>
            </a:solidFill>
          </a:ln>
          <a:gradFill>
            <a:gsLst>
              <a:gs pos="0">
                <a:srgbClr val="2EDC73"/>
              </a:gs>
              <a:gs pos="100000">
                <a:srgbClr val="135C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0" y="-73152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200" b="1" i="0">
                <a:solidFill>
                  <a:srgbClr val="0D4222"/>
                </a:solidFill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329184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COMPUTER ANIMATION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1261872"/>
            <a:ext cx="11548872" cy="658368"/>
          </a:xfrm>
          <a:prstGeom prst="rect">
            <a:avLst/>
          </a:prstGeom>
          <a:ln>
            <a:solidFill>
              <a:srgbClr val="0B341B"/>
            </a:solidFill>
          </a:ln>
          <a:gradFill>
            <a:gsLst>
              <a:gs pos="0">
                <a:srgbClr val="0B341B"/>
              </a:gs>
              <a:gs pos="100000">
                <a:srgbClr val="11532B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" y="1261872"/>
            <a:ext cx="182880" cy="658368"/>
          </a:xfrm>
          <a:prstGeom prst="rect">
            <a:avLst/>
          </a:prstGeom>
          <a:ln>
            <a:solidFill>
              <a:srgbClr val="2EDC73"/>
            </a:solidFill>
          </a:ln>
          <a:gradFill>
            <a:gsLst>
              <a:gs pos="0">
                <a:srgbClr val="2EDC73"/>
              </a:gs>
              <a:gs pos="100000">
                <a:srgbClr val="104D28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3504" y="13258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C0CEEE"/>
                </a:solidFill>
              </a:rPr>
              <a:t>Computer animation uses software to create motion — simulating traditional techniques or producing entirely new effects impossible by hand.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19202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700"/>
                </a:solidFill>
              </a:rPr>
              <a:t>CEL  vs  COMPUTER  ANIMATION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2514600"/>
            <a:ext cx="5166360" cy="475488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6B7F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2514600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0412"/>
                </a:solidFill>
              </a:rPr>
              <a:t>CEL ANIMATION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20840" y="2514600"/>
            <a:ext cx="5166360" cy="475488"/>
          </a:xfrm>
          <a:prstGeom prst="rect">
            <a:avLst/>
          </a:prstGeom>
          <a:ln>
            <a:solidFill>
              <a:srgbClr val="2EDC73"/>
            </a:solidFill>
          </a:ln>
          <a:gradFill>
            <a:gsLst>
              <a:gs pos="0">
                <a:srgbClr val="2EDC73"/>
              </a:gs>
              <a:gs pos="100000">
                <a:srgbClr val="176E39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20840" y="2514600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0412"/>
                </a:solidFill>
              </a:rPr>
              <a:t>COMPUTER ANIMATION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13832" y="2395728"/>
            <a:ext cx="1161288" cy="960120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7F4A00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3832" y="2395728"/>
            <a:ext cx="116128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3035808"/>
            <a:ext cx="5166360" cy="475488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720840" y="3035808"/>
            <a:ext cx="5166360" cy="475488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8912" y="3099816"/>
            <a:ext cx="4919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EEE"/>
                </a:solidFill>
              </a:rPr>
              <a:t>Hand-drawn on physical celluloid sheets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39712" y="3099816"/>
            <a:ext cx="4919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DC73"/>
                </a:solidFill>
              </a:rPr>
              <a:t>Created entirely within digital software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3547872"/>
            <a:ext cx="5166360" cy="475488"/>
          </a:xfrm>
          <a:prstGeom prst="rect">
            <a:avLst/>
          </a:prstGeom>
          <a:solidFill>
            <a:srgbClr val="131340"/>
          </a:solidFill>
          <a:ln>
            <a:solidFill>
              <a:srgbClr val="131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20840" y="3547872"/>
            <a:ext cx="5166360" cy="475488"/>
          </a:xfrm>
          <a:prstGeom prst="rect">
            <a:avLst/>
          </a:prstGeom>
          <a:solidFill>
            <a:srgbClr val="131340"/>
          </a:solidFill>
          <a:ln>
            <a:solidFill>
              <a:srgbClr val="131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8912" y="3611880"/>
            <a:ext cx="4919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EEE"/>
                </a:solidFill>
              </a:rPr>
              <a:t>Every frame drawn manually — very slow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9712" y="3611880"/>
            <a:ext cx="4919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DC73"/>
                </a:solidFill>
              </a:rPr>
              <a:t>Automation handles tweens, physics, rendering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4059936"/>
            <a:ext cx="5166360" cy="475488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720840" y="4059936"/>
            <a:ext cx="5166360" cy="475488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8912" y="4123944"/>
            <a:ext cx="4919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EEE"/>
                </a:solidFill>
              </a:rPr>
              <a:t>Physical storage: film cans, warehouses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9712" y="4123944"/>
            <a:ext cx="4919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DC73"/>
                </a:solidFill>
              </a:rPr>
              <a:t>Digital files — backup &amp; share instantly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4572000"/>
            <a:ext cx="5166360" cy="475488"/>
          </a:xfrm>
          <a:prstGeom prst="rect">
            <a:avLst/>
          </a:prstGeom>
          <a:solidFill>
            <a:srgbClr val="131340"/>
          </a:solidFill>
          <a:ln>
            <a:solidFill>
              <a:srgbClr val="131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20840" y="4572000"/>
            <a:ext cx="5166360" cy="475488"/>
          </a:xfrm>
          <a:prstGeom prst="rect">
            <a:avLst/>
          </a:prstGeom>
          <a:solidFill>
            <a:srgbClr val="131340"/>
          </a:solidFill>
          <a:ln>
            <a:solidFill>
              <a:srgbClr val="131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8912" y="4636008"/>
            <a:ext cx="4919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EEE"/>
                </a:solidFill>
              </a:rPr>
              <a:t>Expensive: cels, paint, camera, lab fees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9712" y="4636008"/>
            <a:ext cx="4919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DC73"/>
                </a:solidFill>
              </a:rPr>
              <a:t>One-time software cost; no consumables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5084064"/>
            <a:ext cx="5166360" cy="475488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20840" y="5084064"/>
            <a:ext cx="5166360" cy="475488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38912" y="5148072"/>
            <a:ext cx="4919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EEE"/>
                </a:solidFill>
              </a:rPr>
              <a:t>Difficult to modify any finished frame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9712" y="5148072"/>
            <a:ext cx="4919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DC73"/>
                </a:solidFill>
              </a:rPr>
              <a:t>Copy, adjust, modify any frame instantly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" y="5596128"/>
            <a:ext cx="5166360" cy="475488"/>
          </a:xfrm>
          <a:prstGeom prst="rect">
            <a:avLst/>
          </a:prstGeom>
          <a:solidFill>
            <a:srgbClr val="131340"/>
          </a:solidFill>
          <a:ln>
            <a:solidFill>
              <a:srgbClr val="131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20840" y="5596128"/>
            <a:ext cx="5166360" cy="475488"/>
          </a:xfrm>
          <a:prstGeom prst="rect">
            <a:avLst/>
          </a:prstGeom>
          <a:solidFill>
            <a:srgbClr val="131340"/>
          </a:solidFill>
          <a:ln>
            <a:solidFill>
              <a:srgbClr val="131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8912" y="5660136"/>
            <a:ext cx="4919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EEE"/>
                </a:solidFill>
              </a:rPr>
              <a:t>Organic, hand-crafted visual warmth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39712" y="5660136"/>
            <a:ext cx="4919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DC73"/>
                </a:solidFill>
              </a:rPr>
              <a:t>Any style: toon to photorealistic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20040" y="6108192"/>
            <a:ext cx="5166360" cy="475488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720840" y="6108192"/>
            <a:ext cx="5166360" cy="475488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38912" y="6172200"/>
            <a:ext cx="4919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EEE"/>
                </a:solidFill>
              </a:rPr>
              <a:t>Months per 1 minute of finished film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39712" y="6172200"/>
            <a:ext cx="4919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DC73"/>
                </a:solidFill>
              </a:rPr>
              <a:t>Real-time previews; faster iterations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7071C"/>
          </a:solidFill>
          <a:ln>
            <a:solidFill>
              <a:srgbClr val="070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07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1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55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29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04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78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52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27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01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75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50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24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98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73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47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218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961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704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447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190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934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67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242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16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90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65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39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13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887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62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36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10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85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59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33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808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082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56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31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905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274320"/>
            <a:ext cx="12188952" cy="960120"/>
          </a:xfrm>
          <a:prstGeom prst="rect">
            <a:avLst/>
          </a:prstGeom>
          <a:ln>
            <a:solidFill>
              <a:srgbClr val="2EDC73"/>
            </a:solidFill>
          </a:ln>
          <a:gradFill>
            <a:gsLst>
              <a:gs pos="0">
                <a:srgbClr val="2EDC73"/>
              </a:gs>
              <a:gs pos="100000">
                <a:srgbClr val="135C3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0" y="-73152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200" b="1" i="0">
                <a:solidFill>
                  <a:srgbClr val="0D4222"/>
                </a:solidFill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329184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KINEMATICS, INVERSE KINEMATICS &amp; MORPHING</a:t>
            </a:r>
          </a:p>
        </p:txBody>
      </p:sp>
      <p:sp>
        <p:nvSpPr>
          <p:cNvPr id="50" name="Oval 49"/>
          <p:cNvSpPr/>
          <p:nvPr/>
        </p:nvSpPr>
        <p:spPr>
          <a:xfrm>
            <a:off x="1143000" y="1828800"/>
            <a:ext cx="292608" cy="292608"/>
          </a:xfrm>
          <a:prstGeom prst="ellipse">
            <a:avLst/>
          </a:prstGeom>
          <a:solidFill>
            <a:srgbClr val="00D7FF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357884" y="2139696"/>
            <a:ext cx="54864" cy="54864"/>
          </a:xfrm>
          <a:prstGeom prst="rect">
            <a:avLst/>
          </a:prstGeom>
          <a:solidFill>
            <a:srgbClr val="69789E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90472" y="18653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D7FF"/>
                </a:solidFill>
              </a:rPr>
              <a:t>SHOULDER</a:t>
            </a:r>
          </a:p>
        </p:txBody>
      </p:sp>
      <p:sp>
        <p:nvSpPr>
          <p:cNvPr id="53" name="Oval 52"/>
          <p:cNvSpPr/>
          <p:nvPr/>
        </p:nvSpPr>
        <p:spPr>
          <a:xfrm>
            <a:off x="1572768" y="2450592"/>
            <a:ext cx="292608" cy="292608"/>
          </a:xfrm>
          <a:prstGeom prst="ellipse">
            <a:avLst/>
          </a:prstGeom>
          <a:solidFill>
            <a:srgbClr val="007C93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783080" y="2756916"/>
            <a:ext cx="54864" cy="54864"/>
          </a:xfrm>
          <a:prstGeom prst="rect">
            <a:avLst/>
          </a:prstGeom>
          <a:solidFill>
            <a:srgbClr val="69789E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920240" y="2487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D7FF"/>
                </a:solidFill>
              </a:rPr>
              <a:t>ELBOW</a:t>
            </a:r>
          </a:p>
        </p:txBody>
      </p:sp>
      <p:sp>
        <p:nvSpPr>
          <p:cNvPr id="56" name="Oval 55"/>
          <p:cNvSpPr/>
          <p:nvPr/>
        </p:nvSpPr>
        <p:spPr>
          <a:xfrm>
            <a:off x="1993392" y="3063240"/>
            <a:ext cx="292608" cy="292608"/>
          </a:xfrm>
          <a:prstGeom prst="ellipse">
            <a:avLst/>
          </a:prstGeom>
          <a:solidFill>
            <a:srgbClr val="00A3C1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162556" y="3360420"/>
            <a:ext cx="54864" cy="54864"/>
          </a:xfrm>
          <a:prstGeom prst="rect">
            <a:avLst/>
          </a:prstGeom>
          <a:solidFill>
            <a:srgbClr val="69789E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40864" y="309981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D7FF"/>
                </a:solidFill>
              </a:rPr>
              <a:t>WRIST</a:t>
            </a:r>
          </a:p>
        </p:txBody>
      </p:sp>
      <p:sp>
        <p:nvSpPr>
          <p:cNvPr id="59" name="Oval 58"/>
          <p:cNvSpPr/>
          <p:nvPr/>
        </p:nvSpPr>
        <p:spPr>
          <a:xfrm>
            <a:off x="2331720" y="3657600"/>
            <a:ext cx="292608" cy="292608"/>
          </a:xfrm>
          <a:prstGeom prst="ellipse">
            <a:avLst/>
          </a:prstGeom>
          <a:solidFill>
            <a:srgbClr val="00CAEF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79192" y="36941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D7FF"/>
                </a:solidFill>
              </a:rPr>
              <a:t>FINGER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40690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9789E"/>
                </a:solidFill>
              </a:rPr>
              <a:t>FK: Parent → Child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2608" y="1261872"/>
            <a:ext cx="3913632" cy="548640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92608" y="1261872"/>
            <a:ext cx="3913632" cy="621792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677A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92608" y="1261872"/>
            <a:ext cx="182880" cy="5486400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4B59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6928" y="1335024"/>
            <a:ext cx="3547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0412"/>
                </a:solidFill>
              </a:rPr>
              <a:t>FORWARD KINEMATICS (FK)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1975104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EEE"/>
                </a:solidFill>
              </a:rPr>
              <a:t>Animating from PARENT → CHILD joint
HOW IT WORKS:
  Move SHOULDER →
  Elbow follows automatically →
  Wrist follows →
  Finger follows
ANALOGY: A puppet — control
the parent; all children follow.
BEST FOR:
  Mechanical/robotic arms
  Waving &amp; swinging motions
  Tail &amp; tentacle animation
  Flag ripples in wind
Tools: Maya rigs, Blender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61688" y="1261872"/>
            <a:ext cx="3913632" cy="548640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361688" y="1261872"/>
            <a:ext cx="3913632" cy="621792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7A47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61688" y="1261872"/>
            <a:ext cx="182880" cy="5486400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593300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36008" y="1335024"/>
            <a:ext cx="3547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0412"/>
                </a:solidFill>
              </a:rPr>
              <a:t>INVERSE KINEMATICS (IK)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17720" y="1975104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EEE"/>
                </a:solidFill>
              </a:rPr>
              <a:t>Move END POINT; chain auto-adjusts
HOW IT WORKS:
  Move HAND position →
  Software calculates elbow →
  And shoulder automatically
ANALOGY: Reaching for a cup —
you aim the hand; your body
figures out the joints itself.
BEST FOR:
  Character walking &amp; running
  Reaching &amp; grabbing actions
  Real-time game characters
  Interactive VR animation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430768" y="1261872"/>
            <a:ext cx="3913632" cy="548640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430768" y="1261872"/>
            <a:ext cx="3913632" cy="621792"/>
          </a:xfrm>
          <a:prstGeom prst="rect">
            <a:avLst/>
          </a:prstGeom>
          <a:ln>
            <a:solidFill>
              <a:srgbClr val="9B50E1"/>
            </a:solidFill>
          </a:ln>
          <a:gradFill>
            <a:gsLst>
              <a:gs pos="0">
                <a:srgbClr val="9B50E1"/>
              </a:gs>
              <a:gs pos="100000">
                <a:srgbClr val="4A266C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430768" y="1261872"/>
            <a:ext cx="182880" cy="5486400"/>
          </a:xfrm>
          <a:prstGeom prst="rect">
            <a:avLst/>
          </a:prstGeom>
          <a:ln>
            <a:solidFill>
              <a:srgbClr val="9B50E1"/>
            </a:solidFill>
          </a:ln>
          <a:gradFill>
            <a:gsLst>
              <a:gs pos="0">
                <a:srgbClr val="9B50E1"/>
              </a:gs>
              <a:gs pos="100000">
                <a:srgbClr val="361C4E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05088" y="1335024"/>
            <a:ext cx="3547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0412"/>
                </a:solidFill>
              </a:rPr>
              <a:t>MORPHING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86800" y="1975104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EEE"/>
                </a:solidFill>
              </a:rPr>
              <a:t>Smooth shape/image transformation
HOW IT WORKS:
  Map points on source image
  Map matching points on target
  Interpolate all points together
  Creates seamless in-betweens
TYPES:
  2D: image-to-image morph
  3D: mesh deformation morph
  Shape: vector path morphing
FAMOUS EXAMPLES:
  MJ 'Black or White' (1991)
  T-1000 — Terminator 2
  Logo reveal animations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7071C"/>
          </a:solidFill>
          <a:ln>
            <a:solidFill>
              <a:srgbClr val="070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07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1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55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29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04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78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52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27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01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75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50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24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98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73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47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218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961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704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447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190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934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67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242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16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90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65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39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13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887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62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36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10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85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59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33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808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082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56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31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905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274320"/>
            <a:ext cx="12188952" cy="960120"/>
          </a:xfrm>
          <a:prstGeom prst="rect">
            <a:avLst/>
          </a:prstGeom>
          <a:ln>
            <a:solidFill>
              <a:srgbClr val="FFD700"/>
            </a:solidFill>
          </a:ln>
          <a:gradFill>
            <a:gsLst>
              <a:gs pos="0">
                <a:srgbClr val="FFD700"/>
              </a:gs>
              <a:gs pos="100000">
                <a:srgbClr val="6B5A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0" y="-73152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200" b="1" i="0">
                <a:solidFill>
                  <a:srgbClr val="4C4000"/>
                </a:solidFill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329184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LEVELS OF COMPUTER ANIMATION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1261872"/>
            <a:ext cx="3858768" cy="384048"/>
          </a:xfrm>
          <a:prstGeom prst="rect">
            <a:avLst/>
          </a:prstGeom>
          <a:ln>
            <a:solidFill>
              <a:srgbClr val="00353F"/>
            </a:solidFill>
          </a:ln>
          <a:gradFill>
            <a:gsLst>
              <a:gs pos="0">
                <a:srgbClr val="00353F"/>
              </a:gs>
              <a:gs pos="100000">
                <a:srgbClr val="00516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1261872"/>
            <a:ext cx="3858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D7FF"/>
                </a:solidFill>
              </a:rPr>
              <a:t>★☆☆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97679" y="1261872"/>
            <a:ext cx="3858768" cy="384048"/>
          </a:xfrm>
          <a:prstGeom prst="rect">
            <a:avLst/>
          </a:prstGeom>
          <a:ln>
            <a:solidFill>
              <a:srgbClr val="3F2500"/>
            </a:solidFill>
          </a:ln>
          <a:gradFill>
            <a:gsLst>
              <a:gs pos="0">
                <a:srgbClr val="3F2500"/>
              </a:gs>
              <a:gs pos="100000">
                <a:srgbClr val="6038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97679" y="1261872"/>
            <a:ext cx="3858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9400"/>
                </a:solidFill>
              </a:rPr>
              <a:t>★★☆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75318" y="1261872"/>
            <a:ext cx="3858768" cy="384048"/>
          </a:xfrm>
          <a:prstGeom prst="rect">
            <a:avLst/>
          </a:prstGeom>
          <a:ln>
            <a:solidFill>
              <a:srgbClr val="261438"/>
            </a:solidFill>
          </a:ln>
          <a:gradFill>
            <a:gsLst>
              <a:gs pos="0">
                <a:srgbClr val="261438"/>
              </a:gs>
              <a:gs pos="100000">
                <a:srgbClr val="3A1E55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75318" y="1261872"/>
            <a:ext cx="3858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9B50E1"/>
                </a:solidFill>
              </a:rPr>
              <a:t>★★★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2608" y="1691640"/>
            <a:ext cx="3913632" cy="548640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92608" y="1691640"/>
            <a:ext cx="3913632" cy="621792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677A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92608" y="1691640"/>
            <a:ext cx="182880" cy="5486400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4B59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8" y="1764792"/>
            <a:ext cx="3547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0412"/>
                </a:solidFill>
              </a:rPr>
              <a:t>BASIC  ★☆☆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2404872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EEE"/>
                </a:solidFill>
              </a:rPr>
              <a:t>Entry-level animation tools
WHAT YOU CREATE:
  • Animated GIFs
  • CSS / JS transitions
  • PowerPoint animations
  • Simple 2D sprites
  • Basic logo animations
TOOLS:
  MS PowerPoint, Canva,
  GIMP, basic CSS/JS
SKILL: Beginner
TIME TO LEARN: Days to weeks
CAREER: Social media content,
marketing materials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61688" y="1691640"/>
            <a:ext cx="3913632" cy="548640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61688" y="1691640"/>
            <a:ext cx="3913632" cy="621792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7A47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361688" y="1691640"/>
            <a:ext cx="182880" cy="5486400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593300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36008" y="1764792"/>
            <a:ext cx="3547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0412"/>
                </a:solidFill>
              </a:rPr>
              <a:t>INTERMEDIATE  ★★☆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17720" y="2404872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EEE"/>
                </a:solidFill>
              </a:rPr>
              <a:t>Deeper control over animation
WHAT YOU CREATE:
  • 2D character animation
  • Motion graphics
  • Complex path animations
  • Basic 3D object animation
  • Game character movement
TOOLS:
  Adobe After Effects,
  Adobe Animate,
  Blender (basics), Spine
SKILL: Intermediate
TIME TO LEARN: Months
CAREER: Motion designer,
2D animator, game developer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30768" y="1691640"/>
            <a:ext cx="3913632" cy="548640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30768" y="1691640"/>
            <a:ext cx="3913632" cy="621792"/>
          </a:xfrm>
          <a:prstGeom prst="rect">
            <a:avLst/>
          </a:prstGeom>
          <a:ln>
            <a:solidFill>
              <a:srgbClr val="9B50E1"/>
            </a:solidFill>
          </a:ln>
          <a:gradFill>
            <a:gsLst>
              <a:gs pos="0">
                <a:srgbClr val="9B50E1"/>
              </a:gs>
              <a:gs pos="100000">
                <a:srgbClr val="4A266C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430768" y="1691640"/>
            <a:ext cx="182880" cy="5486400"/>
          </a:xfrm>
          <a:prstGeom prst="rect">
            <a:avLst/>
          </a:prstGeom>
          <a:ln>
            <a:solidFill>
              <a:srgbClr val="9B50E1"/>
            </a:solidFill>
          </a:ln>
          <a:gradFill>
            <a:gsLst>
              <a:gs pos="0">
                <a:srgbClr val="9B50E1"/>
              </a:gs>
              <a:gs pos="100000">
                <a:srgbClr val="361C4E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705088" y="1764792"/>
            <a:ext cx="3547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0412"/>
                </a:solidFill>
              </a:rPr>
              <a:t>ADVANCED  ★★★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0" y="2404872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EEE"/>
                </a:solidFill>
              </a:rPr>
              <a:t>Studio-level production quality
WHAT YOU CREATE:
  • Full CG feature films
  • Realistic physics simulations
  • Procedural animation
  • Motion capture integration
  • Real-time VFX in games
  • AI-assisted animation
TOOLS:
  Autodesk Maya, Houdini,
  Unreal Engine, Cinema 4D
SKILL: Professional
TIME TO LEARN: Years
CAREER: VFX artist, 3D animator,
technical director, TD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7071C"/>
          </a:solidFill>
          <a:ln>
            <a:solidFill>
              <a:srgbClr val="070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07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1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55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29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04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78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52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27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01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75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50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24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98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73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47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218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961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704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447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190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934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67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242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16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90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65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39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13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887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62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36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10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85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59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33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808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082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56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31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905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274320"/>
            <a:ext cx="12188952" cy="960120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5A6B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0" y="-73152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200" b="1" i="0">
                <a:solidFill>
                  <a:srgbClr val="00404C"/>
                </a:solidFill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329184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12 BASIC PRINCIPLES OF ANIMATION  •  Part 1 of 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1261872"/>
            <a:ext cx="11548872" cy="658368"/>
          </a:xfrm>
          <a:prstGeom prst="rect">
            <a:avLst/>
          </a:prstGeom>
          <a:ln>
            <a:solidFill>
              <a:srgbClr val="00333D"/>
            </a:solidFill>
          </a:ln>
          <a:gradFill>
            <a:gsLst>
              <a:gs pos="0">
                <a:srgbClr val="00333D"/>
              </a:gs>
              <a:gs pos="100000">
                <a:srgbClr val="00516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" y="1261872"/>
            <a:ext cx="182880" cy="658368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4B59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3504" y="13258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C0CEEE"/>
                </a:solidFill>
              </a:rPr>
              <a:t>Developed by Disney masters Ollie Johnston &amp; Frank Thomas (The Illusion of Life, 1981). Still the universal GOLD STANDARD — used by every professional animator on Earth.</a:t>
            </a:r>
          </a:p>
        </p:txBody>
      </p:sp>
      <p:sp>
        <p:nvSpPr>
          <p:cNvPr id="53" name="Oval 52"/>
          <p:cNvSpPr/>
          <p:nvPr/>
        </p:nvSpPr>
        <p:spPr>
          <a:xfrm>
            <a:off x="320040" y="1865376"/>
            <a:ext cx="457200" cy="457200"/>
          </a:xfrm>
          <a:prstGeom prst="ellipse">
            <a:avLst/>
          </a:prstGeom>
          <a:solidFill>
            <a:srgbClr val="006B7F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7FF"/>
                </a:solidFill>
              </a:rPr>
              <a:t>1</a:t>
            </a:r>
          </a:p>
        </p:txBody>
      </p:sp>
      <p:sp>
        <p:nvSpPr>
          <p:cNvPr id="55" name="Oval 54"/>
          <p:cNvSpPr/>
          <p:nvPr/>
        </p:nvSpPr>
        <p:spPr>
          <a:xfrm>
            <a:off x="1216152" y="1865376"/>
            <a:ext cx="457200" cy="457200"/>
          </a:xfrm>
          <a:prstGeom prst="ellipse">
            <a:avLst/>
          </a:prstGeom>
          <a:solidFill>
            <a:srgbClr val="006B7F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16152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7FF"/>
                </a:solidFill>
              </a:rPr>
              <a:t>2</a:t>
            </a:r>
          </a:p>
        </p:txBody>
      </p:sp>
      <p:sp>
        <p:nvSpPr>
          <p:cNvPr id="57" name="Oval 56"/>
          <p:cNvSpPr/>
          <p:nvPr/>
        </p:nvSpPr>
        <p:spPr>
          <a:xfrm>
            <a:off x="2112264" y="1865376"/>
            <a:ext cx="457200" cy="457200"/>
          </a:xfrm>
          <a:prstGeom prst="ellipse">
            <a:avLst/>
          </a:prstGeom>
          <a:solidFill>
            <a:srgbClr val="006B7F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12264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7FF"/>
                </a:solidFill>
              </a:rPr>
              <a:t>3</a:t>
            </a:r>
          </a:p>
        </p:txBody>
      </p:sp>
      <p:sp>
        <p:nvSpPr>
          <p:cNvPr id="59" name="Oval 58"/>
          <p:cNvSpPr/>
          <p:nvPr/>
        </p:nvSpPr>
        <p:spPr>
          <a:xfrm>
            <a:off x="3008376" y="1865376"/>
            <a:ext cx="457200" cy="457200"/>
          </a:xfrm>
          <a:prstGeom prst="ellipse">
            <a:avLst/>
          </a:prstGeom>
          <a:solidFill>
            <a:srgbClr val="006B7F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08376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7FF"/>
                </a:solidFill>
              </a:rPr>
              <a:t>4</a:t>
            </a:r>
          </a:p>
        </p:txBody>
      </p:sp>
      <p:sp>
        <p:nvSpPr>
          <p:cNvPr id="61" name="Oval 60"/>
          <p:cNvSpPr/>
          <p:nvPr/>
        </p:nvSpPr>
        <p:spPr>
          <a:xfrm>
            <a:off x="3904488" y="1865376"/>
            <a:ext cx="457200" cy="457200"/>
          </a:xfrm>
          <a:prstGeom prst="ellipse">
            <a:avLst/>
          </a:prstGeom>
          <a:solidFill>
            <a:srgbClr val="1F242F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04488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789E"/>
                </a:solidFill>
              </a:rPr>
              <a:t>5</a:t>
            </a:r>
          </a:p>
        </p:txBody>
      </p:sp>
      <p:sp>
        <p:nvSpPr>
          <p:cNvPr id="63" name="Oval 62"/>
          <p:cNvSpPr/>
          <p:nvPr/>
        </p:nvSpPr>
        <p:spPr>
          <a:xfrm>
            <a:off x="4800600" y="1865376"/>
            <a:ext cx="457200" cy="457200"/>
          </a:xfrm>
          <a:prstGeom prst="ellipse">
            <a:avLst/>
          </a:prstGeom>
          <a:solidFill>
            <a:srgbClr val="1F242F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00600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789E"/>
                </a:solidFill>
              </a:rPr>
              <a:t>6</a:t>
            </a:r>
          </a:p>
        </p:txBody>
      </p:sp>
      <p:sp>
        <p:nvSpPr>
          <p:cNvPr id="65" name="Oval 64"/>
          <p:cNvSpPr/>
          <p:nvPr/>
        </p:nvSpPr>
        <p:spPr>
          <a:xfrm>
            <a:off x="5696712" y="1865376"/>
            <a:ext cx="457200" cy="457200"/>
          </a:xfrm>
          <a:prstGeom prst="ellipse">
            <a:avLst/>
          </a:prstGeom>
          <a:solidFill>
            <a:srgbClr val="1F242F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96712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789E"/>
                </a:solidFill>
              </a:rPr>
              <a:t>7</a:t>
            </a:r>
          </a:p>
        </p:txBody>
      </p:sp>
      <p:sp>
        <p:nvSpPr>
          <p:cNvPr id="67" name="Oval 66"/>
          <p:cNvSpPr/>
          <p:nvPr/>
        </p:nvSpPr>
        <p:spPr>
          <a:xfrm>
            <a:off x="6592824" y="1865376"/>
            <a:ext cx="457200" cy="457200"/>
          </a:xfrm>
          <a:prstGeom prst="ellipse">
            <a:avLst/>
          </a:prstGeom>
          <a:solidFill>
            <a:srgbClr val="1F242F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92824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789E"/>
                </a:solidFill>
              </a:rPr>
              <a:t>8</a:t>
            </a:r>
          </a:p>
        </p:txBody>
      </p:sp>
      <p:sp>
        <p:nvSpPr>
          <p:cNvPr id="69" name="Oval 68"/>
          <p:cNvSpPr/>
          <p:nvPr/>
        </p:nvSpPr>
        <p:spPr>
          <a:xfrm>
            <a:off x="7488936" y="1865376"/>
            <a:ext cx="457200" cy="457200"/>
          </a:xfrm>
          <a:prstGeom prst="ellipse">
            <a:avLst/>
          </a:prstGeom>
          <a:solidFill>
            <a:srgbClr val="1F242F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88936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789E"/>
                </a:solidFill>
              </a:rPr>
              <a:t>9</a:t>
            </a:r>
          </a:p>
        </p:txBody>
      </p:sp>
      <p:sp>
        <p:nvSpPr>
          <p:cNvPr id="71" name="Oval 70"/>
          <p:cNvSpPr/>
          <p:nvPr/>
        </p:nvSpPr>
        <p:spPr>
          <a:xfrm>
            <a:off x="8385048" y="1865376"/>
            <a:ext cx="457200" cy="457200"/>
          </a:xfrm>
          <a:prstGeom prst="ellipse">
            <a:avLst/>
          </a:prstGeom>
          <a:solidFill>
            <a:srgbClr val="1F242F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85048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789E"/>
                </a:solidFill>
              </a:rPr>
              <a:t>10</a:t>
            </a:r>
          </a:p>
        </p:txBody>
      </p:sp>
      <p:sp>
        <p:nvSpPr>
          <p:cNvPr id="73" name="Oval 72"/>
          <p:cNvSpPr/>
          <p:nvPr/>
        </p:nvSpPr>
        <p:spPr>
          <a:xfrm>
            <a:off x="9281160" y="1865376"/>
            <a:ext cx="457200" cy="457200"/>
          </a:xfrm>
          <a:prstGeom prst="ellipse">
            <a:avLst/>
          </a:prstGeom>
          <a:solidFill>
            <a:srgbClr val="1F242F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81160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789E"/>
                </a:solidFill>
              </a:rPr>
              <a:t>11</a:t>
            </a:r>
          </a:p>
        </p:txBody>
      </p:sp>
      <p:sp>
        <p:nvSpPr>
          <p:cNvPr id="75" name="Oval 74"/>
          <p:cNvSpPr/>
          <p:nvPr/>
        </p:nvSpPr>
        <p:spPr>
          <a:xfrm>
            <a:off x="10177272" y="1865376"/>
            <a:ext cx="457200" cy="457200"/>
          </a:xfrm>
          <a:prstGeom prst="ellipse">
            <a:avLst/>
          </a:prstGeom>
          <a:solidFill>
            <a:srgbClr val="1F242F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177272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789E"/>
                </a:solidFill>
              </a:rPr>
              <a:t>12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2359152"/>
            <a:ext cx="5687568" cy="2633472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20040" y="2359152"/>
            <a:ext cx="5687568" cy="530352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677A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20040" y="2359152"/>
            <a:ext cx="182880" cy="2633472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4B59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57784" y="2487168"/>
            <a:ext cx="256032" cy="256032"/>
          </a:xfrm>
          <a:prstGeom prst="ellipse">
            <a:avLst/>
          </a:prstGeom>
          <a:solidFill>
            <a:srgbClr val="00D7FF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14400" y="2423160"/>
            <a:ext cx="5001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7FF"/>
                </a:solidFill>
              </a:rPr>
              <a:t>01  SQUASH &amp; STRETCH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76072" y="2926080"/>
            <a:ext cx="53400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Exaggerate deformation for weight &amp; life
• Object SQUASHES on impact
• Object STRETCHES when moving fast
• Golden rule: VOLUME stays constant!
• Shows elasticity, mass, and life
EXAMPLE:
A rubber ball bounce —
squash on landing,
stretch in the air.
Most fundamental principle
used in almost every shot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08192" y="2359152"/>
            <a:ext cx="5687568" cy="2633472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08192" y="2359152"/>
            <a:ext cx="5687568" cy="530352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7A47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108192" y="2359152"/>
            <a:ext cx="182880" cy="2633472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593300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45936" y="2487168"/>
            <a:ext cx="256032" cy="256032"/>
          </a:xfrm>
          <a:prstGeom prst="ellipse">
            <a:avLst/>
          </a:prstGeom>
          <a:solidFill>
            <a:srgbClr val="FF9400"/>
          </a:solidFill>
          <a:ln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702552" y="2423160"/>
            <a:ext cx="5001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400"/>
                </a:solidFill>
              </a:rPr>
              <a:t>02  ANTICIPATION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64224" y="2926080"/>
            <a:ext cx="53400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Small opposite action BEFORE main action
• Character crouches before jumping
• Arm swings back before throwing
• Boxer winds up before punching
• Prepares the audience mentally
EXAMPLE:
Bugs Bunny ducking low before
a massive comedic leap forward.
Without anticipation, actions
feel sudden and unconvincing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0040" y="5120640"/>
            <a:ext cx="5687568" cy="2633472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20040" y="5120640"/>
            <a:ext cx="5687568" cy="530352"/>
          </a:xfrm>
          <a:prstGeom prst="rect">
            <a:avLst/>
          </a:prstGeom>
          <a:ln>
            <a:solidFill>
              <a:srgbClr val="2EDC73"/>
            </a:solidFill>
          </a:ln>
          <a:gradFill>
            <a:gsLst>
              <a:gs pos="0">
                <a:srgbClr val="2EDC73"/>
              </a:gs>
              <a:gs pos="100000">
                <a:srgbClr val="166937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0040" y="5120640"/>
            <a:ext cx="182880" cy="2633472"/>
          </a:xfrm>
          <a:prstGeom prst="rect">
            <a:avLst/>
          </a:prstGeom>
          <a:ln>
            <a:solidFill>
              <a:srgbClr val="2EDC73"/>
            </a:solidFill>
          </a:ln>
          <a:gradFill>
            <a:gsLst>
              <a:gs pos="0">
                <a:srgbClr val="2EDC73"/>
              </a:gs>
              <a:gs pos="100000">
                <a:srgbClr val="104D28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57784" y="5248656"/>
            <a:ext cx="256032" cy="256032"/>
          </a:xfrm>
          <a:prstGeom prst="ellipse">
            <a:avLst/>
          </a:prstGeom>
          <a:solidFill>
            <a:srgbClr val="2EDC73"/>
          </a:solidFill>
          <a:ln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14400" y="5184648"/>
            <a:ext cx="5001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DC73"/>
                </a:solidFill>
              </a:rPr>
              <a:t>03  STAGING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76072" y="5687568"/>
            <a:ext cx="53400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Present ONE clear idea at a time
• Use clear, readable silhouettes
• Camera angle serves the story
• Avoid distracting backgrounds
• Direct the audience's eye
EXAMPLE:
Character in profile making a
dramatic gesture — instantly
readable from any distance.
Think: theater staging, not
crowded photography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08192" y="5120640"/>
            <a:ext cx="5687568" cy="2633472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108192" y="5120640"/>
            <a:ext cx="5687568" cy="530352"/>
          </a:xfrm>
          <a:prstGeom prst="rect">
            <a:avLst/>
          </a:prstGeom>
          <a:ln>
            <a:solidFill>
              <a:srgbClr val="9B50E1"/>
            </a:solidFill>
          </a:ln>
          <a:gradFill>
            <a:gsLst>
              <a:gs pos="0">
                <a:srgbClr val="9B50E1"/>
              </a:gs>
              <a:gs pos="100000">
                <a:srgbClr val="4A266C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108192" y="5120640"/>
            <a:ext cx="182880" cy="2633472"/>
          </a:xfrm>
          <a:prstGeom prst="rect">
            <a:avLst/>
          </a:prstGeom>
          <a:ln>
            <a:solidFill>
              <a:srgbClr val="9B50E1"/>
            </a:solidFill>
          </a:ln>
          <a:gradFill>
            <a:gsLst>
              <a:gs pos="0">
                <a:srgbClr val="9B50E1"/>
              </a:gs>
              <a:gs pos="100000">
                <a:srgbClr val="361C4E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345936" y="5248656"/>
            <a:ext cx="256032" cy="256032"/>
          </a:xfrm>
          <a:prstGeom prst="ellipse">
            <a:avLst/>
          </a:prstGeom>
          <a:solidFill>
            <a:srgbClr val="9B50E1"/>
          </a:solidFill>
          <a:ln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702552" y="5184648"/>
            <a:ext cx="5001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0E1"/>
                </a:solidFill>
              </a:rPr>
              <a:t>04  STRAIGHT AHEAD
&amp; POSE-TO-POSE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364224" y="5687568"/>
            <a:ext cx="53400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Two approaches to animation:
STRAIGHT AHEAD:
• Draw frame by frame start → end
• Spontaneous, fluid, surprising
• Great for fire, water, chaos
POSE-TO-POSE:
• Draw key poses first
• Fill in betweens after
• Controlled, planned, consistent
• Great for character acting
Best work combines BOTH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7071C"/>
          </a:solidFill>
          <a:ln>
            <a:solidFill>
              <a:srgbClr val="070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07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1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55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29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04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78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52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27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01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75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50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24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98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73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47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218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961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704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447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190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934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67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242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16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90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65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39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13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887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62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36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10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85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59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33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808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082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56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31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905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274320"/>
            <a:ext cx="12188952" cy="960120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6B3E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0" y="-73152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200" b="1" i="0">
                <a:solidFill>
                  <a:srgbClr val="4C2C00"/>
                </a:solidFill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329184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12 BASIC PRINCIPLES OF ANIMATION  •  Part 2 of 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1261872"/>
            <a:ext cx="11548872" cy="658368"/>
          </a:xfrm>
          <a:prstGeom prst="rect">
            <a:avLst/>
          </a:prstGeom>
          <a:ln>
            <a:solidFill>
              <a:srgbClr val="3D2300"/>
            </a:solidFill>
          </a:ln>
          <a:gradFill>
            <a:gsLst>
              <a:gs pos="0">
                <a:srgbClr val="3D2300"/>
              </a:gs>
              <a:gs pos="100000">
                <a:srgbClr val="6038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" y="1261872"/>
            <a:ext cx="182880" cy="658368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593300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3504" y="13258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C0CEEE"/>
                </a:solidFill>
              </a:rPr>
              <a:t>These principles govern how objects move AFTER the main action — the details that separate amateur animation from professional studio work.</a:t>
            </a:r>
          </a:p>
        </p:txBody>
      </p:sp>
      <p:sp>
        <p:nvSpPr>
          <p:cNvPr id="53" name="Oval 52"/>
          <p:cNvSpPr/>
          <p:nvPr/>
        </p:nvSpPr>
        <p:spPr>
          <a:xfrm>
            <a:off x="320040" y="1865376"/>
            <a:ext cx="457200" cy="457200"/>
          </a:xfrm>
          <a:prstGeom prst="ellipse">
            <a:avLst/>
          </a:prstGeom>
          <a:solidFill>
            <a:srgbClr val="1F242F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789E"/>
                </a:solidFill>
              </a:rPr>
              <a:t>1</a:t>
            </a:r>
          </a:p>
        </p:txBody>
      </p:sp>
      <p:sp>
        <p:nvSpPr>
          <p:cNvPr id="55" name="Oval 54"/>
          <p:cNvSpPr/>
          <p:nvPr/>
        </p:nvSpPr>
        <p:spPr>
          <a:xfrm>
            <a:off x="1216152" y="1865376"/>
            <a:ext cx="457200" cy="457200"/>
          </a:xfrm>
          <a:prstGeom prst="ellipse">
            <a:avLst/>
          </a:prstGeom>
          <a:solidFill>
            <a:srgbClr val="1F242F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16152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789E"/>
                </a:solidFill>
              </a:rPr>
              <a:t>2</a:t>
            </a:r>
          </a:p>
        </p:txBody>
      </p:sp>
      <p:sp>
        <p:nvSpPr>
          <p:cNvPr id="57" name="Oval 56"/>
          <p:cNvSpPr/>
          <p:nvPr/>
        </p:nvSpPr>
        <p:spPr>
          <a:xfrm>
            <a:off x="2112264" y="1865376"/>
            <a:ext cx="457200" cy="457200"/>
          </a:xfrm>
          <a:prstGeom prst="ellipse">
            <a:avLst/>
          </a:prstGeom>
          <a:solidFill>
            <a:srgbClr val="1F242F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12264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789E"/>
                </a:solidFill>
              </a:rPr>
              <a:t>3</a:t>
            </a:r>
          </a:p>
        </p:txBody>
      </p:sp>
      <p:sp>
        <p:nvSpPr>
          <p:cNvPr id="59" name="Oval 58"/>
          <p:cNvSpPr/>
          <p:nvPr/>
        </p:nvSpPr>
        <p:spPr>
          <a:xfrm>
            <a:off x="3008376" y="1865376"/>
            <a:ext cx="457200" cy="457200"/>
          </a:xfrm>
          <a:prstGeom prst="ellipse">
            <a:avLst/>
          </a:prstGeom>
          <a:solidFill>
            <a:srgbClr val="1F242F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08376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789E"/>
                </a:solidFill>
              </a:rPr>
              <a:t>4</a:t>
            </a:r>
          </a:p>
        </p:txBody>
      </p:sp>
      <p:sp>
        <p:nvSpPr>
          <p:cNvPr id="61" name="Oval 60"/>
          <p:cNvSpPr/>
          <p:nvPr/>
        </p:nvSpPr>
        <p:spPr>
          <a:xfrm>
            <a:off x="3904488" y="1865376"/>
            <a:ext cx="457200" cy="457200"/>
          </a:xfrm>
          <a:prstGeom prst="ellipse">
            <a:avLst/>
          </a:prstGeom>
          <a:solidFill>
            <a:srgbClr val="7F4A00"/>
          </a:solidFill>
          <a:ln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04488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9400"/>
                </a:solidFill>
              </a:rPr>
              <a:t>5</a:t>
            </a:r>
          </a:p>
        </p:txBody>
      </p:sp>
      <p:sp>
        <p:nvSpPr>
          <p:cNvPr id="63" name="Oval 62"/>
          <p:cNvSpPr/>
          <p:nvPr/>
        </p:nvSpPr>
        <p:spPr>
          <a:xfrm>
            <a:off x="4800600" y="1865376"/>
            <a:ext cx="457200" cy="457200"/>
          </a:xfrm>
          <a:prstGeom prst="ellipse">
            <a:avLst/>
          </a:prstGeom>
          <a:solidFill>
            <a:srgbClr val="7F4A00"/>
          </a:solidFill>
          <a:ln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00600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9400"/>
                </a:solidFill>
              </a:rPr>
              <a:t>6</a:t>
            </a:r>
          </a:p>
        </p:txBody>
      </p:sp>
      <p:sp>
        <p:nvSpPr>
          <p:cNvPr id="65" name="Oval 64"/>
          <p:cNvSpPr/>
          <p:nvPr/>
        </p:nvSpPr>
        <p:spPr>
          <a:xfrm>
            <a:off x="5696712" y="1865376"/>
            <a:ext cx="457200" cy="457200"/>
          </a:xfrm>
          <a:prstGeom prst="ellipse">
            <a:avLst/>
          </a:prstGeom>
          <a:solidFill>
            <a:srgbClr val="7F4A00"/>
          </a:solidFill>
          <a:ln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96712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9400"/>
                </a:solidFill>
              </a:rPr>
              <a:t>7</a:t>
            </a:r>
          </a:p>
        </p:txBody>
      </p:sp>
      <p:sp>
        <p:nvSpPr>
          <p:cNvPr id="67" name="Oval 66"/>
          <p:cNvSpPr/>
          <p:nvPr/>
        </p:nvSpPr>
        <p:spPr>
          <a:xfrm>
            <a:off x="6592824" y="1865376"/>
            <a:ext cx="457200" cy="457200"/>
          </a:xfrm>
          <a:prstGeom prst="ellipse">
            <a:avLst/>
          </a:prstGeom>
          <a:solidFill>
            <a:srgbClr val="7F4A00"/>
          </a:solidFill>
          <a:ln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92824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9400"/>
                </a:solidFill>
              </a:rPr>
              <a:t>8</a:t>
            </a:r>
          </a:p>
        </p:txBody>
      </p:sp>
      <p:sp>
        <p:nvSpPr>
          <p:cNvPr id="69" name="Oval 68"/>
          <p:cNvSpPr/>
          <p:nvPr/>
        </p:nvSpPr>
        <p:spPr>
          <a:xfrm>
            <a:off x="7488936" y="1865376"/>
            <a:ext cx="457200" cy="457200"/>
          </a:xfrm>
          <a:prstGeom prst="ellipse">
            <a:avLst/>
          </a:prstGeom>
          <a:solidFill>
            <a:srgbClr val="1F242F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88936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789E"/>
                </a:solidFill>
              </a:rPr>
              <a:t>9</a:t>
            </a:r>
          </a:p>
        </p:txBody>
      </p:sp>
      <p:sp>
        <p:nvSpPr>
          <p:cNvPr id="71" name="Oval 70"/>
          <p:cNvSpPr/>
          <p:nvPr/>
        </p:nvSpPr>
        <p:spPr>
          <a:xfrm>
            <a:off x="8385048" y="1865376"/>
            <a:ext cx="457200" cy="457200"/>
          </a:xfrm>
          <a:prstGeom prst="ellipse">
            <a:avLst/>
          </a:prstGeom>
          <a:solidFill>
            <a:srgbClr val="1F242F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85048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789E"/>
                </a:solidFill>
              </a:rPr>
              <a:t>10</a:t>
            </a:r>
          </a:p>
        </p:txBody>
      </p:sp>
      <p:sp>
        <p:nvSpPr>
          <p:cNvPr id="73" name="Oval 72"/>
          <p:cNvSpPr/>
          <p:nvPr/>
        </p:nvSpPr>
        <p:spPr>
          <a:xfrm>
            <a:off x="9281160" y="1865376"/>
            <a:ext cx="457200" cy="457200"/>
          </a:xfrm>
          <a:prstGeom prst="ellipse">
            <a:avLst/>
          </a:prstGeom>
          <a:solidFill>
            <a:srgbClr val="1F242F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81160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789E"/>
                </a:solidFill>
              </a:rPr>
              <a:t>11</a:t>
            </a:r>
          </a:p>
        </p:txBody>
      </p:sp>
      <p:sp>
        <p:nvSpPr>
          <p:cNvPr id="75" name="Oval 74"/>
          <p:cNvSpPr/>
          <p:nvPr/>
        </p:nvSpPr>
        <p:spPr>
          <a:xfrm>
            <a:off x="10177272" y="1865376"/>
            <a:ext cx="457200" cy="457200"/>
          </a:xfrm>
          <a:prstGeom prst="ellipse">
            <a:avLst/>
          </a:prstGeom>
          <a:solidFill>
            <a:srgbClr val="1F242F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177272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789E"/>
                </a:solidFill>
              </a:rPr>
              <a:t>12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2359152"/>
            <a:ext cx="5687568" cy="2633472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20040" y="2359152"/>
            <a:ext cx="5687568" cy="530352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677A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20040" y="2359152"/>
            <a:ext cx="182880" cy="2633472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4B59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57784" y="2487168"/>
            <a:ext cx="256032" cy="256032"/>
          </a:xfrm>
          <a:prstGeom prst="ellipse">
            <a:avLst/>
          </a:prstGeom>
          <a:solidFill>
            <a:srgbClr val="00D7FF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14400" y="2423160"/>
            <a:ext cx="5001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7FF"/>
                </a:solidFill>
              </a:rPr>
              <a:t>05  FOLLOW THROUGH
&amp; OVERLAPPING ACTION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76072" y="2926080"/>
            <a:ext cx="53400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FOLLOW THROUGH:
Parts keep moving after
main action stops.
• Hair swings after head stops
• Coat settles after character stops
OVERLAPPING ACTION:
Different parts move at
different rates and with delay.
• Arms lag behind the torso
• Secondary elements trail
Makes motion feel ORGANIC
and physically believable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08192" y="2359152"/>
            <a:ext cx="5687568" cy="2633472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08192" y="2359152"/>
            <a:ext cx="5687568" cy="530352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7A47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108192" y="2359152"/>
            <a:ext cx="182880" cy="2633472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593300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45936" y="2487168"/>
            <a:ext cx="256032" cy="256032"/>
          </a:xfrm>
          <a:prstGeom prst="ellipse">
            <a:avLst/>
          </a:prstGeom>
          <a:solidFill>
            <a:srgbClr val="FF9400"/>
          </a:solidFill>
          <a:ln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702552" y="2423160"/>
            <a:ext cx="5001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400"/>
                </a:solidFill>
              </a:rPr>
              <a:t>06  EASE IN &amp; EASE OUT
(Slow In / Slow Out)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64224" y="2926080"/>
            <a:ext cx="53400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Acceleration at start, deceleration
at end of every movement.
• Nothing in nature starts at full
  speed or stops instantly
• A car: slow → full speed → brake
• Gives physical weight &amp; real feel
In software:
  Bezier easing curves
  Linear = robotic / artificial
  Ease = natural / believable
Most impactful principle
for 'weight' and feel in motion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0040" y="5120640"/>
            <a:ext cx="5687568" cy="2633472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20040" y="5120640"/>
            <a:ext cx="5687568" cy="530352"/>
          </a:xfrm>
          <a:prstGeom prst="rect">
            <a:avLst/>
          </a:prstGeom>
          <a:ln>
            <a:solidFill>
              <a:srgbClr val="2EDC73"/>
            </a:solidFill>
          </a:ln>
          <a:gradFill>
            <a:gsLst>
              <a:gs pos="0">
                <a:srgbClr val="2EDC73"/>
              </a:gs>
              <a:gs pos="100000">
                <a:srgbClr val="166937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0040" y="5120640"/>
            <a:ext cx="182880" cy="2633472"/>
          </a:xfrm>
          <a:prstGeom prst="rect">
            <a:avLst/>
          </a:prstGeom>
          <a:ln>
            <a:solidFill>
              <a:srgbClr val="2EDC73"/>
            </a:solidFill>
          </a:ln>
          <a:gradFill>
            <a:gsLst>
              <a:gs pos="0">
                <a:srgbClr val="2EDC73"/>
              </a:gs>
              <a:gs pos="100000">
                <a:srgbClr val="104D28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57784" y="5248656"/>
            <a:ext cx="256032" cy="256032"/>
          </a:xfrm>
          <a:prstGeom prst="ellipse">
            <a:avLst/>
          </a:prstGeom>
          <a:solidFill>
            <a:srgbClr val="2EDC73"/>
          </a:solidFill>
          <a:ln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14400" y="5184648"/>
            <a:ext cx="5001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DC73"/>
                </a:solidFill>
              </a:rPr>
              <a:t>07  ARCS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76072" y="5687568"/>
            <a:ext cx="53400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Natural motion follows ARC paths,
not straight lines.
• Arms swing in arcs
• Heads nod in arcs
• Thrown objects: parabola
• Even eyes dart in arcs
• Running legs follow arcs
EXCEPTION:
Mechanical/robot movement is
intentionally straight — use
linear paths for machines.
Breaking arcs = instant 'robot'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08192" y="5120640"/>
            <a:ext cx="5687568" cy="2633472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108192" y="5120640"/>
            <a:ext cx="5687568" cy="530352"/>
          </a:xfrm>
          <a:prstGeom prst="rect">
            <a:avLst/>
          </a:prstGeom>
          <a:ln>
            <a:solidFill>
              <a:srgbClr val="9B50E1"/>
            </a:solidFill>
          </a:ln>
          <a:gradFill>
            <a:gsLst>
              <a:gs pos="0">
                <a:srgbClr val="9B50E1"/>
              </a:gs>
              <a:gs pos="100000">
                <a:srgbClr val="4A266C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108192" y="5120640"/>
            <a:ext cx="182880" cy="2633472"/>
          </a:xfrm>
          <a:prstGeom prst="rect">
            <a:avLst/>
          </a:prstGeom>
          <a:ln>
            <a:solidFill>
              <a:srgbClr val="9B50E1"/>
            </a:solidFill>
          </a:ln>
          <a:gradFill>
            <a:gsLst>
              <a:gs pos="0">
                <a:srgbClr val="9B50E1"/>
              </a:gs>
              <a:gs pos="100000">
                <a:srgbClr val="361C4E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345936" y="5248656"/>
            <a:ext cx="256032" cy="256032"/>
          </a:xfrm>
          <a:prstGeom prst="ellipse">
            <a:avLst/>
          </a:prstGeom>
          <a:solidFill>
            <a:srgbClr val="9B50E1"/>
          </a:solidFill>
          <a:ln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702552" y="5184648"/>
            <a:ext cx="5001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0E1"/>
                </a:solidFill>
              </a:rPr>
              <a:t>08  SECONDARY ACTION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364224" y="5687568"/>
            <a:ext cx="53400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Supporting actions that ENRICH
the primary movement.
EXAMPLES:
  Walking (main) + arms swing
  Running (main) + hair flows
  Talking (main) + eyebrow moves
CRITICAL RULE:
Secondary must NEVER overpower
the main action — it supports,
it does not steal focus.
Adds richness and believability
to every scene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7071C"/>
          </a:solidFill>
          <a:ln>
            <a:solidFill>
              <a:srgbClr val="070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07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1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55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29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04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78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52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27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01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75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50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24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98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73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47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218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961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704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447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190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934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67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242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16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90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65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39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13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887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62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36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10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85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59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33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808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082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56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31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905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274320"/>
            <a:ext cx="12188952" cy="960120"/>
          </a:xfrm>
          <a:prstGeom prst="rect">
            <a:avLst/>
          </a:prstGeom>
          <a:ln>
            <a:solidFill>
              <a:srgbClr val="9B50E1"/>
            </a:solidFill>
          </a:ln>
          <a:gradFill>
            <a:gsLst>
              <a:gs pos="0">
                <a:srgbClr val="9B50E1"/>
              </a:gs>
              <a:gs pos="100000">
                <a:srgbClr val="41215E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0" y="-73152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200" b="1" i="0">
                <a:solidFill>
                  <a:srgbClr val="2E1843"/>
                </a:solidFill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329184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12 BASIC PRINCIPLES OF ANIMATION  •  Part 3 of 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1261872"/>
            <a:ext cx="11548872" cy="658368"/>
          </a:xfrm>
          <a:prstGeom prst="rect">
            <a:avLst/>
          </a:prstGeom>
          <a:ln>
            <a:solidFill>
              <a:srgbClr val="251336"/>
            </a:solidFill>
          </a:ln>
          <a:gradFill>
            <a:gsLst>
              <a:gs pos="0">
                <a:srgbClr val="251336"/>
              </a:gs>
              <a:gs pos="100000">
                <a:srgbClr val="3A1E55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" y="1261872"/>
            <a:ext cx="182880" cy="658368"/>
          </a:xfrm>
          <a:prstGeom prst="rect">
            <a:avLst/>
          </a:prstGeom>
          <a:ln>
            <a:solidFill>
              <a:srgbClr val="9B50E1"/>
            </a:solidFill>
          </a:ln>
          <a:gradFill>
            <a:gsLst>
              <a:gs pos="0">
                <a:srgbClr val="9B50E1"/>
              </a:gs>
              <a:gs pos="100000">
                <a:srgbClr val="361C4E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3504" y="13258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C0CEEE"/>
                </a:solidFill>
              </a:rPr>
              <a:t>Walt Disney: 'The secret of animation is the exaggeration of the truth.' These final 4 principles deliver exactly that truth.</a:t>
            </a:r>
          </a:p>
        </p:txBody>
      </p:sp>
      <p:sp>
        <p:nvSpPr>
          <p:cNvPr id="53" name="Oval 52"/>
          <p:cNvSpPr/>
          <p:nvPr/>
        </p:nvSpPr>
        <p:spPr>
          <a:xfrm>
            <a:off x="320040" y="1865376"/>
            <a:ext cx="457200" cy="457200"/>
          </a:xfrm>
          <a:prstGeom prst="ellipse">
            <a:avLst/>
          </a:prstGeom>
          <a:solidFill>
            <a:srgbClr val="1F242F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789E"/>
                </a:solidFill>
              </a:rPr>
              <a:t>1</a:t>
            </a:r>
          </a:p>
        </p:txBody>
      </p:sp>
      <p:sp>
        <p:nvSpPr>
          <p:cNvPr id="55" name="Oval 54"/>
          <p:cNvSpPr/>
          <p:nvPr/>
        </p:nvSpPr>
        <p:spPr>
          <a:xfrm>
            <a:off x="1216152" y="1865376"/>
            <a:ext cx="457200" cy="457200"/>
          </a:xfrm>
          <a:prstGeom prst="ellipse">
            <a:avLst/>
          </a:prstGeom>
          <a:solidFill>
            <a:srgbClr val="1F242F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16152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789E"/>
                </a:solidFill>
              </a:rPr>
              <a:t>2</a:t>
            </a:r>
          </a:p>
        </p:txBody>
      </p:sp>
      <p:sp>
        <p:nvSpPr>
          <p:cNvPr id="57" name="Oval 56"/>
          <p:cNvSpPr/>
          <p:nvPr/>
        </p:nvSpPr>
        <p:spPr>
          <a:xfrm>
            <a:off x="2112264" y="1865376"/>
            <a:ext cx="457200" cy="457200"/>
          </a:xfrm>
          <a:prstGeom prst="ellipse">
            <a:avLst/>
          </a:prstGeom>
          <a:solidFill>
            <a:srgbClr val="1F242F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12264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789E"/>
                </a:solidFill>
              </a:rPr>
              <a:t>3</a:t>
            </a:r>
          </a:p>
        </p:txBody>
      </p:sp>
      <p:sp>
        <p:nvSpPr>
          <p:cNvPr id="59" name="Oval 58"/>
          <p:cNvSpPr/>
          <p:nvPr/>
        </p:nvSpPr>
        <p:spPr>
          <a:xfrm>
            <a:off x="3008376" y="1865376"/>
            <a:ext cx="457200" cy="457200"/>
          </a:xfrm>
          <a:prstGeom prst="ellipse">
            <a:avLst/>
          </a:prstGeom>
          <a:solidFill>
            <a:srgbClr val="1F242F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08376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789E"/>
                </a:solidFill>
              </a:rPr>
              <a:t>4</a:t>
            </a:r>
          </a:p>
        </p:txBody>
      </p:sp>
      <p:sp>
        <p:nvSpPr>
          <p:cNvPr id="61" name="Oval 60"/>
          <p:cNvSpPr/>
          <p:nvPr/>
        </p:nvSpPr>
        <p:spPr>
          <a:xfrm>
            <a:off x="3904488" y="1865376"/>
            <a:ext cx="457200" cy="457200"/>
          </a:xfrm>
          <a:prstGeom prst="ellipse">
            <a:avLst/>
          </a:prstGeom>
          <a:solidFill>
            <a:srgbClr val="1F242F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04488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789E"/>
                </a:solidFill>
              </a:rPr>
              <a:t>5</a:t>
            </a:r>
          </a:p>
        </p:txBody>
      </p:sp>
      <p:sp>
        <p:nvSpPr>
          <p:cNvPr id="63" name="Oval 62"/>
          <p:cNvSpPr/>
          <p:nvPr/>
        </p:nvSpPr>
        <p:spPr>
          <a:xfrm>
            <a:off x="4800600" y="1865376"/>
            <a:ext cx="457200" cy="457200"/>
          </a:xfrm>
          <a:prstGeom prst="ellipse">
            <a:avLst/>
          </a:prstGeom>
          <a:solidFill>
            <a:srgbClr val="1F242F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00600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789E"/>
                </a:solidFill>
              </a:rPr>
              <a:t>6</a:t>
            </a:r>
          </a:p>
        </p:txBody>
      </p:sp>
      <p:sp>
        <p:nvSpPr>
          <p:cNvPr id="65" name="Oval 64"/>
          <p:cNvSpPr/>
          <p:nvPr/>
        </p:nvSpPr>
        <p:spPr>
          <a:xfrm>
            <a:off x="5696712" y="1865376"/>
            <a:ext cx="457200" cy="457200"/>
          </a:xfrm>
          <a:prstGeom prst="ellipse">
            <a:avLst/>
          </a:prstGeom>
          <a:solidFill>
            <a:srgbClr val="1F242F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96712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789E"/>
                </a:solidFill>
              </a:rPr>
              <a:t>7</a:t>
            </a:r>
          </a:p>
        </p:txBody>
      </p:sp>
      <p:sp>
        <p:nvSpPr>
          <p:cNvPr id="67" name="Oval 66"/>
          <p:cNvSpPr/>
          <p:nvPr/>
        </p:nvSpPr>
        <p:spPr>
          <a:xfrm>
            <a:off x="6592824" y="1865376"/>
            <a:ext cx="457200" cy="457200"/>
          </a:xfrm>
          <a:prstGeom prst="ellipse">
            <a:avLst/>
          </a:prstGeom>
          <a:solidFill>
            <a:srgbClr val="1F242F"/>
          </a:solidFill>
          <a:ln>
            <a:solidFill>
              <a:srgbClr val="697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92824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9789E"/>
                </a:solidFill>
              </a:rPr>
              <a:t>8</a:t>
            </a:r>
          </a:p>
        </p:txBody>
      </p:sp>
      <p:sp>
        <p:nvSpPr>
          <p:cNvPr id="69" name="Oval 68"/>
          <p:cNvSpPr/>
          <p:nvPr/>
        </p:nvSpPr>
        <p:spPr>
          <a:xfrm>
            <a:off x="7488936" y="1865376"/>
            <a:ext cx="457200" cy="457200"/>
          </a:xfrm>
          <a:prstGeom prst="ellipse">
            <a:avLst/>
          </a:prstGeom>
          <a:solidFill>
            <a:srgbClr val="4D2870"/>
          </a:solidFill>
          <a:ln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88936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B50E1"/>
                </a:solidFill>
              </a:rPr>
              <a:t>9</a:t>
            </a:r>
          </a:p>
        </p:txBody>
      </p:sp>
      <p:sp>
        <p:nvSpPr>
          <p:cNvPr id="71" name="Oval 70"/>
          <p:cNvSpPr/>
          <p:nvPr/>
        </p:nvSpPr>
        <p:spPr>
          <a:xfrm>
            <a:off x="8385048" y="1865376"/>
            <a:ext cx="457200" cy="457200"/>
          </a:xfrm>
          <a:prstGeom prst="ellipse">
            <a:avLst/>
          </a:prstGeom>
          <a:solidFill>
            <a:srgbClr val="4D2870"/>
          </a:solidFill>
          <a:ln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85048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B50E1"/>
                </a:solidFill>
              </a:rPr>
              <a:t>10</a:t>
            </a:r>
          </a:p>
        </p:txBody>
      </p:sp>
      <p:sp>
        <p:nvSpPr>
          <p:cNvPr id="73" name="Oval 72"/>
          <p:cNvSpPr/>
          <p:nvPr/>
        </p:nvSpPr>
        <p:spPr>
          <a:xfrm>
            <a:off x="9281160" y="1865376"/>
            <a:ext cx="457200" cy="457200"/>
          </a:xfrm>
          <a:prstGeom prst="ellipse">
            <a:avLst/>
          </a:prstGeom>
          <a:solidFill>
            <a:srgbClr val="4D2870"/>
          </a:solidFill>
          <a:ln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81160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B50E1"/>
                </a:solidFill>
              </a:rPr>
              <a:t>11</a:t>
            </a:r>
          </a:p>
        </p:txBody>
      </p:sp>
      <p:sp>
        <p:nvSpPr>
          <p:cNvPr id="75" name="Oval 74"/>
          <p:cNvSpPr/>
          <p:nvPr/>
        </p:nvSpPr>
        <p:spPr>
          <a:xfrm>
            <a:off x="10177272" y="1865376"/>
            <a:ext cx="457200" cy="457200"/>
          </a:xfrm>
          <a:prstGeom prst="ellipse">
            <a:avLst/>
          </a:prstGeom>
          <a:solidFill>
            <a:srgbClr val="4D2870"/>
          </a:solidFill>
          <a:ln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177272" y="18653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B50E1"/>
                </a:solidFill>
              </a:rPr>
              <a:t>12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2359152"/>
            <a:ext cx="5687568" cy="2633472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20040" y="2359152"/>
            <a:ext cx="5687568" cy="530352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677A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20040" y="2359152"/>
            <a:ext cx="182880" cy="2633472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4B59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57784" y="2487168"/>
            <a:ext cx="256032" cy="256032"/>
          </a:xfrm>
          <a:prstGeom prst="ellipse">
            <a:avLst/>
          </a:prstGeom>
          <a:solidFill>
            <a:srgbClr val="00D7FF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14400" y="2423160"/>
            <a:ext cx="5001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7FF"/>
                </a:solidFill>
              </a:rPr>
              <a:t>09  TIMING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76072" y="2926080"/>
            <a:ext cx="53400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Number of frames = perceived
speed, weight, and personality.
MORE frames = slower, heavier
FEWER frames = faster, lighter
AT 24fps:
  Eye blink: 6–8 frames
  Head turn: 10–15 frames
  Heavy punch: 3–4 frames
  Gentle wave: 30+ frames
TIMING is the HEARTBEAT
of animation. Wrong timing =
nothing else matters.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08192" y="2359152"/>
            <a:ext cx="5687568" cy="2633472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08192" y="2359152"/>
            <a:ext cx="5687568" cy="530352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7A47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108192" y="2359152"/>
            <a:ext cx="182880" cy="2633472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593300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45936" y="2487168"/>
            <a:ext cx="256032" cy="256032"/>
          </a:xfrm>
          <a:prstGeom prst="ellipse">
            <a:avLst/>
          </a:prstGeom>
          <a:solidFill>
            <a:srgbClr val="FF9400"/>
          </a:solidFill>
          <a:ln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702552" y="2423160"/>
            <a:ext cx="5001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400"/>
                </a:solidFill>
              </a:rPr>
              <a:t>10  EXAGGERATION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64224" y="2926080"/>
            <a:ext cx="53400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Push actions BEYOND realistic
limits for emotional impact.
• Giant cartoon eyes
• Impossible stretching &amp; squash
• Over-the-top expressions
• Massive emotional reactions
KEY INSIGHT:
NOT about being unrealistic —
it's making the TRUTH more
VISIBLE and ENTERTAINING.
Exaggerate the ESSENCE.
A sad character cries buckets,
not small tears.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0040" y="5120640"/>
            <a:ext cx="5687568" cy="2633472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20040" y="5120640"/>
            <a:ext cx="5687568" cy="530352"/>
          </a:xfrm>
          <a:prstGeom prst="rect">
            <a:avLst/>
          </a:prstGeom>
          <a:ln>
            <a:solidFill>
              <a:srgbClr val="2EDC73"/>
            </a:solidFill>
          </a:ln>
          <a:gradFill>
            <a:gsLst>
              <a:gs pos="0">
                <a:srgbClr val="2EDC73"/>
              </a:gs>
              <a:gs pos="100000">
                <a:srgbClr val="166937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0040" y="5120640"/>
            <a:ext cx="182880" cy="2633472"/>
          </a:xfrm>
          <a:prstGeom prst="rect">
            <a:avLst/>
          </a:prstGeom>
          <a:ln>
            <a:solidFill>
              <a:srgbClr val="2EDC73"/>
            </a:solidFill>
          </a:ln>
          <a:gradFill>
            <a:gsLst>
              <a:gs pos="0">
                <a:srgbClr val="2EDC73"/>
              </a:gs>
              <a:gs pos="100000">
                <a:srgbClr val="104D28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57784" y="5248656"/>
            <a:ext cx="256032" cy="256032"/>
          </a:xfrm>
          <a:prstGeom prst="ellipse">
            <a:avLst/>
          </a:prstGeom>
          <a:solidFill>
            <a:srgbClr val="2EDC73"/>
          </a:solidFill>
          <a:ln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14400" y="5184648"/>
            <a:ext cx="5001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DC73"/>
                </a:solidFill>
              </a:rPr>
              <a:t>11  SOLID DRAWING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76072" y="5687568"/>
            <a:ext cx="53400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Characters must feel like 3D
objects with real weight &amp; form.
PRINCIPLES:
  • Understand 3D basic shapes
  • 'Draw through' the form
  • Consistent character proportions
  • Avoid 'twinning' (mirror poses)
  • Strong line of action
Even in 2D — the audience must
FEEL the three-dimensional volume.
Modern 3D: rigs must deform
believably under all conditions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08192" y="5120640"/>
            <a:ext cx="5687568" cy="2633472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108192" y="5120640"/>
            <a:ext cx="5687568" cy="530352"/>
          </a:xfrm>
          <a:prstGeom prst="rect">
            <a:avLst/>
          </a:prstGeom>
          <a:ln>
            <a:solidFill>
              <a:srgbClr val="9B50E1"/>
            </a:solidFill>
          </a:ln>
          <a:gradFill>
            <a:gsLst>
              <a:gs pos="0">
                <a:srgbClr val="9B50E1"/>
              </a:gs>
              <a:gs pos="100000">
                <a:srgbClr val="4A266C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108192" y="5120640"/>
            <a:ext cx="182880" cy="2633472"/>
          </a:xfrm>
          <a:prstGeom prst="rect">
            <a:avLst/>
          </a:prstGeom>
          <a:ln>
            <a:solidFill>
              <a:srgbClr val="9B50E1"/>
            </a:solidFill>
          </a:ln>
          <a:gradFill>
            <a:gsLst>
              <a:gs pos="0">
                <a:srgbClr val="9B50E1"/>
              </a:gs>
              <a:gs pos="100000">
                <a:srgbClr val="361C4E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345936" y="5248656"/>
            <a:ext cx="256032" cy="256032"/>
          </a:xfrm>
          <a:prstGeom prst="ellipse">
            <a:avLst/>
          </a:prstGeom>
          <a:solidFill>
            <a:srgbClr val="9B50E1"/>
          </a:solidFill>
          <a:ln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702552" y="5184648"/>
            <a:ext cx="5001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0E1"/>
                </a:solidFill>
              </a:rPr>
              <a:t>12  APPEAL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364224" y="5687568"/>
            <a:ext cx="53400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Characters must be visually
interesting to WATCH.
APPEAL is NOT cuteness:
  • A powerful villain has appeal
  • A complex anti-hero has appeal
  • Even monsters can have appeal
HOW TO ACHIEVE:
  • Clear, readable design
  • Dynamic, asymmetric poses
  • Charisma &amp; personality
  • Strong recognizable silhouette
THE TEST: Would an audience
want to keep watching this character?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7071C"/>
          </a:solidFill>
          <a:ln>
            <a:solidFill>
              <a:srgbClr val="070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07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1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55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29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04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78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52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27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01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75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50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24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98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73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47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218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961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704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447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190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934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67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242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16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90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65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39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13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887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62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36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10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85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59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33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808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082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56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31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905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274320"/>
            <a:ext cx="12188952" cy="960120"/>
          </a:xfrm>
          <a:prstGeom prst="rect">
            <a:avLst/>
          </a:prstGeom>
          <a:ln>
            <a:solidFill>
              <a:srgbClr val="FF5AA2"/>
            </a:solidFill>
          </a:ln>
          <a:gradFill>
            <a:gsLst>
              <a:gs pos="0">
                <a:srgbClr val="FF5AA2"/>
              </a:gs>
              <a:gs pos="100000">
                <a:srgbClr val="6B2544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0" y="-73152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200" b="1" i="0">
                <a:solidFill>
                  <a:srgbClr val="4C1B30"/>
                </a:solidFill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329184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ANIMATION SPACE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1261872"/>
            <a:ext cx="11548872" cy="658368"/>
          </a:xfrm>
          <a:prstGeom prst="rect">
            <a:avLst/>
          </a:prstGeom>
          <a:ln>
            <a:solidFill>
              <a:srgbClr val="3D1526"/>
            </a:solidFill>
          </a:ln>
          <a:gradFill>
            <a:gsLst>
              <a:gs pos="0">
                <a:srgbClr val="3D1526"/>
              </a:gs>
              <a:gs pos="100000">
                <a:srgbClr val="60223D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" y="1261872"/>
            <a:ext cx="182880" cy="658368"/>
          </a:xfrm>
          <a:prstGeom prst="rect">
            <a:avLst/>
          </a:prstGeom>
          <a:ln>
            <a:solidFill>
              <a:srgbClr val="FF5AA2"/>
            </a:solidFill>
          </a:ln>
          <a:gradFill>
            <a:gsLst>
              <a:gs pos="0">
                <a:srgbClr val="FF5AA2"/>
              </a:gs>
              <a:gs pos="100000">
                <a:srgbClr val="591F38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3504" y="13258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C0CEEE"/>
                </a:solidFill>
              </a:rPr>
              <a:t>Animation can exist in THREE types of spatial dimensions — each with different tools, techniques, rendering requirements, and visual results.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7472" y="1901952"/>
            <a:ext cx="3611880" cy="347472"/>
          </a:xfrm>
          <a:prstGeom prst="rect">
            <a:avLst/>
          </a:prstGeom>
          <a:solidFill>
            <a:srgbClr val="00404C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19019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7FF"/>
                </a:solidFill>
              </a:rPr>
              <a:t>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8" y="1901952"/>
            <a:ext cx="3154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7FF"/>
                </a:solidFill>
              </a:rPr>
              <a:t>—————————→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7472" y="1920240"/>
            <a:ext cx="347472" cy="3246120"/>
          </a:xfrm>
          <a:prstGeom prst="rect">
            <a:avLst/>
          </a:prstGeom>
          <a:solidFill>
            <a:srgbClr val="00404C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7472" y="1920240"/>
            <a:ext cx="347472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D7FF"/>
                </a:solidFill>
              </a:rPr>
              <a:t>Y
|
|
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2608" y="1938528"/>
            <a:ext cx="3913632" cy="548640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92608" y="1938528"/>
            <a:ext cx="3913632" cy="621792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677A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92608" y="1938528"/>
            <a:ext cx="182880" cy="5486400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4B59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928" y="2011680"/>
            <a:ext cx="3547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0412"/>
                </a:solidFill>
              </a:rPr>
              <a:t>2D SPACE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2651760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EEE"/>
                </a:solidFill>
              </a:rPr>
              <a:t>X-axis (width) + Y-axis (height)
No depth — completely flat.
CHARACTERISTICS:
• Flat, like drawing on paper
• No real depth perception
• Simple to create &amp; render
• Low hardware requirements
• Classic cartoon aesthetic
EXAMPLES:
Tom &amp; Jerry, classic Disney,
original Mario &amp; Pac-Man,
mobile game animations,
Flash web animations
TOOLS:
Adobe Animate, Toon Boom,
Spine, TVPaint, Aseprite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61688" y="1938528"/>
            <a:ext cx="3913632" cy="548640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361688" y="1938528"/>
            <a:ext cx="3913632" cy="621792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7A47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361688" y="1938528"/>
            <a:ext cx="182880" cy="5486400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593300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36008" y="2011680"/>
            <a:ext cx="3547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0412"/>
                </a:solidFill>
              </a:rPr>
              <a:t>2½D SPACE
(Two-and-a-Half D)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17720" y="2651760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EEE"/>
                </a:solidFill>
              </a:rPr>
              <a:t>2D art + ILLUSION of depth via
layers, parallax &amp; shadows.
CHARACTERISTICS:
• Parallax scrolling = depth effect
• Objects appear on Z-axis visually
• Still technically 2D sprites
• 'Pseudo-3D' / 'Layered 2D'
• Great performance/visual ratio
EXAMPLES:
Paper Mario, South Park,
Ori and the Blind Forest,
Disney multiplane camera
(Sleeping Beauty, 1959)
TOOLS:
After Effects (Z-depth layers),
Unity 2D with parallax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30768" y="1938528"/>
            <a:ext cx="3913632" cy="548640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430768" y="1938528"/>
            <a:ext cx="3913632" cy="621792"/>
          </a:xfrm>
          <a:prstGeom prst="rect">
            <a:avLst/>
          </a:prstGeom>
          <a:ln>
            <a:solidFill>
              <a:srgbClr val="2EDC73"/>
            </a:solidFill>
          </a:ln>
          <a:gradFill>
            <a:gsLst>
              <a:gs pos="0">
                <a:srgbClr val="2EDC73"/>
              </a:gs>
              <a:gs pos="100000">
                <a:srgbClr val="166937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430768" y="1938528"/>
            <a:ext cx="182880" cy="5486400"/>
          </a:xfrm>
          <a:prstGeom prst="rect">
            <a:avLst/>
          </a:prstGeom>
          <a:ln>
            <a:solidFill>
              <a:srgbClr val="2EDC73"/>
            </a:solidFill>
          </a:ln>
          <a:gradFill>
            <a:gsLst>
              <a:gs pos="0">
                <a:srgbClr val="2EDC73"/>
              </a:gs>
              <a:gs pos="100000">
                <a:srgbClr val="104D28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705088" y="2011680"/>
            <a:ext cx="35478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40412"/>
                </a:solidFill>
              </a:rPr>
              <a:t>3D SPACE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86800" y="2651760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CEEE"/>
                </a:solidFill>
              </a:rPr>
              <a:t>X-axis + Y-axis + Z-axis (depth)
Full volumetric environment.
CHARACTERISTICS:
• True depth, volume, perspective
• Viewable from ANY camera angle
• Realistic lighting &amp; shadows
• Requires powerful hardware
• Maximum visual versatility
EXAMPLES:
Toy Story, Frozen, Moana,
Fortnite, Call of Duty,
architectural visualizations,
medical &amp; surgical simulations
TOOLS:
Blender, Maya, Cinema 4D,
Houdini, Unreal Engine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7071C"/>
          </a:solidFill>
          <a:ln>
            <a:solidFill>
              <a:srgbClr val="070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07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1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55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29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04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78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52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27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01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75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50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24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98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73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47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218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961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704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447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190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934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67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242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16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90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65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39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13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887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62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36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10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85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59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33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808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082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56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31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905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274320"/>
            <a:ext cx="12188952" cy="960120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6B3E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0" y="-73152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200" b="1" i="0">
                <a:solidFill>
                  <a:srgbClr val="4C2C00"/>
                </a:solidFill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329184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ANIMATION PROCESS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1261872"/>
            <a:ext cx="11548872" cy="658368"/>
          </a:xfrm>
          <a:prstGeom prst="rect">
            <a:avLst/>
          </a:prstGeom>
          <a:ln>
            <a:solidFill>
              <a:srgbClr val="3D2300"/>
            </a:solidFill>
          </a:ln>
          <a:gradFill>
            <a:gsLst>
              <a:gs pos="0">
                <a:srgbClr val="3D2300"/>
              </a:gs>
              <a:gs pos="100000">
                <a:srgbClr val="6038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" y="1261872"/>
            <a:ext cx="182880" cy="658368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593300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3504" y="13258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C0CEEE"/>
                </a:solidFill>
              </a:rPr>
              <a:t>Every animation project — from a 10-second ad to a 2-hour feature film — follows this same 4-stage pipeline.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7472" y="3977639"/>
            <a:ext cx="11494008" cy="109728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9B50E1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47472" y="1938528"/>
            <a:ext cx="2816352" cy="457200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47472" y="1938528"/>
            <a:ext cx="2816352" cy="594360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6B7F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47472" y="1938528"/>
            <a:ext cx="182880" cy="4572000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4B59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481328" y="3840480"/>
            <a:ext cx="566928" cy="566928"/>
          </a:xfrm>
          <a:prstGeom prst="ellipse">
            <a:avLst/>
          </a:prstGeom>
          <a:solidFill>
            <a:srgbClr val="00D7FF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81328" y="384048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40412"/>
                </a:solidFill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3504" y="202996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0412"/>
                </a:solidFill>
              </a:rPr>
              <a:t>ORGANIZE
EXECUTION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3504" y="2651760"/>
            <a:ext cx="26060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• Define project goals &amp; scope
• Assign team roles
• Set milestones &amp; deadlines
• Gather reference material
• Create style guide
• Budget &amp; risk planning
OUTPUT:
Project bible, schedule,
mood boards, storyboard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00400" y="3703320"/>
            <a:ext cx="201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9400"/>
                </a:solidFill>
              </a:rPr>
              <a:t>▶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310128" y="1938528"/>
            <a:ext cx="2816352" cy="457200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310128" y="1938528"/>
            <a:ext cx="2816352" cy="594360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7F4A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310128" y="1938528"/>
            <a:ext cx="182880" cy="4572000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593300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443984" y="3840480"/>
            <a:ext cx="566928" cy="566928"/>
          </a:xfrm>
          <a:prstGeom prst="ellipse">
            <a:avLst/>
          </a:prstGeom>
          <a:solidFill>
            <a:srgbClr val="FF9400"/>
          </a:solidFill>
          <a:ln>
            <a:solidFill>
              <a:srgbClr val="FF9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43984" y="384048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40412"/>
                </a:solidFill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66160" y="202996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0412"/>
                </a:solidFill>
              </a:rPr>
              <a:t>CHOOSE
ANIMATION TOOL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566160" y="2651760"/>
            <a:ext cx="26060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• Match tool to project type
• Consider team skill level
• Account for budget
2D: Adobe Animate,
     Toon Boom Harmony
3D: Maya, Blender,
     Cinema 4D
MG: After Effects
Games: Unity, Unreal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63056" y="3703320"/>
            <a:ext cx="201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9400"/>
                </a:solidFill>
              </a:rPr>
              <a:t>▶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72784" y="1938528"/>
            <a:ext cx="2816352" cy="457200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72784" y="1938528"/>
            <a:ext cx="2816352" cy="594360"/>
          </a:xfrm>
          <a:prstGeom prst="rect">
            <a:avLst/>
          </a:prstGeom>
          <a:ln>
            <a:solidFill>
              <a:srgbClr val="2EDC73"/>
            </a:solidFill>
          </a:ln>
          <a:gradFill>
            <a:gsLst>
              <a:gs pos="0">
                <a:srgbClr val="2EDC73"/>
              </a:gs>
              <a:gs pos="100000">
                <a:srgbClr val="176E39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72784" y="1938528"/>
            <a:ext cx="182880" cy="4572000"/>
          </a:xfrm>
          <a:prstGeom prst="rect">
            <a:avLst/>
          </a:prstGeom>
          <a:ln>
            <a:solidFill>
              <a:srgbClr val="2EDC73"/>
            </a:solidFill>
          </a:ln>
          <a:gradFill>
            <a:gsLst>
              <a:gs pos="0">
                <a:srgbClr val="2EDC73"/>
              </a:gs>
              <a:gs pos="100000">
                <a:srgbClr val="104D28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6640" y="3840480"/>
            <a:ext cx="566928" cy="566928"/>
          </a:xfrm>
          <a:prstGeom prst="ellipse">
            <a:avLst/>
          </a:prstGeom>
          <a:solidFill>
            <a:srgbClr val="2EDC73"/>
          </a:solidFill>
          <a:ln>
            <a:solidFill>
              <a:srgbClr val="2ED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06640" y="384048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40412"/>
                </a:solidFill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28816" y="202996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0412"/>
                </a:solidFill>
              </a:rPr>
              <a:t>BUILD &amp; TWEAK
SEQUENCES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28816" y="2651760"/>
            <a:ext cx="26060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• Create rough blocking
• Refine with keyframes
• Apply the 12 Principles
• Sync with audio/music
• Team review cycles
• Iterate until approved
⟳ ITERATIVE STEP —
repeated many times
before moving to Step 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25712" y="3703320"/>
            <a:ext cx="201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9400"/>
                </a:solidFill>
              </a:rPr>
              <a:t>▶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235440" y="1938528"/>
            <a:ext cx="2816352" cy="457200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235440" y="1938528"/>
            <a:ext cx="2816352" cy="594360"/>
          </a:xfrm>
          <a:prstGeom prst="rect">
            <a:avLst/>
          </a:prstGeom>
          <a:ln>
            <a:solidFill>
              <a:srgbClr val="9B50E1"/>
            </a:solidFill>
          </a:ln>
          <a:gradFill>
            <a:gsLst>
              <a:gs pos="0">
                <a:srgbClr val="9B50E1"/>
              </a:gs>
              <a:gs pos="100000">
                <a:srgbClr val="4D287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235440" y="1938528"/>
            <a:ext cx="182880" cy="4572000"/>
          </a:xfrm>
          <a:prstGeom prst="rect">
            <a:avLst/>
          </a:prstGeom>
          <a:ln>
            <a:solidFill>
              <a:srgbClr val="9B50E1"/>
            </a:solidFill>
          </a:ln>
          <a:gradFill>
            <a:gsLst>
              <a:gs pos="0">
                <a:srgbClr val="9B50E1"/>
              </a:gs>
              <a:gs pos="100000">
                <a:srgbClr val="361C4E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369296" y="3840480"/>
            <a:ext cx="566928" cy="566928"/>
          </a:xfrm>
          <a:prstGeom prst="ellipse">
            <a:avLst/>
          </a:prstGeom>
          <a:solidFill>
            <a:srgbClr val="9B50E1"/>
          </a:solidFill>
          <a:ln>
            <a:solidFill>
              <a:srgbClr val="9B5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369296" y="384048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40412"/>
                </a:solidFill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491472" y="2029968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40412"/>
                </a:solidFill>
              </a:rPr>
              <a:t>POST-PROCESS
ANIMATION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491472" y="2651760"/>
            <a:ext cx="26060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• Render final frames
• Color grading &amp; correction
• Add VFX &amp; overlays
• Sound design &amp; music mix
• QA testing &amp; review
• Format for delivery
• Archive project files
OUTPUT:
Final MP4, MOV, WebM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47472" y="6492240"/>
            <a:ext cx="11494008" cy="329184"/>
          </a:xfrm>
          <a:prstGeom prst="rect">
            <a:avLst/>
          </a:prstGeom>
          <a:ln>
            <a:solidFill>
              <a:srgbClr val="0B371C"/>
            </a:solidFill>
          </a:ln>
          <a:gradFill>
            <a:gsLst>
              <a:gs pos="0">
                <a:srgbClr val="0B371C"/>
              </a:gs>
              <a:gs pos="100000">
                <a:srgbClr val="11532B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2920" y="651052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DC73"/>
                </a:solidFill>
              </a:rPr>
              <a:t>KEY INSIGHT: Step 3 is ITERATIVE — you cycle through Build &amp; Tweak many times before Post-Process.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7071C"/>
          </a:solidFill>
          <a:ln>
            <a:solidFill>
              <a:srgbClr val="070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07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1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55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29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04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78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52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27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01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75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50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24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98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73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47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218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961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704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447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190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934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67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242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16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90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65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39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13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887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62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36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10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85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59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33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808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082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56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31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905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274320"/>
            <a:ext cx="12188952" cy="960120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9B50E1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329184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</a:rPr>
              <a:t>SUMMARY — KEY TAKEAWAYS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1298448"/>
            <a:ext cx="658368" cy="914400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6B7F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1298448"/>
            <a:ext cx="6583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40412"/>
                </a:solidFill>
              </a:rPr>
              <a:t>01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128" y="1298448"/>
            <a:ext cx="5029200" cy="91440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97280" y="1335024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7FF"/>
                </a:solidFill>
              </a:rPr>
              <a:t>Introduction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" y="1682496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Animation = sequences exploiting Persistence of Vision + Phi Phenomenon to create seamless motion illusion.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2377440"/>
            <a:ext cx="658368" cy="914400"/>
          </a:xfrm>
          <a:prstGeom prst="rect">
            <a:avLst/>
          </a:prstGeom>
          <a:ln>
            <a:solidFill>
              <a:srgbClr val="9B50E1"/>
            </a:solidFill>
          </a:ln>
          <a:gradFill>
            <a:gsLst>
              <a:gs pos="0">
                <a:srgbClr val="9B50E1"/>
              </a:gs>
              <a:gs pos="100000">
                <a:srgbClr val="4D2870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2377440"/>
            <a:ext cx="6583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40412"/>
                </a:solidFill>
              </a:rPr>
              <a:t>02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4128" y="2377440"/>
            <a:ext cx="5029200" cy="91440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7280" y="2414016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0E1"/>
                </a:solidFill>
              </a:rPr>
              <a:t>Usage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2761488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Art, storytelling, scientific visualization, instructional. Animation is used across every major industry.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3456432"/>
            <a:ext cx="658368" cy="914400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7F4A00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3456432"/>
            <a:ext cx="6583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40412"/>
                </a:solidFill>
              </a:rPr>
              <a:t>03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24128" y="3456432"/>
            <a:ext cx="5029200" cy="91440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97280" y="3493008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400"/>
                </a:solidFill>
              </a:rPr>
              <a:t>Techniques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" y="3840480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3 core techniques: Cel (hand-drawn), Path (trajectory), Computer (digital — most versatile today).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4535424"/>
            <a:ext cx="658368" cy="914400"/>
          </a:xfrm>
          <a:prstGeom prst="rect">
            <a:avLst/>
          </a:prstGeom>
          <a:ln>
            <a:solidFill>
              <a:srgbClr val="2EDC73"/>
            </a:solidFill>
          </a:ln>
          <a:gradFill>
            <a:gsLst>
              <a:gs pos="0">
                <a:srgbClr val="2EDC73"/>
              </a:gs>
              <a:gs pos="100000">
                <a:srgbClr val="176E39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0040" y="4535424"/>
            <a:ext cx="6583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40412"/>
                </a:solidFill>
              </a:rPr>
              <a:t>04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24128" y="4535424"/>
            <a:ext cx="5029200" cy="91440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97280" y="4572000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DC73"/>
                </a:solidFill>
              </a:rPr>
              <a:t>Cel Animation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" y="4919472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Keyframes + tweening = smooth motion. Pencil test validates timing before expensive final production.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5614416"/>
            <a:ext cx="658368" cy="914400"/>
          </a:xfrm>
          <a:prstGeom prst="rect">
            <a:avLst/>
          </a:prstGeom>
          <a:ln>
            <a:solidFill>
              <a:srgbClr val="FF5AA2"/>
            </a:solidFill>
          </a:ln>
          <a:gradFill>
            <a:gsLst>
              <a:gs pos="0">
                <a:srgbClr val="FF5AA2"/>
              </a:gs>
              <a:gs pos="100000">
                <a:srgbClr val="7F2D51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040" y="5614416"/>
            <a:ext cx="6583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40412"/>
                </a:solidFill>
              </a:rPr>
              <a:t>05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24128" y="5614416"/>
            <a:ext cx="5029200" cy="91440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97280" y="5650992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AA2"/>
                </a:solidFill>
              </a:rPr>
              <a:t>Path Animation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7280" y="5998464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Object follows predefined path (straight or Bezier) with easing for natural, weighted motion feel.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46520" y="1298448"/>
            <a:ext cx="658368" cy="914400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006B7F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46520" y="1298448"/>
            <a:ext cx="6583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40412"/>
                </a:solidFill>
              </a:rPr>
              <a:t>06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50608" y="1298448"/>
            <a:ext cx="4690872" cy="91440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223760" y="133502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7FF"/>
                </a:solidFill>
              </a:rPr>
              <a:t>Computer Anim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1682496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FK/IK chains for character rigs. Morphing for shape transforms. Faster &amp; more flexible than traditional.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2377440"/>
            <a:ext cx="658368" cy="914400"/>
          </a:xfrm>
          <a:prstGeom prst="rect">
            <a:avLst/>
          </a:prstGeom>
          <a:ln>
            <a:solidFill>
              <a:srgbClr val="9B50E1"/>
            </a:solidFill>
          </a:ln>
          <a:gradFill>
            <a:gsLst>
              <a:gs pos="0">
                <a:srgbClr val="9B50E1"/>
              </a:gs>
              <a:gs pos="100000">
                <a:srgbClr val="4D2870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46520" y="2377440"/>
            <a:ext cx="6583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40412"/>
                </a:solidFill>
              </a:rPr>
              <a:t>07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150608" y="2377440"/>
            <a:ext cx="4690872" cy="91440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223760" y="241401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0E1"/>
                </a:solidFill>
              </a:rPr>
              <a:t>Levels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223760" y="276148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Basic (GIFs/CSS) → Intermediate (motion graphics) → Advanced (feature films, real-time VFX, AI animation).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446520" y="3456432"/>
            <a:ext cx="658368" cy="914400"/>
          </a:xfrm>
          <a:prstGeom prst="rect">
            <a:avLst/>
          </a:prstGeom>
          <a:ln>
            <a:solidFill>
              <a:srgbClr val="FF9400"/>
            </a:solidFill>
          </a:ln>
          <a:gradFill>
            <a:gsLst>
              <a:gs pos="0">
                <a:srgbClr val="FF9400"/>
              </a:gs>
              <a:gs pos="100000">
                <a:srgbClr val="7F4A00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46520" y="3456432"/>
            <a:ext cx="6583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40412"/>
                </a:solidFill>
              </a:rPr>
              <a:t>08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150608" y="3456432"/>
            <a:ext cx="4690872" cy="91440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223760" y="349300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400"/>
                </a:solidFill>
              </a:rPr>
              <a:t>12 Principles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23760" y="38404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Disney's Squash &amp; Stretch, Anticipation, Timing, Ease, Arcs, and 8 more — still the universal standard.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446520" y="4535424"/>
            <a:ext cx="658368" cy="914400"/>
          </a:xfrm>
          <a:prstGeom prst="rect">
            <a:avLst/>
          </a:prstGeom>
          <a:ln>
            <a:solidFill>
              <a:srgbClr val="2EDC73"/>
            </a:solidFill>
          </a:ln>
          <a:gradFill>
            <a:gsLst>
              <a:gs pos="0">
                <a:srgbClr val="2EDC73"/>
              </a:gs>
              <a:gs pos="100000">
                <a:srgbClr val="176E39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46520" y="4535424"/>
            <a:ext cx="6583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40412"/>
                </a:solidFill>
              </a:rPr>
              <a:t>09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150608" y="4535424"/>
            <a:ext cx="4690872" cy="91440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223760" y="45720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DC73"/>
                </a:solidFill>
              </a:rPr>
              <a:t>Anim Space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223760" y="491947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2D (flat) → 2½D (pseudo-depth via parallax) → 3D (full volumetric, any camera angle, photorealism).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46520" y="5614416"/>
            <a:ext cx="658368" cy="914400"/>
          </a:xfrm>
          <a:prstGeom prst="rect">
            <a:avLst/>
          </a:prstGeom>
          <a:ln>
            <a:solidFill>
              <a:srgbClr val="FFD700"/>
            </a:solidFill>
          </a:ln>
          <a:gradFill>
            <a:gsLst>
              <a:gs pos="0">
                <a:srgbClr val="FFD700"/>
              </a:gs>
              <a:gs pos="100000">
                <a:srgbClr val="7F6B00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446520" y="5614416"/>
            <a:ext cx="6583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40412"/>
                </a:solidFill>
              </a:rPr>
              <a:t>  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150608" y="5614416"/>
            <a:ext cx="4690872" cy="914400"/>
          </a:xfrm>
          <a:prstGeom prst="rect">
            <a:avLst/>
          </a:prstGeom>
          <a:solidFill>
            <a:srgbClr val="0D0D30"/>
          </a:solidFill>
          <a:ln>
            <a:solidFill>
              <a:srgbClr val="0D0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223760" y="56509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Process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223760" y="5998464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CEEE"/>
                </a:solidFill>
              </a:rPr>
              <a:t>Organize → Choose Tool → Build &amp; Tweak (iterative) → Post-Process. Every project, every studio.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35040" y="1207008"/>
            <a:ext cx="54864" cy="5486400"/>
          </a:xfrm>
          <a:prstGeom prst="rect">
            <a:avLst/>
          </a:prstGeom>
          <a:solidFill>
            <a:srgbClr val="1E1E50"/>
          </a:solidFill>
          <a:ln>
            <a:solidFill>
              <a:srgbClr val="1E1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rgbClr val="030310"/>
            </a:solidFill>
          </a:ln>
          <a:gradFill>
            <a:gsLst>
              <a:gs pos="0">
                <a:srgbClr val="030310"/>
              </a:gs>
              <a:gs pos="50000">
                <a:srgbClr val="080520"/>
              </a:gs>
              <a:gs pos="100000">
                <a:srgbClr val="040412"/>
              </a:gs>
            </a:gsLst>
            <a:lin ang="81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7071C"/>
          </a:solidFill>
          <a:ln>
            <a:solidFill>
              <a:srgbClr val="070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4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8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07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81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55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29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04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578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52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27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01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75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50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24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98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73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47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218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961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704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447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190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6934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677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420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5163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906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650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393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136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8879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622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366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109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9852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2595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5338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80820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08252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35684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63116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905488" y="7315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7071C"/>
          </a:solidFill>
          <a:ln>
            <a:solidFill>
              <a:srgbClr val="0707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972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8404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5836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3268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0700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48132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75564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02996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0428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57860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5292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12724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40156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67588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95020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22452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49884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77316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04748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32180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9612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87044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14476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41908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69340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96772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24204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51636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79068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06500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33932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61364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88796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6228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43660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71092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98524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25956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53388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80820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08252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35684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63116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905488" y="6656832"/>
            <a:ext cx="128016" cy="128016"/>
          </a:xfrm>
          <a:prstGeom prst="ellipse">
            <a:avLst/>
          </a:prstGeom>
          <a:solidFill>
            <a:srgbClr val="040412"/>
          </a:solidFill>
          <a:ln>
            <a:solidFill>
              <a:srgbClr val="141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326880" y="-914400"/>
            <a:ext cx="4114800" cy="4114800"/>
          </a:xfrm>
          <a:prstGeom prst="ellipse">
            <a:avLst/>
          </a:prstGeom>
          <a:solidFill>
            <a:srgbClr val="001E23"/>
          </a:solidFill>
          <a:ln>
            <a:solidFill>
              <a:srgbClr val="001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789920" y="4572000"/>
            <a:ext cx="2743200" cy="2743200"/>
          </a:xfrm>
          <a:prstGeom prst="ellipse">
            <a:avLst/>
          </a:prstGeom>
          <a:solidFill>
            <a:srgbClr val="150B1F"/>
          </a:solidFill>
          <a:ln>
            <a:solidFill>
              <a:srgbClr val="150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-731520" y="4114800"/>
            <a:ext cx="2926080" cy="2926080"/>
          </a:xfrm>
          <a:prstGeom prst="ellipse">
            <a:avLst/>
          </a:prstGeom>
          <a:solidFill>
            <a:srgbClr val="1C1000"/>
          </a:solidFill>
          <a:ln>
            <a:solidFill>
              <a:srgbClr val="1C1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0" y="274320"/>
            <a:ext cx="12188952" cy="164592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9B50E1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0" y="6419088"/>
            <a:ext cx="12188952" cy="164592"/>
          </a:xfrm>
          <a:prstGeom prst="rect">
            <a:avLst/>
          </a:prstGeom>
          <a:ln>
            <a:solidFill>
              <a:srgbClr val="9B50E1"/>
            </a:solidFill>
          </a:ln>
          <a:gradFill>
            <a:gsLst>
              <a:gs pos="0">
                <a:srgbClr val="9B50E1"/>
              </a:gs>
              <a:gs pos="100000">
                <a:srgbClr val="FF940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-365760" y="1828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500" b="1" i="0">
                <a:solidFill>
                  <a:srgbClr val="090926"/>
                </a:solidFill>
              </a:rPr>
              <a:t>ANIM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" y="804672"/>
            <a:ext cx="112745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00D7FF"/>
                </a:solidFill>
              </a:rPr>
              <a:t>THANK YOU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011680" y="2788920"/>
            <a:ext cx="8165592" cy="713232"/>
          </a:xfrm>
          <a:prstGeom prst="rect">
            <a:avLst/>
          </a:prstGeom>
          <a:ln>
            <a:solidFill>
              <a:srgbClr val="003C47"/>
            </a:solidFill>
          </a:ln>
          <a:gradFill>
            <a:gsLst>
              <a:gs pos="0">
                <a:srgbClr val="003C47"/>
              </a:gs>
              <a:gs pos="100000">
                <a:srgbClr val="2B163F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011680" y="2807208"/>
            <a:ext cx="81655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0CEEE"/>
                </a:solidFill>
              </a:rPr>
              <a:t>Animation: Where Imagination Meets Technology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200400" y="3639312"/>
            <a:ext cx="5788152" cy="64008"/>
          </a:xfrm>
          <a:prstGeom prst="rect">
            <a:avLst/>
          </a:prstGeom>
          <a:ln>
            <a:solidFill>
              <a:srgbClr val="00D7FF"/>
            </a:solidFill>
          </a:ln>
          <a:gradFill>
            <a:gsLst>
              <a:gs pos="0">
                <a:srgbClr val="00D7FF"/>
              </a:gs>
              <a:gs pos="100000">
                <a:srgbClr val="9B50E1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14400" y="3767328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9400"/>
                </a:solidFill>
              </a:rPr>
              <a:t>Group 3  •  Graphics &amp; Multimedia  •  SMIT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77240" y="4407408"/>
            <a:ext cx="3337560" cy="960120"/>
          </a:xfrm>
          <a:prstGeom prst="rect">
            <a:avLst/>
          </a:prstGeom>
          <a:ln>
            <a:solidFill>
              <a:srgbClr val="0D0D30"/>
            </a:solidFill>
          </a:ln>
          <a:gradFill>
            <a:gsLst>
              <a:gs pos="0">
                <a:srgbClr val="0D0D30"/>
              </a:gs>
              <a:gs pos="100000">
                <a:srgbClr val="13134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914400" y="4535424"/>
            <a:ext cx="274320" cy="274320"/>
          </a:xfrm>
          <a:prstGeom prst="ellipse">
            <a:avLst/>
          </a:prstGeom>
          <a:solidFill>
            <a:srgbClr val="00D7FF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307592" y="444398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Hashir Junaid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307592" y="4846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89E"/>
                </a:solidFill>
              </a:rPr>
              <a:t>2023F-BCS-358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343400" y="4407408"/>
            <a:ext cx="3337560" cy="960120"/>
          </a:xfrm>
          <a:prstGeom prst="rect">
            <a:avLst/>
          </a:prstGeom>
          <a:ln>
            <a:solidFill>
              <a:srgbClr val="0D0D30"/>
            </a:solidFill>
          </a:ln>
          <a:gradFill>
            <a:gsLst>
              <a:gs pos="0">
                <a:srgbClr val="0D0D30"/>
              </a:gs>
              <a:gs pos="100000">
                <a:srgbClr val="13134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480560" y="4535424"/>
            <a:ext cx="274320" cy="274320"/>
          </a:xfrm>
          <a:prstGeom prst="ellipse">
            <a:avLst/>
          </a:prstGeom>
          <a:solidFill>
            <a:srgbClr val="00D7FF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873752" y="444398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Taha Haider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873752" y="4846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89E"/>
                </a:solidFill>
              </a:rPr>
              <a:t>2023F-BCS-079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909560" y="4407408"/>
            <a:ext cx="3337560" cy="960120"/>
          </a:xfrm>
          <a:prstGeom prst="rect">
            <a:avLst/>
          </a:prstGeom>
          <a:ln>
            <a:solidFill>
              <a:srgbClr val="0D0D30"/>
            </a:solidFill>
          </a:ln>
          <a:gradFill>
            <a:gsLst>
              <a:gs pos="0">
                <a:srgbClr val="0D0D30"/>
              </a:gs>
              <a:gs pos="100000">
                <a:srgbClr val="13134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8046720" y="4535424"/>
            <a:ext cx="274320" cy="274320"/>
          </a:xfrm>
          <a:prstGeom prst="ellipse">
            <a:avLst/>
          </a:prstGeom>
          <a:solidFill>
            <a:srgbClr val="00D7FF"/>
          </a:solidFill>
          <a:ln>
            <a:solidFill>
              <a:srgbClr val="00D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439912" y="444398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Abdul Rahman Baig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439912" y="4846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89E"/>
                </a:solidFill>
              </a:rPr>
              <a:t>2023F-BCS-100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016752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4B5887"/>
                </a:solidFill>
              </a:rPr>
              <a:t>Topics Covered: Introduction  •  Usage  •  Techniques  •  Types  •  Computer Animation  •  Levels  •  12 Principles  •  Space  •  Process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